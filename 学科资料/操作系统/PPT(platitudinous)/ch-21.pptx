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50" r:id="rId3"/>
    <p:sldId id="805" r:id="rId5"/>
    <p:sldId id="806" r:id="rId6"/>
    <p:sldId id="504" r:id="rId7"/>
    <p:sldId id="766" r:id="rId8"/>
    <p:sldId id="767" r:id="rId9"/>
    <p:sldId id="768" r:id="rId10"/>
    <p:sldId id="769" r:id="rId11"/>
    <p:sldId id="770" r:id="rId12"/>
    <p:sldId id="771" r:id="rId13"/>
    <p:sldId id="773" r:id="rId14"/>
    <p:sldId id="774" r:id="rId15"/>
    <p:sldId id="775" r:id="rId16"/>
    <p:sldId id="798" r:id="rId17"/>
    <p:sldId id="799" r:id="rId18"/>
    <p:sldId id="800" r:id="rId19"/>
    <p:sldId id="776" r:id="rId20"/>
    <p:sldId id="777" r:id="rId21"/>
    <p:sldId id="778" r:id="rId22"/>
    <p:sldId id="779" r:id="rId23"/>
    <p:sldId id="780" r:id="rId24"/>
    <p:sldId id="781" r:id="rId25"/>
    <p:sldId id="801" r:id="rId26"/>
    <p:sldId id="802" r:id="rId27"/>
    <p:sldId id="782" r:id="rId28"/>
    <p:sldId id="784" r:id="rId29"/>
    <p:sldId id="785" r:id="rId30"/>
    <p:sldId id="786" r:id="rId31"/>
    <p:sldId id="787" r:id="rId32"/>
    <p:sldId id="791" r:id="rId33"/>
    <p:sldId id="792" r:id="rId34"/>
    <p:sldId id="793" r:id="rId35"/>
    <p:sldId id="803" r:id="rId36"/>
    <p:sldId id="804" r:id="rId37"/>
    <p:sldId id="794" r:id="rId38"/>
    <p:sldId id="795" r:id="rId39"/>
    <p:sldId id="796" r:id="rId40"/>
    <p:sldId id="797" r:id="rId41"/>
    <p:sldId id="509" r:id="rId42"/>
    <p:sldId id="510" r:id="rId43"/>
    <p:sldId id="511" r:id="rId44"/>
    <p:sldId id="514" r:id="rId45"/>
    <p:sldId id="516" r:id="rId46"/>
    <p:sldId id="515" r:id="rId47"/>
    <p:sldId id="807" r:id="rId48"/>
    <p:sldId id="707" r:id="rId49"/>
    <p:sldId id="327" r:id="rId50"/>
    <p:sldId id="581" r:id="rId51"/>
    <p:sldId id="330" r:id="rId52"/>
    <p:sldId id="708" r:id="rId53"/>
  </p:sldIdLst>
  <p:sldSz cx="12192000" cy="6858000"/>
  <p:notesSz cx="6858000" cy="9144000"/>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119" userDrawn="1">
          <p15:clr>
            <a:srgbClr val="A4A3A4"/>
          </p15:clr>
        </p15:guide>
        <p15:guide id="3" pos="512" userDrawn="1">
          <p15:clr>
            <a:srgbClr val="A4A3A4"/>
          </p15:clr>
        </p15:guide>
        <p15:guide id="4" pos="768" userDrawn="1">
          <p15:clr>
            <a:srgbClr val="A4A3A4"/>
          </p15:clr>
        </p15:guide>
        <p15:guide id="5" pos="9726" userDrawn="1">
          <p15:clr>
            <a:srgbClr val="A4A3A4"/>
          </p15:clr>
        </p15:guide>
        <p15:guide id="6" pos="9470" userDrawn="1">
          <p15:clr>
            <a:srgbClr val="A4A3A4"/>
          </p15:clr>
        </p15:guide>
        <p15:guide id="7" orient="horz" pos="3888" userDrawn="1">
          <p15:clr>
            <a:srgbClr val="A4A3A4"/>
          </p15:clr>
        </p15:guide>
        <p15:guide id="8" orient="horz" pos="1049" userDrawn="1">
          <p15:clr>
            <a:srgbClr val="A4A3A4"/>
          </p15:clr>
        </p15:guide>
        <p15:guide id="9" orient="horz" pos="686" userDrawn="1">
          <p15:clr>
            <a:srgbClr val="A4A3A4"/>
          </p15:clr>
        </p15:guide>
        <p15:guide id="10" orient="horz" pos="3158" userDrawn="1">
          <p15:clr>
            <a:srgbClr val="A4A3A4"/>
          </p15:clr>
        </p15:guide>
        <p15:guide id="11" pos="3841" userDrawn="1">
          <p15:clr>
            <a:srgbClr val="A4A3A4"/>
          </p15:clr>
        </p15:guide>
        <p15:guide id="12" pos="384" userDrawn="1">
          <p15:clr>
            <a:srgbClr val="A4A3A4"/>
          </p15:clr>
        </p15:guide>
        <p15:guide id="13" pos="576" userDrawn="1">
          <p15:clr>
            <a:srgbClr val="A4A3A4"/>
          </p15:clr>
        </p15:guide>
        <p15:guide id="14" pos="7296" userDrawn="1">
          <p15:clr>
            <a:srgbClr val="A4A3A4"/>
          </p15:clr>
        </p15:guide>
        <p15:guide id="15" pos="71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CC"/>
    <a:srgbClr val="003399"/>
    <a:srgbClr val="7F8C8D"/>
    <a:srgbClr val="ECF0F1"/>
    <a:srgbClr val="E74C3C"/>
    <a:srgbClr val="94B155"/>
    <a:srgbClr val="3D9FAC"/>
    <a:srgbClr val="FEB834"/>
    <a:srgbClr val="5B44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3" autoAdjust="0"/>
    <p:restoredTop sz="79110" autoAdjust="0"/>
  </p:normalViewPr>
  <p:slideViewPr>
    <p:cSldViewPr snapToGrid="0" showGuides="1">
      <p:cViewPr varScale="1">
        <p:scale>
          <a:sx n="89" d="100"/>
          <a:sy n="89" d="100"/>
        </p:scale>
        <p:origin x="1200" y="90"/>
      </p:cViewPr>
      <p:guideLst>
        <p:guide orient="horz" pos="2160"/>
        <p:guide pos="5119"/>
        <p:guide pos="512"/>
        <p:guide pos="768"/>
        <p:guide pos="9726"/>
        <p:guide pos="9470"/>
        <p:guide orient="horz" pos="3888"/>
        <p:guide orient="horz" pos="1049"/>
        <p:guide orient="horz" pos="686"/>
        <p:guide orient="horz" pos="3158"/>
        <p:guide pos="3841"/>
        <p:guide pos="384"/>
        <p:guide pos="576"/>
        <p:guide pos="7296"/>
        <p:guide pos="710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7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CC360C-F423-4191-B903-C96919C651F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B7194D-9457-4CB1-9230-4797428E1A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6900" y="31308"/>
            <a:ext cx="563252" cy="563252"/>
          </a:xfrm>
          <a:prstGeom prst="rect">
            <a:avLst/>
          </a:prstGeom>
          <a:effectLst/>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3759" y="-42002"/>
            <a:ext cx="1300367" cy="731456"/>
          </a:xfrm>
          <a:prstGeom prst="rect">
            <a:avLst/>
          </a:prstGeom>
        </p:spPr>
      </p:pic>
      <p:sp>
        <p:nvSpPr>
          <p:cNvPr id="9" name="文本占位符 7"/>
          <p:cNvSpPr>
            <a:spLocks noGrp="1"/>
          </p:cNvSpPr>
          <p:nvPr>
            <p:ph type="body" sz="quarter" idx="10"/>
          </p:nvPr>
        </p:nvSpPr>
        <p:spPr>
          <a:xfrm>
            <a:off x="2081683" y="90632"/>
            <a:ext cx="8028633" cy="534844"/>
          </a:xfrm>
          <a:prstGeom prst="rect">
            <a:avLst/>
          </a:prstGeom>
        </p:spPr>
        <p:txBody>
          <a:bodyPr/>
          <a:lstStyle>
            <a:lvl1pPr marL="0" indent="0" algn="ctr">
              <a:buNone/>
              <a:defRPr sz="32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endParaRPr lang="zh-CN" altLang="en-US" dirty="0"/>
          </a:p>
        </p:txBody>
      </p:sp>
      <p:sp>
        <p:nvSpPr>
          <p:cNvPr id="10" name="文本占位符 7"/>
          <p:cNvSpPr>
            <a:spLocks noGrp="1"/>
          </p:cNvSpPr>
          <p:nvPr>
            <p:ph type="body" sz="quarter" idx="13"/>
          </p:nvPr>
        </p:nvSpPr>
        <p:spPr>
          <a:xfrm>
            <a:off x="957943" y="905404"/>
            <a:ext cx="9261231" cy="387941"/>
          </a:xfrm>
          <a:prstGeom prst="rect">
            <a:avLst/>
          </a:prstGeom>
        </p:spPr>
        <p:txBody>
          <a:bodyPr/>
          <a:lstStyle>
            <a:lvl1pPr marL="0" indent="0" algn="l">
              <a:buNone/>
              <a:defRPr sz="24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endParaRPr lang="zh-CN" altLang="en-US" dirty="0"/>
          </a:p>
        </p:txBody>
      </p:sp>
      <p:sp>
        <p:nvSpPr>
          <p:cNvPr id="11" name="矩形 10"/>
          <p:cNvSpPr/>
          <p:nvPr userDrawn="1"/>
        </p:nvSpPr>
        <p:spPr>
          <a:xfrm flipV="1">
            <a:off x="0" y="625867"/>
            <a:ext cx="12132733" cy="63586"/>
          </a:xfrm>
          <a:prstGeom prst="rect">
            <a:avLst/>
          </a:prstGeom>
          <a:gradFill flip="none" rotWithShape="1">
            <a:gsLst>
              <a:gs pos="0">
                <a:schemeClr val="accent1">
                  <a:lumMod val="75000"/>
                </a:schemeClr>
              </a:gs>
              <a:gs pos="77000">
                <a:schemeClr val="accent5">
                  <a:lumMod val="60000"/>
                  <a:lumOff val="40000"/>
                </a:schemeClr>
              </a:gs>
              <a:gs pos="100000">
                <a:schemeClr val="bg1">
                  <a:alpha val="0"/>
                </a:schemeClr>
              </a:gs>
            </a:gsLst>
            <a:lin ang="0" scaled="1"/>
            <a:tileRect/>
          </a:gradFill>
          <a:ln>
            <a:noFill/>
          </a:ln>
          <a:effectLst>
            <a:outerShdw blurRad="50800" dist="38100" dir="5400000" sx="124000" sy="124000" algn="t" rotWithShape="0">
              <a:schemeClr val="accent1">
                <a:lumMod val="75000"/>
                <a:alpha val="26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2" name="矩形 11"/>
          <p:cNvSpPr/>
          <p:nvPr userDrawn="1"/>
        </p:nvSpPr>
        <p:spPr>
          <a:xfrm>
            <a:off x="0" y="-1"/>
            <a:ext cx="309231" cy="689454"/>
          </a:xfrm>
          <a:prstGeom prst="rect">
            <a:avLst/>
          </a:prstGeom>
          <a:solidFill>
            <a:schemeClr val="accent1">
              <a:lumMod val="75000"/>
            </a:schemeClr>
          </a:solidFill>
          <a:ln>
            <a:noFill/>
          </a:ln>
          <a:effectLst>
            <a:outerShdw blurRad="25400" dist="25400" dir="13500000" algn="br" rotWithShape="0">
              <a:schemeClr val="accent1">
                <a:lumMod val="75000"/>
                <a:alpha val="40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3" name="文本占位符 21"/>
          <p:cNvSpPr>
            <a:spLocks noGrp="1"/>
          </p:cNvSpPr>
          <p:nvPr>
            <p:ph type="body" sz="quarter" idx="15" hasCustomPrompt="1"/>
          </p:nvPr>
        </p:nvSpPr>
        <p:spPr>
          <a:xfrm>
            <a:off x="11403449" y="6368136"/>
            <a:ext cx="440986" cy="324355"/>
          </a:xfrm>
          <a:prstGeom prst="rect">
            <a:avLst/>
          </a:prstGeom>
        </p:spPr>
        <p:txBody>
          <a:bodyPr/>
          <a:lstStyle>
            <a:lvl1pPr marL="0" indent="0" algn="ctr">
              <a:buFont typeface="Arial" panose="020B0604020202090204" pitchFamily="34" charset="0"/>
              <a:buNone/>
              <a:defRPr sz="1800"/>
            </a:lvl1pPr>
            <a:lvl2pPr marL="457200" indent="0">
              <a:buNone/>
              <a:defRPr/>
            </a:lvl2pPr>
          </a:lstStyle>
          <a:p>
            <a:pPr lvl="0"/>
            <a:r>
              <a:rPr lang="en-US" altLang="zh-CN" dirty="0"/>
              <a:t>10</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48" name="Picture Placeholder 11"/>
          <p:cNvSpPr>
            <a:spLocks noGrp="1"/>
          </p:cNvSpPr>
          <p:nvPr>
            <p:ph type="pic" sz="quarter" idx="10"/>
          </p:nvPr>
        </p:nvSpPr>
        <p:spPr>
          <a:xfrm>
            <a:off x="6294473" y="1600202"/>
            <a:ext cx="5897880" cy="3662363"/>
          </a:xfrm>
          <a:prstGeom prst="roundRect">
            <a:avLst>
              <a:gd name="adj" fmla="val 2031"/>
            </a:avLst>
          </a:prstGeom>
        </p:spPr>
        <p:txBody>
          <a:bodyPr/>
          <a:lstStyle>
            <a:lvl1pPr>
              <a:defRPr baseline="0"/>
            </a:lvl1pPr>
          </a:lstStyle>
          <a:p>
            <a:endParaRPr lang="en-US" dirty="0"/>
          </a:p>
        </p:txBody>
      </p:sp>
      <p:sp>
        <p:nvSpPr>
          <p:cNvPr id="49" name="Text Placeholder 13"/>
          <p:cNvSpPr>
            <a:spLocks noGrp="1"/>
          </p:cNvSpPr>
          <p:nvPr>
            <p:ph type="body" sz="quarter" idx="11"/>
          </p:nvPr>
        </p:nvSpPr>
        <p:spPr>
          <a:xfrm>
            <a:off x="914400" y="2112462"/>
            <a:ext cx="4015113" cy="585787"/>
          </a:xfrm>
          <a:prstGeom prst="rect">
            <a:avLst/>
          </a:prstGeom>
        </p:spPr>
        <p:txBody>
          <a:bodyPr>
            <a:noAutofit/>
          </a:bodyPr>
          <a:lstStyle>
            <a:lvl1pPr marL="0" indent="0">
              <a:buNone/>
              <a:defRPr sz="3200">
                <a:solidFill>
                  <a:schemeClr val="tx1">
                    <a:lumMod val="50000"/>
                    <a:lumOff val="50000"/>
                  </a:schemeClr>
                </a:solidFill>
                <a:latin typeface="GeosansLight" panose="02000603020000020003" pitchFamily="2" charset="0"/>
              </a:defRPr>
            </a:lvl1pPr>
            <a:lvl2pPr marL="457200" indent="0">
              <a:buNone/>
              <a:defRPr/>
            </a:lvl2pPr>
            <a:lvl3pPr marL="914400" indent="0">
              <a:buNone/>
              <a:defRPr/>
            </a:lvl3pPr>
            <a:lvl4pPr marL="1371600" indent="0">
              <a:buNone/>
              <a:defRPr/>
            </a:lvl4pPr>
          </a:lstStyle>
          <a:p>
            <a:pPr lvl="0"/>
            <a:endParaRPr lang="en-US" dirty="0"/>
          </a:p>
        </p:txBody>
      </p:sp>
      <p:sp>
        <p:nvSpPr>
          <p:cNvPr id="50" name="Content Placeholder 15"/>
          <p:cNvSpPr>
            <a:spLocks noGrp="1"/>
          </p:cNvSpPr>
          <p:nvPr>
            <p:ph sz="quarter" idx="12"/>
          </p:nvPr>
        </p:nvSpPr>
        <p:spPr>
          <a:xfrm>
            <a:off x="914401" y="3552827"/>
            <a:ext cx="4856163" cy="1198563"/>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Content Placeholder 17"/>
          <p:cNvSpPr>
            <a:spLocks noGrp="1"/>
          </p:cNvSpPr>
          <p:nvPr>
            <p:ph sz="quarter" idx="13"/>
          </p:nvPr>
        </p:nvSpPr>
        <p:spPr>
          <a:xfrm>
            <a:off x="917595" y="2735012"/>
            <a:ext cx="3409950" cy="3905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Layout">
    <p:spTree>
      <p:nvGrpSpPr>
        <p:cNvPr id="1" name=""/>
        <p:cNvGrpSpPr/>
        <p:nvPr/>
      </p:nvGrpSpPr>
      <p:grpSpPr>
        <a:xfrm>
          <a:off x="0" y="0"/>
          <a:ext cx="0" cy="0"/>
          <a:chOff x="0" y="0"/>
          <a:chExt cx="0" cy="0"/>
        </a:xfrm>
      </p:grpSpPr>
      <p:sp>
        <p:nvSpPr>
          <p:cNvPr id="20" name="Picture Placeholder 19"/>
          <p:cNvSpPr>
            <a:spLocks noGrp="1"/>
          </p:cNvSpPr>
          <p:nvPr>
            <p:ph type="pic" sz="quarter" idx="10"/>
          </p:nvPr>
        </p:nvSpPr>
        <p:spPr>
          <a:xfrm>
            <a:off x="0" y="0"/>
            <a:ext cx="12192000" cy="3429000"/>
          </a:xfrm>
          <a:prstGeom prst="rect">
            <a:avLst/>
          </a:prstGeom>
        </p:spPr>
        <p:txBody>
          <a:bodyPr/>
          <a:lstStyle>
            <a:lvl1pPr>
              <a:defRPr/>
            </a:lvl1pPr>
          </a:lstStyle>
          <a:p>
            <a:endParaRPr lang="en-US" dirty="0"/>
          </a:p>
        </p:txBody>
      </p:sp>
      <p:sp>
        <p:nvSpPr>
          <p:cNvPr id="22" name="Text Placeholder 21"/>
          <p:cNvSpPr>
            <a:spLocks noGrp="1"/>
          </p:cNvSpPr>
          <p:nvPr>
            <p:ph type="body" sz="quarter" idx="11"/>
          </p:nvPr>
        </p:nvSpPr>
        <p:spPr>
          <a:xfrm>
            <a:off x="3709988" y="3837117"/>
            <a:ext cx="4772025" cy="604837"/>
          </a:xfrm>
          <a:prstGeom prst="rect">
            <a:avLst/>
          </a:prstGeom>
        </p:spPr>
        <p:txBody>
          <a:bodyPr>
            <a:noAutofit/>
          </a:bodyPr>
          <a:lstStyle>
            <a:lvl1pPr marL="0" indent="0" algn="ctr">
              <a:buNone/>
              <a:defRPr sz="3200">
                <a:solidFill>
                  <a:schemeClr val="tx1">
                    <a:lumMod val="50000"/>
                    <a:lumOff val="50000"/>
                  </a:schemeClr>
                </a:solidFill>
                <a:latin typeface="GeosansLight" panose="02000603020000020003" pitchFamily="2" charset="0"/>
              </a:defRPr>
            </a:lvl1pPr>
          </a:lstStyle>
          <a:p>
            <a:pPr lvl="0"/>
            <a:endParaRPr lang="en-US" dirty="0"/>
          </a:p>
        </p:txBody>
      </p:sp>
      <p:sp>
        <p:nvSpPr>
          <p:cNvPr id="24" name="Text Placeholder 23"/>
          <p:cNvSpPr>
            <a:spLocks noGrp="1"/>
          </p:cNvSpPr>
          <p:nvPr>
            <p:ph type="body" sz="quarter" idx="12"/>
          </p:nvPr>
        </p:nvSpPr>
        <p:spPr>
          <a:xfrm>
            <a:off x="4278313" y="4441825"/>
            <a:ext cx="3605213" cy="476250"/>
          </a:xfrm>
          <a:prstGeom prst="rect">
            <a:avLst/>
          </a:prstGeom>
        </p:spPr>
        <p:txBody>
          <a:bodyPr>
            <a:normAutofit/>
          </a:bodyPr>
          <a:lstStyle>
            <a:lvl1pPr marL="0" indent="0" algn="ctr">
              <a:buNone/>
              <a:defRPr sz="1000"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6" name="Text Placeholder 25"/>
          <p:cNvSpPr>
            <a:spLocks noGrp="1"/>
          </p:cNvSpPr>
          <p:nvPr>
            <p:ph type="body" sz="quarter" idx="13"/>
          </p:nvPr>
        </p:nvSpPr>
        <p:spPr>
          <a:xfrm>
            <a:off x="3358357" y="5129215"/>
            <a:ext cx="5475288" cy="1030287"/>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New Product">
    <p:spTree>
      <p:nvGrpSpPr>
        <p:cNvPr id="1" name=""/>
        <p:cNvGrpSpPr/>
        <p:nvPr/>
      </p:nvGrpSpPr>
      <p:grpSpPr>
        <a:xfrm>
          <a:off x="0" y="0"/>
          <a:ext cx="0" cy="0"/>
          <a:chOff x="0" y="0"/>
          <a:chExt cx="0" cy="0"/>
        </a:xfrm>
      </p:grpSpPr>
      <p:sp>
        <p:nvSpPr>
          <p:cNvPr id="6" name="Picture Placeholder 47"/>
          <p:cNvSpPr>
            <a:spLocks noGrp="1"/>
          </p:cNvSpPr>
          <p:nvPr>
            <p:ph type="pic" sz="quarter" idx="10"/>
          </p:nvPr>
        </p:nvSpPr>
        <p:spPr>
          <a:xfrm>
            <a:off x="914400" y="1603377"/>
            <a:ext cx="3286125" cy="2170113"/>
          </a:xfrm>
          <a:prstGeom prst="rect">
            <a:avLst/>
          </a:prstGeom>
          <a:solidFill>
            <a:schemeClr val="bg1">
              <a:lumMod val="85000"/>
            </a:schemeClr>
          </a:solidFill>
        </p:spPr>
        <p:txBody>
          <a:bodyPr/>
          <a:lstStyle/>
          <a:p>
            <a:endParaRPr lang="en-US"/>
          </a:p>
        </p:txBody>
      </p:sp>
      <p:sp>
        <p:nvSpPr>
          <p:cNvPr id="7" name="Picture Placeholder 47"/>
          <p:cNvSpPr>
            <a:spLocks noGrp="1"/>
          </p:cNvSpPr>
          <p:nvPr>
            <p:ph type="pic" sz="quarter" idx="11"/>
          </p:nvPr>
        </p:nvSpPr>
        <p:spPr>
          <a:xfrm>
            <a:off x="4452606" y="1603377"/>
            <a:ext cx="3286125" cy="2170113"/>
          </a:xfrm>
          <a:prstGeom prst="rect">
            <a:avLst/>
          </a:prstGeom>
          <a:solidFill>
            <a:schemeClr val="bg1">
              <a:lumMod val="85000"/>
            </a:schemeClr>
          </a:solidFill>
        </p:spPr>
        <p:txBody>
          <a:bodyPr/>
          <a:lstStyle/>
          <a:p>
            <a:endParaRPr lang="en-US"/>
          </a:p>
        </p:txBody>
      </p:sp>
      <p:sp>
        <p:nvSpPr>
          <p:cNvPr id="8" name="Picture Placeholder 47"/>
          <p:cNvSpPr>
            <a:spLocks noGrp="1"/>
          </p:cNvSpPr>
          <p:nvPr>
            <p:ph type="pic" sz="quarter" idx="12"/>
          </p:nvPr>
        </p:nvSpPr>
        <p:spPr>
          <a:xfrm>
            <a:off x="7990811" y="1609069"/>
            <a:ext cx="3286125" cy="2170113"/>
          </a:xfrm>
          <a:prstGeom prst="rect">
            <a:avLst/>
          </a:prstGeom>
          <a:solidFill>
            <a:schemeClr val="bg1">
              <a:lumMod val="85000"/>
            </a:schemeClr>
          </a:solidFill>
        </p:spPr>
        <p:txBody>
          <a:bodyPr/>
          <a:lstStyle/>
          <a:p>
            <a:endParaRPr lang="en-US"/>
          </a:p>
        </p:txBody>
      </p:sp>
      <p:sp>
        <p:nvSpPr>
          <p:cNvPr id="9" name="Rectangle 8"/>
          <p:cNvSpPr/>
          <p:nvPr userDrawn="1"/>
        </p:nvSpPr>
        <p:spPr>
          <a:xfrm>
            <a:off x="914401" y="3773599"/>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4453271" y="3773598"/>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7992141" y="3773601"/>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Text Placeholder 51"/>
          <p:cNvSpPr>
            <a:spLocks noGrp="1"/>
          </p:cNvSpPr>
          <p:nvPr>
            <p:ph type="body" sz="quarter" idx="13"/>
          </p:nvPr>
        </p:nvSpPr>
        <p:spPr>
          <a:xfrm>
            <a:off x="2131747" y="3522296"/>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54"/>
          <p:cNvSpPr>
            <a:spLocks noGrp="1"/>
          </p:cNvSpPr>
          <p:nvPr>
            <p:ph type="body" sz="quarter" idx="14"/>
          </p:nvPr>
        </p:nvSpPr>
        <p:spPr>
          <a:xfrm>
            <a:off x="5680800" y="3532292"/>
            <a:ext cx="841249" cy="246888"/>
          </a:xfrm>
          <a:prstGeom prst="rect">
            <a:avLst/>
          </a:prstGeom>
          <a:solidFill>
            <a:schemeClr val="tx1">
              <a:lumMod val="65000"/>
              <a:lumOff val="35000"/>
            </a:schemeClr>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56"/>
          <p:cNvSpPr>
            <a:spLocks noGrp="1"/>
          </p:cNvSpPr>
          <p:nvPr>
            <p:ph type="body" sz="quarter" idx="15"/>
          </p:nvPr>
        </p:nvSpPr>
        <p:spPr>
          <a:xfrm>
            <a:off x="9213493" y="3519874"/>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58"/>
          <p:cNvSpPr>
            <a:spLocks noGrp="1"/>
          </p:cNvSpPr>
          <p:nvPr>
            <p:ph type="body" sz="quarter" idx="16"/>
          </p:nvPr>
        </p:nvSpPr>
        <p:spPr>
          <a:xfrm>
            <a:off x="1272510"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58"/>
          <p:cNvSpPr>
            <a:spLocks noGrp="1"/>
          </p:cNvSpPr>
          <p:nvPr>
            <p:ph type="body" sz="quarter" idx="17"/>
          </p:nvPr>
        </p:nvSpPr>
        <p:spPr>
          <a:xfrm>
            <a:off x="127251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58"/>
          <p:cNvSpPr>
            <a:spLocks noGrp="1"/>
          </p:cNvSpPr>
          <p:nvPr>
            <p:ph type="body" sz="quarter" idx="19"/>
          </p:nvPr>
        </p:nvSpPr>
        <p:spPr>
          <a:xfrm>
            <a:off x="481138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58"/>
          <p:cNvSpPr>
            <a:spLocks noGrp="1"/>
          </p:cNvSpPr>
          <p:nvPr>
            <p:ph type="body" sz="quarter" idx="20"/>
          </p:nvPr>
        </p:nvSpPr>
        <p:spPr>
          <a:xfrm>
            <a:off x="4811047"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58"/>
          <p:cNvSpPr>
            <a:spLocks noGrp="1"/>
          </p:cNvSpPr>
          <p:nvPr>
            <p:ph type="body" sz="quarter" idx="21"/>
          </p:nvPr>
        </p:nvSpPr>
        <p:spPr>
          <a:xfrm>
            <a:off x="8353365"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58"/>
          <p:cNvSpPr>
            <a:spLocks noGrp="1"/>
          </p:cNvSpPr>
          <p:nvPr>
            <p:ph type="body" sz="quarter" idx="22"/>
          </p:nvPr>
        </p:nvSpPr>
        <p:spPr>
          <a:xfrm>
            <a:off x="8353033"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4" name="Text Placeholder 58"/>
          <p:cNvSpPr>
            <a:spLocks noGrp="1"/>
          </p:cNvSpPr>
          <p:nvPr>
            <p:ph type="body" sz="quarter" idx="24" hasCustomPrompt="1"/>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Add Slogun Text</a:t>
            </a:r>
            <a:endParaRPr lang="en-US"/>
          </a:p>
        </p:txBody>
      </p:sp>
      <p:sp>
        <p:nvSpPr>
          <p:cNvPr id="45" name="Text Placeholder 28"/>
          <p:cNvSpPr>
            <a:spLocks noGrp="1"/>
          </p:cNvSpPr>
          <p:nvPr>
            <p:ph type="body" sz="quarter" idx="25" hasCustomPrompt="1"/>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Company Name</a:t>
            </a:r>
            <a:endParaRPr lang="en-US"/>
          </a:p>
        </p:txBody>
      </p:sp>
      <p:sp>
        <p:nvSpPr>
          <p:cNvPr id="46" name="Text Placeholder 28"/>
          <p:cNvSpPr>
            <a:spLocks noGrp="1"/>
          </p:cNvSpPr>
          <p:nvPr>
            <p:ph type="body" sz="quarter" idx="26" hasCustomPrompt="1"/>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Web Site Name</a:t>
            </a:r>
            <a:endParaRPr lang="en-US"/>
          </a:p>
        </p:txBody>
      </p:sp>
      <p:sp>
        <p:nvSpPr>
          <p:cNvPr id="47" name="Text Placeholder 28"/>
          <p:cNvSpPr>
            <a:spLocks noGrp="1"/>
          </p:cNvSpPr>
          <p:nvPr>
            <p:ph type="body" sz="quarter" idx="18" hasCustomPrompt="1"/>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Page Number 00</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Work 1">
    <p:spTree>
      <p:nvGrpSpPr>
        <p:cNvPr id="1" name=""/>
        <p:cNvGrpSpPr/>
        <p:nvPr/>
      </p:nvGrpSpPr>
      <p:grpSpPr>
        <a:xfrm>
          <a:off x="0" y="0"/>
          <a:ext cx="0" cy="0"/>
          <a:chOff x="0" y="0"/>
          <a:chExt cx="0" cy="0"/>
        </a:xfrm>
      </p:grpSpPr>
      <p:sp>
        <p:nvSpPr>
          <p:cNvPr id="28" name="Picture Placeholder 27"/>
          <p:cNvSpPr>
            <a:spLocks noGrp="1"/>
          </p:cNvSpPr>
          <p:nvPr>
            <p:ph type="pic" sz="quarter" idx="10"/>
          </p:nvPr>
        </p:nvSpPr>
        <p:spPr>
          <a:xfrm>
            <a:off x="70420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29" name="Picture Placeholder 27"/>
          <p:cNvSpPr>
            <a:spLocks noGrp="1"/>
          </p:cNvSpPr>
          <p:nvPr>
            <p:ph type="pic" sz="quarter" idx="11"/>
          </p:nvPr>
        </p:nvSpPr>
        <p:spPr>
          <a:xfrm>
            <a:off x="2917164"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0" name="Picture Placeholder 27"/>
          <p:cNvSpPr>
            <a:spLocks noGrp="1"/>
          </p:cNvSpPr>
          <p:nvPr>
            <p:ph type="pic" sz="quarter" idx="12"/>
          </p:nvPr>
        </p:nvSpPr>
        <p:spPr>
          <a:xfrm>
            <a:off x="5156203" y="1675161"/>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1" name="Picture Placeholder 27"/>
          <p:cNvSpPr>
            <a:spLocks noGrp="1"/>
          </p:cNvSpPr>
          <p:nvPr>
            <p:ph type="pic" sz="quarter" idx="13"/>
          </p:nvPr>
        </p:nvSpPr>
        <p:spPr>
          <a:xfrm>
            <a:off x="7394126" y="1683019"/>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2" name="Picture Placeholder 27"/>
          <p:cNvSpPr>
            <a:spLocks noGrp="1"/>
          </p:cNvSpPr>
          <p:nvPr>
            <p:ph type="pic" sz="quarter" idx="14"/>
          </p:nvPr>
        </p:nvSpPr>
        <p:spPr>
          <a:xfrm>
            <a:off x="963093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12" name="Arc 11"/>
          <p:cNvSpPr/>
          <p:nvPr userDrawn="1"/>
        </p:nvSpPr>
        <p:spPr>
          <a:xfrm>
            <a:off x="679241" y="1690876"/>
            <a:ext cx="1828800" cy="1828800"/>
          </a:xfrm>
          <a:prstGeom prst="arc">
            <a:avLst>
              <a:gd name="adj1" fmla="val 16200000"/>
              <a:gd name="adj2" fmla="val 10155543"/>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3" name="Arc 12"/>
          <p:cNvSpPr/>
          <p:nvPr userDrawn="1"/>
        </p:nvSpPr>
        <p:spPr>
          <a:xfrm>
            <a:off x="2918278" y="1690876"/>
            <a:ext cx="1828800" cy="1828800"/>
          </a:xfrm>
          <a:prstGeom prst="arc">
            <a:avLst>
              <a:gd name="adj1" fmla="val 20082479"/>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4" name="Arc 13"/>
          <p:cNvSpPr/>
          <p:nvPr userDrawn="1"/>
        </p:nvSpPr>
        <p:spPr>
          <a:xfrm>
            <a:off x="5157319" y="1675161"/>
            <a:ext cx="1828800" cy="1828800"/>
          </a:xfrm>
          <a:prstGeom prst="arc">
            <a:avLst>
              <a:gd name="adj1" fmla="val 13544500"/>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5" name="Arc 14"/>
          <p:cNvSpPr/>
          <p:nvPr userDrawn="1"/>
        </p:nvSpPr>
        <p:spPr>
          <a:xfrm>
            <a:off x="7396359" y="1675161"/>
            <a:ext cx="1828800" cy="1828800"/>
          </a:xfrm>
          <a:prstGeom prst="arc">
            <a:avLst>
              <a:gd name="adj1" fmla="val 37899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6" name="Arc 15"/>
          <p:cNvSpPr/>
          <p:nvPr userDrawn="1"/>
        </p:nvSpPr>
        <p:spPr>
          <a:xfrm>
            <a:off x="9635401" y="1690876"/>
            <a:ext cx="1828800" cy="1828800"/>
          </a:xfrm>
          <a:prstGeom prst="arc">
            <a:avLst>
              <a:gd name="adj1" fmla="val 1500186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34" name="Text Placeholder 33"/>
          <p:cNvSpPr>
            <a:spLocks noGrp="1"/>
          </p:cNvSpPr>
          <p:nvPr>
            <p:ph type="body" sz="quarter" idx="15"/>
          </p:nvPr>
        </p:nvSpPr>
        <p:spPr>
          <a:xfrm>
            <a:off x="894347"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38" name="Text Placeholder 37"/>
          <p:cNvSpPr>
            <a:spLocks noGrp="1"/>
          </p:cNvSpPr>
          <p:nvPr>
            <p:ph type="body" sz="quarter" idx="16"/>
          </p:nvPr>
        </p:nvSpPr>
        <p:spPr>
          <a:xfrm>
            <a:off x="6792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3"/>
          <p:cNvSpPr>
            <a:spLocks noGrp="1"/>
          </p:cNvSpPr>
          <p:nvPr>
            <p:ph type="body" sz="quarter" idx="17"/>
          </p:nvPr>
        </p:nvSpPr>
        <p:spPr>
          <a:xfrm>
            <a:off x="3132272"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0" name="Text Placeholder 37"/>
          <p:cNvSpPr>
            <a:spLocks noGrp="1"/>
          </p:cNvSpPr>
          <p:nvPr>
            <p:ph type="body" sz="quarter" idx="18"/>
          </p:nvPr>
        </p:nvSpPr>
        <p:spPr>
          <a:xfrm>
            <a:off x="2917164"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33"/>
          <p:cNvSpPr>
            <a:spLocks noGrp="1"/>
          </p:cNvSpPr>
          <p:nvPr>
            <p:ph type="body" sz="quarter" idx="19"/>
          </p:nvPr>
        </p:nvSpPr>
        <p:spPr>
          <a:xfrm>
            <a:off x="537019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2" name="Text Placeholder 37"/>
          <p:cNvSpPr>
            <a:spLocks noGrp="1"/>
          </p:cNvSpPr>
          <p:nvPr>
            <p:ph type="body" sz="quarter" idx="20"/>
          </p:nvPr>
        </p:nvSpPr>
        <p:spPr>
          <a:xfrm>
            <a:off x="515508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33"/>
          <p:cNvSpPr>
            <a:spLocks noGrp="1"/>
          </p:cNvSpPr>
          <p:nvPr>
            <p:ph type="body" sz="quarter" idx="21"/>
          </p:nvPr>
        </p:nvSpPr>
        <p:spPr>
          <a:xfrm>
            <a:off x="782322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4" name="Text Placeholder 37"/>
          <p:cNvSpPr>
            <a:spLocks noGrp="1"/>
          </p:cNvSpPr>
          <p:nvPr>
            <p:ph type="body" sz="quarter" idx="22"/>
          </p:nvPr>
        </p:nvSpPr>
        <p:spPr>
          <a:xfrm>
            <a:off x="760811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5" name="Text Placeholder 33"/>
          <p:cNvSpPr>
            <a:spLocks noGrp="1"/>
          </p:cNvSpPr>
          <p:nvPr>
            <p:ph type="body" sz="quarter" idx="23"/>
          </p:nvPr>
        </p:nvSpPr>
        <p:spPr>
          <a:xfrm>
            <a:off x="10061149"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6" name="Text Placeholder 37"/>
          <p:cNvSpPr>
            <a:spLocks noGrp="1"/>
          </p:cNvSpPr>
          <p:nvPr>
            <p:ph type="body" sz="quarter" idx="24"/>
          </p:nvPr>
        </p:nvSpPr>
        <p:spPr>
          <a:xfrm>
            <a:off x="98460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7" name="Text Placeholder 68"/>
          <p:cNvSpPr>
            <a:spLocks noGrp="1"/>
          </p:cNvSpPr>
          <p:nvPr>
            <p:ph type="body" sz="quarter" idx="25"/>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8" name="Text Placeholder 58"/>
          <p:cNvSpPr>
            <a:spLocks noGrp="1"/>
          </p:cNvSpPr>
          <p:nvPr>
            <p:ph type="body" sz="quarter" idx="26"/>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49" name="Text Placeholder 28"/>
          <p:cNvSpPr>
            <a:spLocks noGrp="1"/>
          </p:cNvSpPr>
          <p:nvPr>
            <p:ph type="body" sz="quarter" idx="27"/>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0" name="Text Placeholder 28"/>
          <p:cNvSpPr>
            <a:spLocks noGrp="1"/>
          </p:cNvSpPr>
          <p:nvPr>
            <p:ph type="body" sz="quarter" idx="28"/>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Text Placeholder 28"/>
          <p:cNvSpPr>
            <a:spLocks noGrp="1"/>
          </p:cNvSpPr>
          <p:nvPr>
            <p:ph type="body" sz="quarter" idx="29"/>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Work 2">
    <p:spTree>
      <p:nvGrpSpPr>
        <p:cNvPr id="1" name=""/>
        <p:cNvGrpSpPr/>
        <p:nvPr/>
      </p:nvGrpSpPr>
      <p:grpSpPr>
        <a:xfrm>
          <a:off x="0" y="0"/>
          <a:ext cx="0" cy="0"/>
          <a:chOff x="0" y="0"/>
          <a:chExt cx="0" cy="0"/>
        </a:xfrm>
      </p:grpSpPr>
      <p:sp>
        <p:nvSpPr>
          <p:cNvPr id="9" name="Rectangle 8"/>
          <p:cNvSpPr/>
          <p:nvPr userDrawn="1"/>
        </p:nvSpPr>
        <p:spPr>
          <a:xfrm>
            <a:off x="2743200" y="9144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6096001" y="27432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743200"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24801"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Picture Placeholder 26"/>
          <p:cNvSpPr>
            <a:spLocks noGrp="1"/>
          </p:cNvSpPr>
          <p:nvPr>
            <p:ph type="pic" sz="quarter" idx="10"/>
          </p:nvPr>
        </p:nvSpPr>
        <p:spPr>
          <a:xfrm>
            <a:off x="914400" y="914400"/>
            <a:ext cx="1828800" cy="1828800"/>
          </a:xfrm>
          <a:prstGeom prst="rect">
            <a:avLst/>
          </a:prstGeom>
          <a:solidFill>
            <a:schemeClr val="bg1">
              <a:lumMod val="85000"/>
            </a:schemeClr>
          </a:solidFill>
        </p:spPr>
        <p:txBody>
          <a:bodyPr/>
          <a:lstStyle/>
          <a:p>
            <a:endParaRPr lang="en-US"/>
          </a:p>
        </p:txBody>
      </p:sp>
      <p:sp>
        <p:nvSpPr>
          <p:cNvPr id="28" name="Picture Placeholder 26"/>
          <p:cNvSpPr>
            <a:spLocks noGrp="1"/>
          </p:cNvSpPr>
          <p:nvPr>
            <p:ph type="pic" sz="quarter" idx="11"/>
          </p:nvPr>
        </p:nvSpPr>
        <p:spPr>
          <a:xfrm>
            <a:off x="4267200" y="2743200"/>
            <a:ext cx="1828800" cy="1828800"/>
          </a:xfrm>
          <a:prstGeom prst="rect">
            <a:avLst/>
          </a:prstGeom>
          <a:solidFill>
            <a:schemeClr val="bg1">
              <a:lumMod val="85000"/>
            </a:schemeClr>
          </a:solidFill>
        </p:spPr>
        <p:txBody>
          <a:bodyPr/>
          <a:lstStyle/>
          <a:p>
            <a:endParaRPr lang="en-US"/>
          </a:p>
        </p:txBody>
      </p:sp>
      <p:sp>
        <p:nvSpPr>
          <p:cNvPr id="29" name="Picture Placeholder 26"/>
          <p:cNvSpPr>
            <a:spLocks noGrp="1"/>
          </p:cNvSpPr>
          <p:nvPr>
            <p:ph type="pic" sz="quarter" idx="12"/>
          </p:nvPr>
        </p:nvSpPr>
        <p:spPr>
          <a:xfrm>
            <a:off x="914398" y="4572000"/>
            <a:ext cx="1828800" cy="1828800"/>
          </a:xfrm>
          <a:prstGeom prst="rect">
            <a:avLst/>
          </a:prstGeom>
          <a:solidFill>
            <a:schemeClr val="bg1">
              <a:lumMod val="85000"/>
            </a:schemeClr>
          </a:solidFill>
        </p:spPr>
        <p:txBody>
          <a:bodyPr/>
          <a:lstStyle/>
          <a:p>
            <a:endParaRPr lang="en-US"/>
          </a:p>
        </p:txBody>
      </p:sp>
      <p:sp>
        <p:nvSpPr>
          <p:cNvPr id="30" name="Picture Placeholder 26"/>
          <p:cNvSpPr>
            <a:spLocks noGrp="1"/>
          </p:cNvSpPr>
          <p:nvPr>
            <p:ph type="pic" sz="quarter" idx="13"/>
          </p:nvPr>
        </p:nvSpPr>
        <p:spPr>
          <a:xfrm>
            <a:off x="6096000" y="4572000"/>
            <a:ext cx="1828800" cy="1828800"/>
          </a:xfrm>
          <a:prstGeom prst="rect">
            <a:avLst/>
          </a:prstGeom>
          <a:solidFill>
            <a:schemeClr val="bg1">
              <a:lumMod val="85000"/>
            </a:schemeClr>
          </a:solidFill>
        </p:spPr>
        <p:txBody>
          <a:bodyPr/>
          <a:lstStyle/>
          <a:p>
            <a:endParaRPr lang="en-US"/>
          </a:p>
        </p:txBody>
      </p:sp>
      <p:sp>
        <p:nvSpPr>
          <p:cNvPr id="32" name="Text Placeholder 31"/>
          <p:cNvSpPr>
            <a:spLocks noGrp="1"/>
          </p:cNvSpPr>
          <p:nvPr>
            <p:ph type="body" sz="quarter" idx="14"/>
          </p:nvPr>
        </p:nvSpPr>
        <p:spPr>
          <a:xfrm>
            <a:off x="2833688" y="475138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33"/>
          <p:cNvSpPr>
            <a:spLocks noGrp="1"/>
          </p:cNvSpPr>
          <p:nvPr>
            <p:ph type="body" sz="quarter" idx="15"/>
          </p:nvPr>
        </p:nvSpPr>
        <p:spPr>
          <a:xfrm>
            <a:off x="2833688" y="545306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31"/>
          <p:cNvSpPr>
            <a:spLocks noGrp="1"/>
          </p:cNvSpPr>
          <p:nvPr>
            <p:ph type="body" sz="quarter" idx="16"/>
          </p:nvPr>
        </p:nvSpPr>
        <p:spPr>
          <a:xfrm>
            <a:off x="8015286" y="4741129"/>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33"/>
          <p:cNvSpPr>
            <a:spLocks noGrp="1"/>
          </p:cNvSpPr>
          <p:nvPr>
            <p:ph type="body" sz="quarter" idx="17"/>
          </p:nvPr>
        </p:nvSpPr>
        <p:spPr>
          <a:xfrm>
            <a:off x="8015288" y="5442804"/>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31"/>
          <p:cNvSpPr>
            <a:spLocks noGrp="1"/>
          </p:cNvSpPr>
          <p:nvPr>
            <p:ph type="body" sz="quarter" idx="18"/>
          </p:nvPr>
        </p:nvSpPr>
        <p:spPr>
          <a:xfrm>
            <a:off x="6248400" y="290601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33"/>
          <p:cNvSpPr>
            <a:spLocks noGrp="1"/>
          </p:cNvSpPr>
          <p:nvPr>
            <p:ph type="body" sz="quarter" idx="19"/>
          </p:nvPr>
        </p:nvSpPr>
        <p:spPr>
          <a:xfrm>
            <a:off x="6248400" y="360769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1"/>
          <p:cNvSpPr>
            <a:spLocks noGrp="1"/>
          </p:cNvSpPr>
          <p:nvPr>
            <p:ph type="body" sz="quarter" idx="20"/>
          </p:nvPr>
        </p:nvSpPr>
        <p:spPr>
          <a:xfrm>
            <a:off x="2833688" y="1097252"/>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33"/>
          <p:cNvSpPr>
            <a:spLocks noGrp="1"/>
          </p:cNvSpPr>
          <p:nvPr>
            <p:ph type="body" sz="quarter" idx="21"/>
          </p:nvPr>
        </p:nvSpPr>
        <p:spPr>
          <a:xfrm>
            <a:off x="2833688" y="1798927"/>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41"/>
          <p:cNvSpPr>
            <a:spLocks noGrp="1"/>
          </p:cNvSpPr>
          <p:nvPr>
            <p:ph type="body" sz="quarter" idx="22"/>
          </p:nvPr>
        </p:nvSpPr>
        <p:spPr>
          <a:xfrm>
            <a:off x="6527799" y="1325563"/>
            <a:ext cx="4213226" cy="595312"/>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41"/>
          <p:cNvSpPr>
            <a:spLocks noGrp="1"/>
          </p:cNvSpPr>
          <p:nvPr>
            <p:ph type="body" sz="quarter" idx="23"/>
          </p:nvPr>
        </p:nvSpPr>
        <p:spPr>
          <a:xfrm>
            <a:off x="6527799" y="1949563"/>
            <a:ext cx="4213226" cy="406714"/>
          </a:xfrm>
          <a:prstGeom prst="rect">
            <a:avLst/>
          </a:prstGeom>
        </p:spPr>
        <p:txBody>
          <a:bodyPr>
            <a:normAutofit/>
          </a:bodyPr>
          <a:lstStyle>
            <a:lvl1pPr marL="0" indent="0">
              <a:buNone/>
              <a:defRPr sz="1000">
                <a:solidFill>
                  <a:schemeClr val="tx1">
                    <a:lumMod val="50000"/>
                    <a:lumOff val="50000"/>
                  </a:schemeClr>
                </a:solidFill>
                <a:latin typeface="GeosansLight" panose="02000603020000020003" pitchFamily="2" charset="0"/>
              </a:defRPr>
            </a:lvl1pPr>
          </a:lstStyle>
          <a:p>
            <a:pPr lvl="0"/>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Single">
    <p:spTree>
      <p:nvGrpSpPr>
        <p:cNvPr id="1" name=""/>
        <p:cNvGrpSpPr/>
        <p:nvPr/>
      </p:nvGrpSpPr>
      <p:grpSpPr>
        <a:xfrm>
          <a:off x="0" y="0"/>
          <a:ext cx="0" cy="0"/>
          <a:chOff x="0" y="0"/>
          <a:chExt cx="0" cy="0"/>
        </a:xfrm>
      </p:grpSpPr>
      <p:sp>
        <p:nvSpPr>
          <p:cNvPr id="30" name="Big Image"/>
          <p:cNvSpPr>
            <a:spLocks noGrp="1"/>
          </p:cNvSpPr>
          <p:nvPr>
            <p:ph type="pic" sz="quarter" idx="10"/>
          </p:nvPr>
        </p:nvSpPr>
        <p:spPr>
          <a:xfrm>
            <a:off x="7016749" y="0"/>
            <a:ext cx="5175251" cy="6858000"/>
          </a:xfrm>
          <a:prstGeom prst="rect">
            <a:avLst/>
          </a:prstGeom>
          <a:solidFill>
            <a:schemeClr val="bg1">
              <a:lumMod val="85000"/>
            </a:schemeClr>
          </a:solidFill>
        </p:spPr>
        <p:txBody>
          <a:bodyPr/>
          <a:lstStyle/>
          <a:p>
            <a:endParaRPr lang="en-US"/>
          </a:p>
        </p:txBody>
      </p:sp>
      <p:sp>
        <p:nvSpPr>
          <p:cNvPr id="34" name="Content Placeholder 33"/>
          <p:cNvSpPr>
            <a:spLocks noGrp="1"/>
          </p:cNvSpPr>
          <p:nvPr>
            <p:ph sz="quarter" idx="12"/>
          </p:nvPr>
        </p:nvSpPr>
        <p:spPr>
          <a:xfrm>
            <a:off x="777875" y="2816227"/>
            <a:ext cx="2451100" cy="612775"/>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35" name="Content Placeholder 33"/>
          <p:cNvSpPr>
            <a:spLocks noGrp="1"/>
          </p:cNvSpPr>
          <p:nvPr>
            <p:ph sz="quarter" idx="13"/>
          </p:nvPr>
        </p:nvSpPr>
        <p:spPr>
          <a:xfrm>
            <a:off x="2338170" y="3454156"/>
            <a:ext cx="890805" cy="277086"/>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Chart Placeholder 40"/>
          <p:cNvSpPr>
            <a:spLocks noGrp="1"/>
          </p:cNvSpPr>
          <p:nvPr>
            <p:ph type="chart" sz="quarter" idx="14"/>
          </p:nvPr>
        </p:nvSpPr>
        <p:spPr>
          <a:xfrm>
            <a:off x="777876" y="4308475"/>
            <a:ext cx="5318124" cy="1703388"/>
          </a:xfrm>
          <a:prstGeom prst="rect">
            <a:avLst/>
          </a:prstGeom>
        </p:spPr>
        <p:txBody>
          <a:bodyPr/>
          <a:lstStyle>
            <a:lvl1pPr>
              <a:defRPr>
                <a:solidFill>
                  <a:schemeClr val="tx1">
                    <a:lumMod val="50000"/>
                    <a:lumOff val="50000"/>
                  </a:schemeClr>
                </a:solidFill>
              </a:defRPr>
            </a:lvl1pPr>
          </a:lstStyle>
          <a:p>
            <a:endParaRPr lang="en-US"/>
          </a:p>
        </p:txBody>
      </p:sp>
      <p:sp>
        <p:nvSpPr>
          <p:cNvPr id="42" name="Text Placeholder 68"/>
          <p:cNvSpPr>
            <a:spLocks noGrp="1"/>
          </p:cNvSpPr>
          <p:nvPr>
            <p:ph type="body" sz="quarter" idx="25"/>
          </p:nvPr>
        </p:nvSpPr>
        <p:spPr>
          <a:xfrm>
            <a:off x="614048" y="1061262"/>
            <a:ext cx="5855876" cy="619125"/>
          </a:xfrm>
          <a:prstGeom prst="rect">
            <a:avLst/>
          </a:prstGeom>
        </p:spPr>
        <p:txBody>
          <a:bodyPr/>
          <a:lstStyle>
            <a:lvl1pPr marL="0" indent="0" algn="l">
              <a:buNone/>
              <a:defRPr>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58"/>
          <p:cNvSpPr>
            <a:spLocks noGrp="1"/>
          </p:cNvSpPr>
          <p:nvPr>
            <p:ph type="body" sz="quarter" idx="26"/>
          </p:nvPr>
        </p:nvSpPr>
        <p:spPr>
          <a:xfrm>
            <a:off x="614048" y="1677106"/>
            <a:ext cx="4628162" cy="561886"/>
          </a:xfrm>
          <a:prstGeom prst="rect">
            <a:avLst/>
          </a:prstGeom>
        </p:spPr>
        <p:txBody>
          <a:bodyPr>
            <a:normAutofit/>
          </a:bodyPr>
          <a:lstStyle>
            <a:lvl1pPr marL="0" indent="0" algn="l">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prstGeom prst="rect">
            <a:avLst/>
          </a:prstGeom>
        </p:spPr>
        <p:txBody>
          <a:bodyPr/>
          <a:lstStyle>
            <a:lvl1pPr>
              <a:defRPr>
                <a:solidFill>
                  <a:schemeClr val="tx1">
                    <a:lumMod val="50000"/>
                    <a:lumOff val="50000"/>
                  </a:schemeClr>
                </a:solidFill>
              </a:defRPr>
            </a:lvl1pPr>
          </a:lstStyle>
          <a:p>
            <a:endParaRPr lang="en-US"/>
          </a:p>
        </p:txBody>
      </p:sp>
      <p:sp>
        <p:nvSpPr>
          <p:cNvPr id="8" name="Text Placeholder 41"/>
          <p:cNvSpPr>
            <a:spLocks noGrp="1"/>
          </p:cNvSpPr>
          <p:nvPr>
            <p:ph type="body" sz="quarter" idx="22"/>
          </p:nvPr>
        </p:nvSpPr>
        <p:spPr>
          <a:xfrm>
            <a:off x="7011276" y="2513232"/>
            <a:ext cx="4213226" cy="595312"/>
          </a:xfrm>
          <a:prstGeom prst="rect">
            <a:avLst/>
          </a:prstGeom>
        </p:spPr>
        <p:txBody>
          <a:bodyPr>
            <a:normAutofit/>
          </a:bodyPr>
          <a:lstStyle>
            <a:lvl1pPr marL="0" indent="0">
              <a:buNone/>
              <a:defRPr sz="3200">
                <a:solidFill>
                  <a:schemeClr val="bg1"/>
                </a:solidFill>
                <a:latin typeface="GeosansLight" panose="02000603020000020003" pitchFamily="2" charset="0"/>
              </a:defRPr>
            </a:lvl1pPr>
          </a:lstStyle>
          <a:p>
            <a:pPr lvl="0"/>
            <a:endParaRPr lang="en-US"/>
          </a:p>
        </p:txBody>
      </p:sp>
      <p:sp>
        <p:nvSpPr>
          <p:cNvPr id="9" name="Text Placeholder 41"/>
          <p:cNvSpPr>
            <a:spLocks noGrp="1"/>
          </p:cNvSpPr>
          <p:nvPr>
            <p:ph type="body" sz="quarter" idx="23"/>
          </p:nvPr>
        </p:nvSpPr>
        <p:spPr>
          <a:xfrm>
            <a:off x="7011276" y="3137232"/>
            <a:ext cx="4213226" cy="1066906"/>
          </a:xfrm>
          <a:prstGeom prst="rect">
            <a:avLst/>
          </a:prstGeom>
        </p:spPr>
        <p:txBody>
          <a:bodyPr>
            <a:normAutofit/>
          </a:bodyPr>
          <a:lstStyle>
            <a:lvl1pPr marL="0" indent="0">
              <a:buNone/>
              <a:defRPr sz="1000">
                <a:solidFill>
                  <a:schemeClr val="bg1"/>
                </a:solidFill>
                <a:latin typeface="GeosansLight" panose="02000603020000020003" pitchFamily="2" charset="0"/>
              </a:defRPr>
            </a:lvl1pPr>
          </a:lstStyle>
          <a:p>
            <a:pPr lvl="0"/>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rtfolio">
    <p:spTree>
      <p:nvGrpSpPr>
        <p:cNvPr id="1" name=""/>
        <p:cNvGrpSpPr/>
        <p:nvPr/>
      </p:nvGrpSpPr>
      <p:grpSpPr>
        <a:xfrm>
          <a:off x="0" y="0"/>
          <a:ext cx="0" cy="0"/>
          <a:chOff x="0" y="0"/>
          <a:chExt cx="0" cy="0"/>
        </a:xfrm>
      </p:grpSpPr>
      <p:sp>
        <p:nvSpPr>
          <p:cNvPr id="22" name="Picture Placeholder 21"/>
          <p:cNvSpPr>
            <a:spLocks noGrp="1"/>
          </p:cNvSpPr>
          <p:nvPr>
            <p:ph type="pic" sz="quarter" idx="12"/>
          </p:nvPr>
        </p:nvSpPr>
        <p:spPr>
          <a:xfrm>
            <a:off x="0" y="3429000"/>
            <a:ext cx="6096000" cy="3429000"/>
          </a:xfrm>
          <a:prstGeom prst="rect">
            <a:avLst/>
          </a:prstGeom>
          <a:solidFill>
            <a:schemeClr val="bg1">
              <a:lumMod val="85000"/>
            </a:schemeClr>
          </a:solidFill>
        </p:spPr>
        <p:txBody>
          <a:bodyPr/>
          <a:lstStyle/>
          <a:p>
            <a:endParaRPr lang="en-US"/>
          </a:p>
        </p:txBody>
      </p:sp>
      <p:sp>
        <p:nvSpPr>
          <p:cNvPr id="18" name="Picture Placeholder 17"/>
          <p:cNvSpPr>
            <a:spLocks noGrp="1"/>
          </p:cNvSpPr>
          <p:nvPr>
            <p:ph type="pic" sz="quarter" idx="10"/>
          </p:nvPr>
        </p:nvSpPr>
        <p:spPr>
          <a:xfrm>
            <a:off x="3349626" y="0"/>
            <a:ext cx="4581524" cy="3429000"/>
          </a:xfrm>
          <a:prstGeom prst="rect">
            <a:avLst/>
          </a:prstGeom>
          <a:solidFill>
            <a:schemeClr val="bg1">
              <a:lumMod val="85000"/>
            </a:schemeClr>
          </a:solidFill>
        </p:spPr>
        <p:txBody>
          <a:bodyPr/>
          <a:lstStyle/>
          <a:p>
            <a:endParaRPr lang="en-US"/>
          </a:p>
        </p:txBody>
      </p:sp>
      <p:sp>
        <p:nvSpPr>
          <p:cNvPr id="20" name="Picture Placeholder 19"/>
          <p:cNvSpPr>
            <a:spLocks noGrp="1"/>
          </p:cNvSpPr>
          <p:nvPr>
            <p:ph type="pic" sz="quarter" idx="11"/>
          </p:nvPr>
        </p:nvSpPr>
        <p:spPr>
          <a:xfrm>
            <a:off x="7931151" y="0"/>
            <a:ext cx="4260849" cy="3429000"/>
          </a:xfrm>
          <a:prstGeom prst="rect">
            <a:avLst/>
          </a:prstGeom>
          <a:solidFill>
            <a:schemeClr val="bg1">
              <a:lumMod val="85000"/>
            </a:schemeClr>
          </a:solidFill>
        </p:spPr>
        <p:txBody>
          <a:bodyPr/>
          <a:lstStyle/>
          <a:p>
            <a:endParaRPr lang="en-US"/>
          </a:p>
        </p:txBody>
      </p:sp>
      <p:sp>
        <p:nvSpPr>
          <p:cNvPr id="24" name="Picture Placeholder 23"/>
          <p:cNvSpPr>
            <a:spLocks noGrp="1"/>
          </p:cNvSpPr>
          <p:nvPr>
            <p:ph type="pic" sz="quarter" idx="13"/>
          </p:nvPr>
        </p:nvSpPr>
        <p:spPr>
          <a:xfrm>
            <a:off x="8842376" y="3429000"/>
            <a:ext cx="3349625" cy="3429000"/>
          </a:xfrm>
          <a:prstGeom prst="rect">
            <a:avLst/>
          </a:prstGeom>
          <a:solidFill>
            <a:schemeClr val="bg1">
              <a:lumMod val="85000"/>
            </a:schemeClr>
          </a:solidFill>
        </p:spPr>
        <p:txBody>
          <a:bodyPr/>
          <a:lstStyle/>
          <a:p>
            <a:endParaRPr lang="en-US"/>
          </a:p>
        </p:txBody>
      </p:sp>
      <p:sp>
        <p:nvSpPr>
          <p:cNvPr id="5" name="Rectangle 4"/>
          <p:cNvSpPr/>
          <p:nvPr userDrawn="1"/>
        </p:nvSpPr>
        <p:spPr>
          <a:xfrm>
            <a:off x="0" y="0"/>
            <a:ext cx="3349256" cy="3429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096000" y="3429000"/>
            <a:ext cx="2746744"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Text Placeholder 25"/>
          <p:cNvSpPr>
            <a:spLocks noGrp="1"/>
          </p:cNvSpPr>
          <p:nvPr>
            <p:ph type="body" sz="quarter" idx="14"/>
          </p:nvPr>
        </p:nvSpPr>
        <p:spPr>
          <a:xfrm>
            <a:off x="8850314" y="2206625"/>
            <a:ext cx="2422525" cy="369888"/>
          </a:xfrm>
          <a:prstGeom prst="rect">
            <a:avLst/>
          </a:prstGeom>
          <a:ln>
            <a:solidFill>
              <a:schemeClr val="bg1"/>
            </a:solidFill>
          </a:ln>
        </p:spPr>
        <p:txBody>
          <a:bodyPr>
            <a:normAutofit/>
          </a:bodyPr>
          <a:lstStyle>
            <a:lvl1pPr marL="0" indent="0" algn="ctr">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27"/>
          <p:cNvSpPr>
            <a:spLocks noGrp="1"/>
          </p:cNvSpPr>
          <p:nvPr>
            <p:ph type="body" sz="quarter" idx="15"/>
          </p:nvPr>
        </p:nvSpPr>
        <p:spPr>
          <a:xfrm>
            <a:off x="4319588" y="4340227"/>
            <a:ext cx="3752850" cy="411163"/>
          </a:xfrm>
          <a:prstGeom prst="rect">
            <a:avLst/>
          </a:prstGeom>
        </p:spPr>
        <p:txBody>
          <a:bodyPr>
            <a:normAutofit/>
          </a:bodyPr>
          <a:lstStyle>
            <a:lvl1pPr marL="0" indent="0">
              <a:buNone/>
              <a:defRPr sz="20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9" name="Text Placeholder 27"/>
          <p:cNvSpPr>
            <a:spLocks noGrp="1"/>
          </p:cNvSpPr>
          <p:nvPr>
            <p:ph type="body" sz="quarter" idx="16"/>
          </p:nvPr>
        </p:nvSpPr>
        <p:spPr>
          <a:xfrm>
            <a:off x="6273089" y="5221388"/>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27"/>
          <p:cNvSpPr>
            <a:spLocks noGrp="1"/>
          </p:cNvSpPr>
          <p:nvPr>
            <p:ph type="body" sz="quarter" idx="17"/>
          </p:nvPr>
        </p:nvSpPr>
        <p:spPr>
          <a:xfrm>
            <a:off x="6696386" y="4775265"/>
            <a:ext cx="1379081" cy="309715"/>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31"/>
          <p:cNvSpPr>
            <a:spLocks noGrp="1"/>
          </p:cNvSpPr>
          <p:nvPr>
            <p:ph type="body" sz="quarter" idx="18"/>
          </p:nvPr>
        </p:nvSpPr>
        <p:spPr>
          <a:xfrm>
            <a:off x="568325" y="893765"/>
            <a:ext cx="2038241" cy="314325"/>
          </a:xfrm>
          <a:prstGeom prst="rect">
            <a:avLst/>
          </a:prstGeom>
        </p:spPr>
        <p:txBody>
          <a:bodyPr>
            <a:noAutofit/>
          </a:bodyPr>
          <a:lstStyle>
            <a:lvl1pPr marL="0" indent="0">
              <a:buNone/>
              <a:defRPr sz="2000">
                <a:solidFill>
                  <a:schemeClr val="bg1"/>
                </a:solidFill>
                <a:latin typeface="GeosansLight" panose="02000603020000020003" pitchFamily="2" charset="0"/>
              </a:defRPr>
            </a:lvl1pPr>
          </a:lstStyle>
          <a:p>
            <a:pPr lvl="0"/>
            <a:endParaRPr lang="en-US"/>
          </a:p>
        </p:txBody>
      </p:sp>
      <p:sp>
        <p:nvSpPr>
          <p:cNvPr id="33" name="Text Placeholder 31"/>
          <p:cNvSpPr>
            <a:spLocks noGrp="1"/>
          </p:cNvSpPr>
          <p:nvPr>
            <p:ph type="body" sz="quarter" idx="19"/>
          </p:nvPr>
        </p:nvSpPr>
        <p:spPr>
          <a:xfrm>
            <a:off x="568323" y="1228727"/>
            <a:ext cx="2637333" cy="424339"/>
          </a:xfrm>
          <a:prstGeom prst="rect">
            <a:avLst/>
          </a:prstGeom>
        </p:spPr>
        <p:txBody>
          <a:bodyPr>
            <a:noAutofit/>
          </a:bodyPr>
          <a:lstStyle>
            <a:lvl1pPr marL="0" indent="0">
              <a:buNone/>
              <a:defRPr sz="2800">
                <a:solidFill>
                  <a:schemeClr val="bg1"/>
                </a:solidFill>
                <a:latin typeface="GeosansLight" panose="02000603020000020003" pitchFamily="2" charset="0"/>
              </a:defRPr>
            </a:lvl1pPr>
          </a:lstStyle>
          <a:p>
            <a:pPr lvl="0"/>
            <a:endParaRPr lang="en-US"/>
          </a:p>
        </p:txBody>
      </p:sp>
      <p:sp>
        <p:nvSpPr>
          <p:cNvPr id="34" name="Text Placeholder 27"/>
          <p:cNvSpPr>
            <a:spLocks noGrp="1"/>
          </p:cNvSpPr>
          <p:nvPr>
            <p:ph type="body" sz="quarter" idx="20"/>
          </p:nvPr>
        </p:nvSpPr>
        <p:spPr>
          <a:xfrm>
            <a:off x="568324" y="1936940"/>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roduct Layout">
    <p:spTree>
      <p:nvGrpSpPr>
        <p:cNvPr id="1" name=""/>
        <p:cNvGrpSpPr/>
        <p:nvPr/>
      </p:nvGrpSpPr>
      <p:grpSpPr>
        <a:xfrm>
          <a:off x="0" y="0"/>
          <a:ext cx="0" cy="0"/>
          <a:chOff x="0" y="0"/>
          <a:chExt cx="0" cy="0"/>
        </a:xfrm>
      </p:grpSpPr>
      <p:sp>
        <p:nvSpPr>
          <p:cNvPr id="21" name="Oval 20"/>
          <p:cNvSpPr/>
          <p:nvPr userDrawn="1"/>
        </p:nvSpPr>
        <p:spPr>
          <a:xfrm>
            <a:off x="934472" y="4904155"/>
            <a:ext cx="954546" cy="9545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FontAwesome" pitchFamily="2" charset="0"/>
              </a:rPr>
              <a:t></a:t>
            </a:r>
            <a:endParaRPr lang="en-US" sz="2800">
              <a:solidFill>
                <a:schemeClr val="bg1"/>
              </a:solidFill>
            </a:endParaRPr>
          </a:p>
        </p:txBody>
      </p:sp>
      <p:sp>
        <p:nvSpPr>
          <p:cNvPr id="23" name="Oval 22"/>
          <p:cNvSpPr/>
          <p:nvPr userDrawn="1"/>
        </p:nvSpPr>
        <p:spPr>
          <a:xfrm>
            <a:off x="1649643" y="4904155"/>
            <a:ext cx="239376" cy="23937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Picture Placeholder 24"/>
          <p:cNvSpPr>
            <a:spLocks noGrp="1"/>
          </p:cNvSpPr>
          <p:nvPr>
            <p:ph type="pic" sz="quarter" idx="10"/>
          </p:nvPr>
        </p:nvSpPr>
        <p:spPr>
          <a:xfrm>
            <a:off x="914400" y="1620840"/>
            <a:ext cx="2435225" cy="1817687"/>
          </a:xfrm>
          <a:prstGeom prst="rect">
            <a:avLst/>
          </a:prstGeom>
          <a:solidFill>
            <a:schemeClr val="bg1">
              <a:lumMod val="85000"/>
            </a:schemeClr>
          </a:solidFill>
        </p:spPr>
        <p:txBody>
          <a:bodyPr/>
          <a:lstStyle/>
          <a:p>
            <a:endParaRPr lang="en-US"/>
          </a:p>
        </p:txBody>
      </p:sp>
      <p:sp>
        <p:nvSpPr>
          <p:cNvPr id="26" name="Picture Placeholder 24"/>
          <p:cNvSpPr>
            <a:spLocks noGrp="1"/>
          </p:cNvSpPr>
          <p:nvPr>
            <p:ph type="pic" sz="quarter" idx="11"/>
          </p:nvPr>
        </p:nvSpPr>
        <p:spPr>
          <a:xfrm>
            <a:off x="3561908" y="1620840"/>
            <a:ext cx="2435225" cy="1817687"/>
          </a:xfrm>
          <a:prstGeom prst="rect">
            <a:avLst/>
          </a:prstGeom>
          <a:solidFill>
            <a:schemeClr val="bg1">
              <a:lumMod val="85000"/>
            </a:schemeClr>
          </a:solidFill>
        </p:spPr>
        <p:txBody>
          <a:bodyPr/>
          <a:lstStyle/>
          <a:p>
            <a:endParaRPr lang="en-US"/>
          </a:p>
        </p:txBody>
      </p:sp>
      <p:sp>
        <p:nvSpPr>
          <p:cNvPr id="27" name="Picture Placeholder 24"/>
          <p:cNvSpPr>
            <a:spLocks noGrp="1"/>
          </p:cNvSpPr>
          <p:nvPr>
            <p:ph type="pic" sz="quarter" idx="12"/>
          </p:nvPr>
        </p:nvSpPr>
        <p:spPr>
          <a:xfrm>
            <a:off x="6209046" y="1620840"/>
            <a:ext cx="2435225" cy="1817687"/>
          </a:xfrm>
          <a:prstGeom prst="rect">
            <a:avLst/>
          </a:prstGeom>
          <a:solidFill>
            <a:schemeClr val="bg1">
              <a:lumMod val="85000"/>
            </a:schemeClr>
          </a:solidFill>
        </p:spPr>
        <p:txBody>
          <a:bodyPr/>
          <a:lstStyle/>
          <a:p>
            <a:endParaRPr lang="en-US"/>
          </a:p>
        </p:txBody>
      </p:sp>
      <p:sp>
        <p:nvSpPr>
          <p:cNvPr id="28" name="Picture Placeholder 24"/>
          <p:cNvSpPr>
            <a:spLocks noGrp="1"/>
          </p:cNvSpPr>
          <p:nvPr>
            <p:ph type="pic" sz="quarter" idx="13"/>
          </p:nvPr>
        </p:nvSpPr>
        <p:spPr>
          <a:xfrm>
            <a:off x="8856183" y="1620533"/>
            <a:ext cx="2435225" cy="1817687"/>
          </a:xfrm>
          <a:prstGeom prst="rect">
            <a:avLst/>
          </a:prstGeom>
          <a:solidFill>
            <a:schemeClr val="bg1">
              <a:lumMod val="85000"/>
            </a:schemeClr>
          </a:solidFill>
        </p:spPr>
        <p:txBody>
          <a:bodyPr/>
          <a:lstStyle/>
          <a:p>
            <a:endParaRPr lang="en-US"/>
          </a:p>
        </p:txBody>
      </p:sp>
      <p:sp>
        <p:nvSpPr>
          <p:cNvPr id="30" name="Text Placeholder 29"/>
          <p:cNvSpPr>
            <a:spLocks noGrp="1"/>
          </p:cNvSpPr>
          <p:nvPr>
            <p:ph type="body" sz="quarter" idx="14"/>
          </p:nvPr>
        </p:nvSpPr>
        <p:spPr>
          <a:xfrm>
            <a:off x="914400"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1" name="Text Placeholder 29"/>
          <p:cNvSpPr>
            <a:spLocks noGrp="1"/>
          </p:cNvSpPr>
          <p:nvPr>
            <p:ph type="body" sz="quarter" idx="15"/>
          </p:nvPr>
        </p:nvSpPr>
        <p:spPr>
          <a:xfrm>
            <a:off x="3527087" y="3604658"/>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29"/>
          <p:cNvSpPr>
            <a:spLocks noGrp="1"/>
          </p:cNvSpPr>
          <p:nvPr>
            <p:ph type="body" sz="quarter" idx="16"/>
          </p:nvPr>
        </p:nvSpPr>
        <p:spPr>
          <a:xfrm>
            <a:off x="6208492"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29"/>
          <p:cNvSpPr>
            <a:spLocks noGrp="1"/>
          </p:cNvSpPr>
          <p:nvPr>
            <p:ph type="body" sz="quarter" idx="17"/>
          </p:nvPr>
        </p:nvSpPr>
        <p:spPr>
          <a:xfrm>
            <a:off x="8856183"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29"/>
          <p:cNvSpPr>
            <a:spLocks noGrp="1"/>
          </p:cNvSpPr>
          <p:nvPr>
            <p:ph type="body" sz="quarter" idx="18"/>
          </p:nvPr>
        </p:nvSpPr>
        <p:spPr>
          <a:xfrm>
            <a:off x="2026531" y="5023843"/>
            <a:ext cx="9104540"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36" name="Text Placeholder 58"/>
          <p:cNvSpPr>
            <a:spLocks noGrp="1"/>
          </p:cNvSpPr>
          <p:nvPr>
            <p:ph type="body" sz="quarter" idx="24"/>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7" name="Text Placeholder 28"/>
          <p:cNvSpPr>
            <a:spLocks noGrp="1"/>
          </p:cNvSpPr>
          <p:nvPr>
            <p:ph type="body" sz="quarter" idx="25"/>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8" name="Text Placeholder 28"/>
          <p:cNvSpPr>
            <a:spLocks noGrp="1"/>
          </p:cNvSpPr>
          <p:nvPr>
            <p:ph type="body" sz="quarter" idx="26"/>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9" name="Text Placeholder 28"/>
          <p:cNvSpPr>
            <a:spLocks noGrp="1"/>
          </p:cNvSpPr>
          <p:nvPr>
            <p:ph type="body" sz="quarter" idx="27"/>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cent Project">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1831975" y="914400"/>
            <a:ext cx="4264025" cy="2514600"/>
          </a:xfrm>
          <a:prstGeom prst="rect">
            <a:avLst/>
          </a:prstGeom>
          <a:solidFill>
            <a:schemeClr val="bg1">
              <a:lumMod val="85000"/>
            </a:schemeClr>
          </a:solidFill>
        </p:spPr>
        <p:txBody>
          <a:bodyPr/>
          <a:lstStyle/>
          <a:p>
            <a:endParaRPr lang="en-US"/>
          </a:p>
        </p:txBody>
      </p:sp>
      <p:sp>
        <p:nvSpPr>
          <p:cNvPr id="21" name="Picture Placeholder 20"/>
          <p:cNvSpPr>
            <a:spLocks noGrp="1"/>
          </p:cNvSpPr>
          <p:nvPr>
            <p:ph type="pic" sz="quarter" idx="11"/>
          </p:nvPr>
        </p:nvSpPr>
        <p:spPr>
          <a:xfrm>
            <a:off x="6096000" y="3429000"/>
            <a:ext cx="4264025" cy="2514600"/>
          </a:xfrm>
          <a:prstGeom prst="rect">
            <a:avLst/>
          </a:prstGeom>
          <a:solidFill>
            <a:schemeClr val="bg1">
              <a:lumMod val="85000"/>
            </a:schemeClr>
          </a:solidFill>
        </p:spPr>
        <p:txBody>
          <a:bodyPr/>
          <a:lstStyle/>
          <a:p>
            <a:endParaRPr lang="en-US"/>
          </a:p>
        </p:txBody>
      </p:sp>
      <p:sp>
        <p:nvSpPr>
          <p:cNvPr id="11" name="Rectangle 10"/>
          <p:cNvSpPr/>
          <p:nvPr userDrawn="1"/>
        </p:nvSpPr>
        <p:spPr>
          <a:xfrm>
            <a:off x="5096366" y="1987034"/>
            <a:ext cx="999634" cy="36933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6096000" y="4501634"/>
            <a:ext cx="1437892" cy="36933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Text Placeholder 22"/>
          <p:cNvSpPr>
            <a:spLocks noGrp="1"/>
          </p:cNvSpPr>
          <p:nvPr>
            <p:ph type="body" sz="quarter" idx="12"/>
          </p:nvPr>
        </p:nvSpPr>
        <p:spPr>
          <a:xfrm>
            <a:off x="5096365" y="1980994"/>
            <a:ext cx="4142233" cy="365760"/>
          </a:xfrm>
          <a:prstGeom prst="rect">
            <a:avLst/>
          </a:prstGeom>
        </p:spPr>
        <p:txBody>
          <a:bodyPr>
            <a:normAutofit/>
          </a:bodyPr>
          <a:lstStyle>
            <a:lvl1pPr marL="0" indent="0">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5" name="Text Placeholder 24"/>
          <p:cNvSpPr>
            <a:spLocks noGrp="1"/>
          </p:cNvSpPr>
          <p:nvPr>
            <p:ph type="body" sz="quarter" idx="13"/>
          </p:nvPr>
        </p:nvSpPr>
        <p:spPr>
          <a:xfrm>
            <a:off x="6180139" y="2538415"/>
            <a:ext cx="3059111" cy="7080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6" name="Text Placeholder 22"/>
          <p:cNvSpPr>
            <a:spLocks noGrp="1"/>
          </p:cNvSpPr>
          <p:nvPr>
            <p:ph type="body" sz="quarter" idx="14"/>
          </p:nvPr>
        </p:nvSpPr>
        <p:spPr>
          <a:xfrm>
            <a:off x="3386761" y="4495594"/>
            <a:ext cx="4142233" cy="365760"/>
          </a:xfrm>
          <a:prstGeom prst="rect">
            <a:avLst/>
          </a:prstGeom>
        </p:spPr>
        <p:txBody>
          <a:bodyPr>
            <a:normAutofit/>
          </a:bodyPr>
          <a:lstStyle>
            <a:lvl1pPr marL="0" indent="0" algn="r">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7" name="Text Placeholder 24"/>
          <p:cNvSpPr>
            <a:spLocks noGrp="1"/>
          </p:cNvSpPr>
          <p:nvPr>
            <p:ph type="body" sz="quarter" idx="15"/>
          </p:nvPr>
        </p:nvSpPr>
        <p:spPr>
          <a:xfrm>
            <a:off x="2951038" y="5069250"/>
            <a:ext cx="3059111" cy="708025"/>
          </a:xfrm>
          <a:prstGeom prst="rect">
            <a:avLst/>
          </a:prstGeom>
        </p:spPr>
        <p:txBody>
          <a:bodyPr>
            <a:normAutofit/>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and Full Screen">
    <p:spTree>
      <p:nvGrpSpPr>
        <p:cNvPr id="1" name=""/>
        <p:cNvGrpSpPr/>
        <p:nvPr/>
      </p:nvGrpSpPr>
      <p:grpSpPr>
        <a:xfrm>
          <a:off x="0" y="0"/>
          <a:ext cx="0" cy="0"/>
          <a:chOff x="0" y="0"/>
          <a:chExt cx="0" cy="0"/>
        </a:xfrm>
      </p:grpSpPr>
      <p:sp>
        <p:nvSpPr>
          <p:cNvPr id="12" name="Background White"/>
          <p:cNvSpPr/>
          <p:nvPr userDrawn="1"/>
        </p:nvSpPr>
        <p:spPr>
          <a:xfrm>
            <a:off x="3804685" y="0"/>
            <a:ext cx="458263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Rectangle 23"/>
          <p:cNvSpPr/>
          <p:nvPr userDrawn="1"/>
        </p:nvSpPr>
        <p:spPr>
          <a:xfrm>
            <a:off x="5828138" y="5700072"/>
            <a:ext cx="595035" cy="584775"/>
          </a:xfrm>
          <a:prstGeom prst="rect">
            <a:avLst/>
          </a:prstGeom>
        </p:spPr>
        <p:txBody>
          <a:bodyPr wrap="none">
            <a:spAutoFit/>
          </a:bodyPr>
          <a:lstStyle/>
          <a:p>
            <a:r>
              <a:rPr lang="en-US" sz="3200">
                <a:solidFill>
                  <a:schemeClr val="accent6"/>
                </a:solidFill>
                <a:latin typeface="FontAwesome" pitchFamily="2" charset="0"/>
              </a:rPr>
              <a:t></a:t>
            </a:r>
            <a:endParaRPr lang="en-US" sz="3200">
              <a:solidFill>
                <a:schemeClr val="accent6"/>
              </a:solidFill>
            </a:endParaRPr>
          </a:p>
        </p:txBody>
      </p:sp>
      <p:sp>
        <p:nvSpPr>
          <p:cNvPr id="5" name="Text Placeholder 4"/>
          <p:cNvSpPr>
            <a:spLocks noGrp="1"/>
          </p:cNvSpPr>
          <p:nvPr userDrawn="1">
            <p:ph type="body" sz="quarter" idx="11"/>
          </p:nvPr>
        </p:nvSpPr>
        <p:spPr>
          <a:xfrm>
            <a:off x="4362451" y="2322515"/>
            <a:ext cx="3573463" cy="16716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4"/>
          <p:cNvSpPr>
            <a:spLocks noGrp="1"/>
          </p:cNvSpPr>
          <p:nvPr>
            <p:ph type="body" sz="quarter" idx="12"/>
          </p:nvPr>
        </p:nvSpPr>
        <p:spPr>
          <a:xfrm>
            <a:off x="4362353" y="1012370"/>
            <a:ext cx="3573463" cy="584775"/>
          </a:xfrm>
          <a:prstGeom prst="rect">
            <a:avLst/>
          </a:prstGeom>
        </p:spPr>
        <p:txBody>
          <a:bodyPr/>
          <a:lstStyle>
            <a:lvl1pPr marL="0" indent="0">
              <a:buNone/>
              <a:defRPr sz="3200">
                <a:solidFill>
                  <a:schemeClr val="tx1">
                    <a:lumMod val="50000"/>
                    <a:lumOff val="50000"/>
                  </a:schemeClr>
                </a:solidFill>
                <a:latin typeface="GeosansLight" panose="02000603020000020003" pitchFamily="2" charset="0"/>
                <a:ea typeface="Open Sans" panose="020B0606030504020204" pitchFamily="34" charset="0"/>
                <a:cs typeface="Open Sans" panose="020B0606030504020204" pitchFamily="34" charset="0"/>
              </a:defRPr>
            </a:lvl1pPr>
          </a:lstStyle>
          <a:p>
            <a:pPr lvl="0"/>
            <a:endParaRPr lang="en-US"/>
          </a:p>
        </p:txBody>
      </p:sp>
      <p:sp>
        <p:nvSpPr>
          <p:cNvPr id="29" name="Text Placeholder 4"/>
          <p:cNvSpPr>
            <a:spLocks noGrp="1"/>
          </p:cNvSpPr>
          <p:nvPr>
            <p:ph type="body" sz="quarter" idx="13"/>
          </p:nvPr>
        </p:nvSpPr>
        <p:spPr>
          <a:xfrm>
            <a:off x="4362353" y="1620487"/>
            <a:ext cx="3573463" cy="37056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4"/>
          <p:cNvSpPr>
            <a:spLocks noGrp="1"/>
          </p:cNvSpPr>
          <p:nvPr>
            <p:ph type="body" sz="quarter" idx="14"/>
          </p:nvPr>
        </p:nvSpPr>
        <p:spPr>
          <a:xfrm>
            <a:off x="4362352"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4"/>
          <p:cNvSpPr>
            <a:spLocks noGrp="1"/>
          </p:cNvSpPr>
          <p:nvPr>
            <p:ph type="body" sz="quarter" idx="15"/>
          </p:nvPr>
        </p:nvSpPr>
        <p:spPr>
          <a:xfrm>
            <a:off x="6202166"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and Full Screen 2">
    <p:spTree>
      <p:nvGrpSpPr>
        <p:cNvPr id="1" name=""/>
        <p:cNvGrpSpPr/>
        <p:nvPr/>
      </p:nvGrpSpPr>
      <p:grpSpPr>
        <a:xfrm>
          <a:off x="0" y="0"/>
          <a:ext cx="0" cy="0"/>
          <a:chOff x="0" y="0"/>
          <a:chExt cx="0" cy="0"/>
        </a:xfrm>
      </p:grpSpPr>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3804685" y="2"/>
            <a:ext cx="4582632" cy="4365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 Placeholder 5"/>
          <p:cNvSpPr>
            <a:spLocks noGrp="1"/>
          </p:cNvSpPr>
          <p:nvPr>
            <p:ph type="body" sz="quarter" idx="11" hasCustomPrompt="1"/>
          </p:nvPr>
        </p:nvSpPr>
        <p:spPr>
          <a:xfrm>
            <a:off x="5484014" y="436841"/>
            <a:ext cx="1225297" cy="246888"/>
          </a:xfrm>
          <a:prstGeom prst="rect">
            <a:avLst/>
          </a:prstGeom>
          <a:solidFill>
            <a:schemeClr val="accent6"/>
          </a:solidFill>
        </p:spPr>
        <p:txBody>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BRAND NAME</a:t>
            </a:r>
            <a:endParaRPr lang="en-US"/>
          </a:p>
        </p:txBody>
      </p:sp>
      <p:sp>
        <p:nvSpPr>
          <p:cNvPr id="8" name="Text Placeholder 7"/>
          <p:cNvSpPr>
            <a:spLocks noGrp="1"/>
          </p:cNvSpPr>
          <p:nvPr>
            <p:ph type="body" sz="quarter" idx="12"/>
          </p:nvPr>
        </p:nvSpPr>
        <p:spPr>
          <a:xfrm>
            <a:off x="4492625" y="825395"/>
            <a:ext cx="3206750" cy="5667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10" name="Chart Placeholder 9"/>
          <p:cNvSpPr>
            <a:spLocks noGrp="1"/>
          </p:cNvSpPr>
          <p:nvPr>
            <p:ph type="chart" sz="quarter" idx="13"/>
          </p:nvPr>
        </p:nvSpPr>
        <p:spPr>
          <a:xfrm>
            <a:off x="4492625" y="1912938"/>
            <a:ext cx="3206750" cy="2038350"/>
          </a:xfrm>
          <a:prstGeom prst="rect">
            <a:avLst/>
          </a:prstGeom>
        </p:spPr>
        <p:txBody>
          <a:bodyPr/>
          <a:lstStyle>
            <a:lvl1pPr>
              <a:defRPr>
                <a:solidFill>
                  <a:schemeClr val="tx1">
                    <a:lumMod val="50000"/>
                    <a:lumOff val="50000"/>
                  </a:schemeClr>
                </a:solidFill>
              </a:defRPr>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Full Screen Image">
    <p:spTree>
      <p:nvGrpSpPr>
        <p:cNvPr id="1" name=""/>
        <p:cNvGrpSpPr/>
        <p:nvPr/>
      </p:nvGrpSpPr>
      <p:grpSpPr>
        <a:xfrm>
          <a:off x="0" y="0"/>
          <a:ext cx="0" cy="0"/>
          <a:chOff x="0" y="0"/>
          <a:chExt cx="0" cy="0"/>
        </a:xfrm>
      </p:grpSpPr>
      <p:sp>
        <p:nvSpPr>
          <p:cNvPr id="23" name="Picture Placeholder 22"/>
          <p:cNvSpPr>
            <a:spLocks noGrp="1"/>
          </p:cNvSpPr>
          <p:nvPr>
            <p:ph type="pic" sz="quarter" idx="10"/>
          </p:nvPr>
        </p:nvSpPr>
        <p:spPr>
          <a:xfrm>
            <a:off x="0" y="0"/>
            <a:ext cx="12192000" cy="6858000"/>
          </a:xfrm>
          <a:prstGeom prst="rect">
            <a:avLst/>
          </a:prstGeom>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0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slideLayout" Target="../slideLayouts/slideLayout7.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image" Target="../media/image5.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0" Type="http://schemas.openxmlformats.org/officeDocument/2006/relationships/slideLayout" Target="../slideLayouts/slideLayout7.xml"/><Relationship Id="rId2" Type="http://schemas.openxmlformats.org/officeDocument/2006/relationships/tags" Target="../tags/tag20.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image" Target="../media/image5.png"/><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5" Type="http://schemas.openxmlformats.org/officeDocument/2006/relationships/slideLayout" Target="../slideLayouts/slideLayout7.xml"/><Relationship Id="rId14" Type="http://schemas.openxmlformats.org/officeDocument/2006/relationships/tags" Target="../tags/tag49.xml"/><Relationship Id="rId13" Type="http://schemas.openxmlformats.org/officeDocument/2006/relationships/image" Target="../media/image5.png"/><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9" Type="http://schemas.openxmlformats.org/officeDocument/2006/relationships/slideLayout" Target="../slideLayouts/slideLayout7.xml"/><Relationship Id="rId18" Type="http://schemas.openxmlformats.org/officeDocument/2006/relationships/tags" Target="../tags/tag66.xml"/><Relationship Id="rId17" Type="http://schemas.openxmlformats.org/officeDocument/2006/relationships/image" Target="../media/image5.png"/><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15.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9" Type="http://schemas.openxmlformats.org/officeDocument/2006/relationships/slideLayout" Target="../slideLayouts/slideLayout7.xml"/><Relationship Id="rId18" Type="http://schemas.openxmlformats.org/officeDocument/2006/relationships/tags" Target="../tags/tag83.xml"/><Relationship Id="rId17" Type="http://schemas.openxmlformats.org/officeDocument/2006/relationships/image" Target="../media/image5.png"/><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4.e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9" Type="http://schemas.openxmlformats.org/officeDocument/2006/relationships/slideLayout" Target="../slideLayouts/slideLayout7.xml"/><Relationship Id="rId18" Type="http://schemas.openxmlformats.org/officeDocument/2006/relationships/tags" Target="../tags/tag100.xml"/><Relationship Id="rId17" Type="http://schemas.openxmlformats.org/officeDocument/2006/relationships/image" Target="../media/image5.png"/><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24.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9" Type="http://schemas.openxmlformats.org/officeDocument/2006/relationships/slideLayout" Target="../slideLayouts/slideLayout7.xml"/><Relationship Id="rId18" Type="http://schemas.openxmlformats.org/officeDocument/2006/relationships/tags" Target="../tags/tag117.xml"/><Relationship Id="rId17" Type="http://schemas.openxmlformats.org/officeDocument/2006/relationships/image" Target="../media/image5.png"/><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tags" Target="../tags/tag10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9" Type="http://schemas.openxmlformats.org/officeDocument/2006/relationships/slideLayout" Target="../slideLayouts/slideLayout7.xml"/><Relationship Id="rId18" Type="http://schemas.openxmlformats.org/officeDocument/2006/relationships/tags" Target="../tags/tag134.xml"/><Relationship Id="rId17" Type="http://schemas.openxmlformats.org/officeDocument/2006/relationships/image" Target="../media/image5.png"/><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40.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9" Type="http://schemas.openxmlformats.org/officeDocument/2006/relationships/slideLayout" Target="../slideLayouts/slideLayout7.xml"/><Relationship Id="rId18" Type="http://schemas.openxmlformats.org/officeDocument/2006/relationships/tags" Target="../tags/tag151.xml"/><Relationship Id="rId17" Type="http://schemas.openxmlformats.org/officeDocument/2006/relationships/image" Target="../media/image5.png"/><Relationship Id="rId16" Type="http://schemas.openxmlformats.org/officeDocument/2006/relationships/tags" Target="../tags/tag150.xml"/><Relationship Id="rId15" Type="http://schemas.openxmlformats.org/officeDocument/2006/relationships/tags" Target="../tags/tag149.xml"/><Relationship Id="rId14" Type="http://schemas.openxmlformats.org/officeDocument/2006/relationships/tags" Target="../tags/tag148.xml"/><Relationship Id="rId13" Type="http://schemas.openxmlformats.org/officeDocument/2006/relationships/tags" Target="../tags/tag147.xml"/><Relationship Id="rId12" Type="http://schemas.openxmlformats.org/officeDocument/2006/relationships/tags" Target="../tags/tag146.xml"/><Relationship Id="rId11" Type="http://schemas.openxmlformats.org/officeDocument/2006/relationships/tags" Target="../tags/tag145.xml"/><Relationship Id="rId10" Type="http://schemas.openxmlformats.org/officeDocument/2006/relationships/tags" Target="../tags/tag144.xml"/><Relationship Id="rId1" Type="http://schemas.openxmlformats.org/officeDocument/2006/relationships/tags" Target="../tags/tag135.xml"/></Relationships>
</file>

<file path=ppt/slides/_rels/slide41.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2" Type="http://schemas.openxmlformats.org/officeDocument/2006/relationships/slideLayout" Target="../slideLayouts/slideLayout7.xml"/><Relationship Id="rId11" Type="http://schemas.openxmlformats.org/officeDocument/2006/relationships/tags" Target="../tags/tag161.xml"/><Relationship Id="rId10" Type="http://schemas.openxmlformats.org/officeDocument/2006/relationships/image" Target="../media/image5.png"/><Relationship Id="rId1" Type="http://schemas.openxmlformats.org/officeDocument/2006/relationships/tags" Target="../tags/tag15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2.xml"/></Relationships>
</file>

<file path=ppt/slides/_rels/slide43.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2" Type="http://schemas.openxmlformats.org/officeDocument/2006/relationships/slideLayout" Target="../slideLayouts/slideLayout7.xml"/><Relationship Id="rId11" Type="http://schemas.openxmlformats.org/officeDocument/2006/relationships/tags" Target="../tags/tag172.xml"/><Relationship Id="rId10" Type="http://schemas.openxmlformats.org/officeDocument/2006/relationships/image" Target="../media/image5.png"/><Relationship Id="rId1" Type="http://schemas.openxmlformats.org/officeDocument/2006/relationships/tags" Target="../tags/tag16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hyperlink" Target="https://send2me.cn/K9J1x44Z/R1m1_y92CMyM_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image" Target="../media/image18.png"/><Relationship Id="rId2" Type="http://schemas.microsoft.com/office/2007/relationships/media" Target="../media/media1.mp4"/><Relationship Id="rId1" Type="http://schemas.openxmlformats.org/officeDocument/2006/relationships/video" Target="../media/media1.mp4"/></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rot="16200000">
            <a:off x="2667001" y="-2667002"/>
            <a:ext cx="6858000" cy="12192002"/>
          </a:xfrm>
          <a:prstGeom prst="rect">
            <a:avLst/>
          </a:prstGeom>
        </p:spPr>
      </p:pic>
      <p:sp>
        <p:nvSpPr>
          <p:cNvPr id="5" name="TextBox 4"/>
          <p:cNvSpPr txBox="1"/>
          <p:nvPr/>
        </p:nvSpPr>
        <p:spPr>
          <a:xfrm>
            <a:off x="-2" y="2005859"/>
            <a:ext cx="12192001" cy="1754326"/>
          </a:xfrm>
          <a:prstGeom prst="rect">
            <a:avLst/>
          </a:prstGeom>
          <a:noFill/>
          <a:ln>
            <a:noFill/>
          </a:ln>
          <a:effectLst/>
          <a:scene3d>
            <a:camera prst="orthographicFront"/>
            <a:lightRig rig="harsh" dir="t">
              <a:rot lat="0" lon="0" rev="0"/>
            </a:lightRig>
          </a:scene3d>
          <a:sp3d>
            <a:bevelT/>
          </a:sp3d>
        </p:spPr>
        <p:txBody>
          <a:bodyPr vert="horz" wrap="square" rtlCol="0">
            <a:spAutoFit/>
            <a:sp3d extrusionH="57150" prstMaterial="powder">
              <a:bevelT w="38100" h="38100"/>
              <a:bevelB w="38100" h="38100"/>
            </a:sp3d>
          </a:bodyPr>
          <a:lstStyle/>
          <a:p>
            <a:pPr algn="ctr"/>
            <a:r>
              <a:rPr lang="zh-CN" altLang="en-US" sz="108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rPr>
              <a:t>操 作 系 统</a:t>
            </a:r>
            <a:endParaRPr lang="en-US" sz="10800" b="1" dirty="0">
              <a:ln>
                <a:solidFill>
                  <a:schemeClr val="accent1">
                    <a:shade val="50000"/>
                  </a:schemeClr>
                </a:solidFill>
              </a:ln>
              <a:solidFill>
                <a:srgbClr val="3399FF"/>
              </a:solidFill>
              <a:effectLst>
                <a:outerShdw blurRad="76200" dist="76200" dir="13500000" algn="br" rotWithShape="0">
                  <a:prstClr val="black">
                    <a:alpha val="40000"/>
                  </a:prstClr>
                </a:outerShdw>
              </a:effectLst>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31" name="矩形 30"/>
          <p:cNvSpPr/>
          <p:nvPr/>
        </p:nvSpPr>
        <p:spPr>
          <a:xfrm>
            <a:off x="2629254" y="4496338"/>
            <a:ext cx="6933492" cy="1446549"/>
          </a:xfrm>
          <a:prstGeom prst="rect">
            <a:avLst/>
          </a:prstGeom>
          <a:solidFill>
            <a:srgbClr val="3399FF"/>
          </a:solidFill>
          <a:ln>
            <a:noFill/>
          </a:ln>
        </p:spPr>
        <p:style>
          <a:lnRef idx="3">
            <a:schemeClr val="lt1"/>
          </a:lnRef>
          <a:fillRef idx="1">
            <a:schemeClr val="accent3"/>
          </a:fillRef>
          <a:effectRef idx="1">
            <a:schemeClr val="accent3"/>
          </a:effectRef>
          <a:fontRef idx="minor">
            <a:schemeClr val="lt1"/>
          </a:fontRef>
        </p:style>
        <p:txBody>
          <a:bodyPr rtlCol="0" anchor="ctr"/>
          <a:lstStyle/>
          <a:p>
            <a:pPr algn="ctr" defTabSz="685800" fontAlgn="base">
              <a:spcBef>
                <a:spcPct val="0"/>
              </a:spcBef>
              <a:spcAft>
                <a:spcPct val="0"/>
              </a:spcAft>
              <a:defRPr/>
            </a:pPr>
            <a:endParaRPr lang="zh-CN" altLang="en-US" sz="110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6" name="TextBox 5"/>
          <p:cNvSpPr txBox="1"/>
          <p:nvPr/>
        </p:nvSpPr>
        <p:spPr>
          <a:xfrm>
            <a:off x="3631580" y="4529653"/>
            <a:ext cx="4928839" cy="1289905"/>
          </a:xfrm>
          <a:prstGeom prst="rect">
            <a:avLst/>
          </a:prstGeom>
          <a:noFill/>
          <a:effectLst>
            <a:outerShdw blurRad="50800" dist="38100" dir="13500000" algn="br" rotWithShape="0">
              <a:prstClr val="black">
                <a:alpha val="40000"/>
              </a:prstClr>
            </a:outerShdw>
          </a:effectLst>
        </p:spPr>
        <p:txBody>
          <a:bodyPr wrap="square" rtlCol="0">
            <a:spAutoFit/>
          </a:bodyPr>
          <a:lstStyle/>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钟竞辉</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办公室：</a:t>
            </a:r>
            <a:r>
              <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B3-515</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a:p>
            <a:pPr algn="ctr">
              <a:lnSpc>
                <a:spcPct val="150000"/>
              </a:lnSpc>
            </a:pPr>
            <a:r>
              <a:rPr lang="zh-CN" alt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电子邮箱：</a:t>
            </a:r>
            <a:r>
              <a:rPr lang="en-US"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rPr>
              <a:t>jinghuizhong@scut.edu.cn</a:t>
            </a:r>
            <a:endParaRPr lang="en-US" altLang="zh-CN" b="1" dirty="0">
              <a:solidFill>
                <a:schemeClr val="bg1"/>
              </a:solidFill>
              <a:latin typeface="微软雅黑" panose="020B0503020204020204" pitchFamily="34" charset="-122"/>
              <a:ea typeface="微软雅黑" panose="020B0503020204020204" pitchFamily="34" charset="-122"/>
              <a:cs typeface="Times New Roman" panose="02020703060505090304" pitchFamily="18" charset="0"/>
            </a:endParaRP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207" y="84152"/>
            <a:ext cx="844884" cy="844884"/>
          </a:xfrm>
          <a:prstGeom prst="rect">
            <a:avLst/>
          </a:prstGeom>
          <a:effectLst/>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0495" y="-42002"/>
            <a:ext cx="1950564" cy="10971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哪个命令用于查看</a:t>
            </a:r>
            <a:r>
              <a:rPr lang="en-US" altLang="zh-CN" dirty="0"/>
              <a:t>Linux</a:t>
            </a:r>
            <a:r>
              <a:rPr lang="zh-CN" altLang="en-US" dirty="0"/>
              <a:t>中线程的详细信息？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dirty="0" err="1"/>
              <a:t>ps</a:t>
            </a:r>
            <a:r>
              <a:rPr lang="en-US" altLang="zh-CN" dirty="0"/>
              <a:t> -</a:t>
            </a:r>
            <a:r>
              <a:rPr lang="en-US" altLang="zh-CN" dirty="0" err="1"/>
              <a:t>eLf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dirty="0"/>
              <a:t>top -H</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dirty="0" err="1"/>
              <a:t>lsof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en-US" altLang="zh-CN" dirty="0"/>
              <a:t>threads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p:cNvSpPr txBox="1"/>
          <p:nvPr>
            <p:custDataLst>
              <p:tags r:id="rId18"/>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哪个系统调用用于在</a:t>
            </a:r>
            <a:r>
              <a:rPr lang="en-US" altLang="zh-CN" dirty="0"/>
              <a:t>Linux</a:t>
            </a:r>
            <a:r>
              <a:rPr lang="zh-CN" altLang="en-US" dirty="0"/>
              <a:t>中发送信号到指定进程？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dirty="0"/>
              <a:t>signal()</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dirty="0"/>
              <a:t>kill()</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dirty="0"/>
              <a:t>raise()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en-US" altLang="zh-CN" dirty="0"/>
              <a:t>time()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p:cNvSpPr txBox="1"/>
          <p:nvPr>
            <p:custDataLst>
              <p:tags r:id="rId18"/>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通常情况下，你认为守护进程比交互进程具有更高的优先级还是更低的优先级。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2"/>
            </p:custDataLst>
          </p:nvPr>
        </p:nvSpPr>
        <p:spPr>
          <a:xfrm>
            <a:off x="3352324" y="278606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守护进程具有更高优先级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3"/>
            </p:custDataLst>
          </p:nvPr>
        </p:nvSpPr>
        <p:spPr>
          <a:xfrm>
            <a:off x="3352324" y="364331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交互进程具有更高优先级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4"/>
            </p:custDataLst>
          </p:nvPr>
        </p:nvSpPr>
        <p:spPr>
          <a:xfrm>
            <a:off x="2637869"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5"/>
            </p:custDataLst>
          </p:nvPr>
        </p:nvSpPr>
        <p:spPr>
          <a:xfrm>
            <a:off x="2637869"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p:cNvSpPr/>
          <p:nvPr>
            <p:custDataLst>
              <p:tags r:id="rId6"/>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组合 19"/>
          <p:cNvGrpSpPr/>
          <p:nvPr>
            <p:custDataLst>
              <p:tags r:id="rId7"/>
            </p:custDataLst>
          </p:nvPr>
        </p:nvGrpSpPr>
        <p:grpSpPr>
          <a:xfrm>
            <a:off x="0" y="0"/>
            <a:ext cx="9145588" cy="635000"/>
            <a:chOff x="-1523206" y="0"/>
            <a:chExt cx="9145588" cy="635000"/>
          </a:xfrm>
        </p:grpSpPr>
        <p:sp>
          <p:nvSpPr>
            <p:cNvPr id="16" name="TitleBackground"/>
            <p:cNvSpPr/>
            <p:nvPr>
              <p:custDataLst>
                <p:tags r:id="rId8"/>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9"/>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0"/>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TipText"/>
            <p:cNvSpPr txBox="1"/>
            <p:nvPr>
              <p:custDataLst>
                <p:tags r:id="rId11"/>
              </p:custDataLst>
            </p:nvPr>
          </p:nvSpPr>
          <p:spPr>
            <a:xfrm>
              <a:off x="-327501"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内核</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100000"/>
              </a:lnSpc>
            </a:pPr>
            <a:r>
              <a:rPr lang="zh-CN" altLang="en-US"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内核坐落在硬件之上，包含三个主要部件：</a:t>
            </a:r>
            <a:endPar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    </a:t>
            </a:r>
            <a:r>
              <a:rPr lang="en-US" altLang="zh-CN" sz="24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I/O</a:t>
            </a:r>
            <a:r>
              <a:rPr lang="zh-CN" altLang="en-US" sz="24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部件</a:t>
            </a:r>
            <a:r>
              <a:rPr lang="zh-CN" altLang="en-US"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a:t>
            </a:r>
            <a:r>
              <a:rPr lang="zh-CN" altLang="en-US" sz="24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内存管理部件</a:t>
            </a:r>
            <a:r>
              <a:rPr lang="zh-CN" altLang="en-US"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和</a:t>
            </a:r>
            <a:r>
              <a:rPr lang="zh-CN" altLang="en-US" sz="24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进程管理部件</a:t>
            </a:r>
            <a:endParaRPr lang="en-US" altLang="zh-CN" sz="24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2</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60730" y="1943089"/>
            <a:ext cx="6379510" cy="4433582"/>
          </a:xfrm>
          <a:prstGeom prst="rect">
            <a:avLst/>
          </a:prstGeom>
        </p:spPr>
      </p:pic>
      <p:sp>
        <p:nvSpPr>
          <p:cNvPr id="6" name="Rectangle 3"/>
          <p:cNvSpPr txBox="1">
            <a:spLocks noChangeArrowheads="1"/>
          </p:cNvSpPr>
          <p:nvPr/>
        </p:nvSpPr>
        <p:spPr>
          <a:xfrm>
            <a:off x="1524794" y="6312761"/>
            <a:ext cx="9144000" cy="75946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en-US" altLang="zh-CN" sz="2000">
                <a:latin typeface="微软雅黑" panose="020B0503020204020204" pitchFamily="34" charset="-122"/>
                <a:ea typeface="微软雅黑" panose="020B0503020204020204" pitchFamily="34" charset="-122"/>
              </a:rPr>
              <a:t>Linux </a:t>
            </a:r>
            <a:r>
              <a:rPr lang="zh-CN" altLang="en-US" sz="2000">
                <a:latin typeface="微软雅黑" panose="020B0503020204020204" pitchFamily="34" charset="-122"/>
                <a:ea typeface="微软雅黑" panose="020B0503020204020204" pitchFamily="34" charset="-122"/>
              </a:rPr>
              <a:t>的内核结构</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 </a:t>
            </a:r>
            <a:r>
              <a:rPr lang="zh-CN" altLang="en-US" sz="3200" b="1" dirty="0">
                <a:latin typeface="微软雅黑" panose="020B0503020204020204" pitchFamily="34" charset="-122"/>
                <a:ea typeface="微软雅黑" panose="020B0503020204020204" pitchFamily="34" charset="-122"/>
              </a:rPr>
              <a:t>内存管理</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1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虚拟内存的基本原理</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虚拟内存技术允许多个进程灵活共享物理内存空间，显著提高内存的利用率，而且可以支持容量大于物理内存的进程运行。</a:t>
            </a:r>
            <a:endParaRPr lang="zh-CN" altLang="en-US" sz="2400" dirty="0">
              <a:latin typeface="微软雅黑" panose="020B0503020204020204" pitchFamily="34" charset="-122"/>
              <a:ea typeface="微软雅黑" panose="020B0503020204020204" pitchFamily="34" charset="-122"/>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3</a:t>
            </a:r>
            <a:endParaRPr lang="zh-CN" altLang="en-US" dirty="0"/>
          </a:p>
        </p:txBody>
      </p:sp>
      <p:pic>
        <p:nvPicPr>
          <p:cNvPr id="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l="1123" t="3032" r="2821" b="2776"/>
          <a:stretch>
            <a:fillRect/>
          </a:stretch>
        </p:blipFill>
        <p:spPr bwMode="auto">
          <a:xfrm>
            <a:off x="3562762" y="2480948"/>
            <a:ext cx="5066476" cy="3726811"/>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110739" y="6292381"/>
            <a:ext cx="7970520"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提高虚拟内存效率的技术： </a:t>
            </a:r>
            <a:r>
              <a:rPr lang="en-US" altLang="zh-CN" sz="2000" dirty="0">
                <a:latin typeface="微软雅黑" panose="020B0503020204020204" pitchFamily="34" charset="-122"/>
                <a:ea typeface="微软雅黑" panose="020B0503020204020204" pitchFamily="34" charset="-122"/>
              </a:rPr>
              <a:t>TLB,</a:t>
            </a:r>
            <a:r>
              <a:rPr lang="zh-CN" altLang="en-US" sz="2000" dirty="0">
                <a:latin typeface="微软雅黑" panose="020B0503020204020204" pitchFamily="34" charset="-122"/>
                <a:ea typeface="微软雅黑" panose="020B0503020204020204" pitchFamily="34" charset="-122"/>
              </a:rPr>
              <a:t>多级页表等</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8264" y="2199996"/>
            <a:ext cx="7475469" cy="4168140"/>
          </a:xfrm>
          <a:prstGeom prst="rect">
            <a:avLst/>
          </a:prstGeom>
        </p:spPr>
      </p:pic>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内存管理：多级页表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r>
              <a:rPr lang="zh-CN" altLang="en-US" dirty="0">
                <a:solidFill>
                  <a:prstClr val="black"/>
                </a:solidFill>
                <a:latin typeface="微软雅黑" panose="020B0503020204020204" pitchFamily="34" charset="-122"/>
                <a:ea typeface="微软雅黑" panose="020B0503020204020204" pitchFamily="34" charset="-122"/>
              </a:rPr>
              <a:t>每个虚拟地址划分成四个域，目录域是页目录的索引，每个进程都有一个私有的页目录，找到的值是指向其中一个下一级目录的一个指针，页表的表项指向所需要的页面。</a:t>
            </a:r>
            <a:endParaRPr lang="zh-CN" altLang="en-US"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4</a:t>
            </a:r>
            <a:endParaRPr lang="zh-CN" altLang="en-US" dirty="0"/>
          </a:p>
        </p:txBody>
      </p:sp>
      <p:sp>
        <p:nvSpPr>
          <p:cNvPr id="5" name="Rectangle 3"/>
          <p:cNvSpPr txBox="1">
            <a:spLocks noChangeArrowheads="1"/>
          </p:cNvSpPr>
          <p:nvPr/>
        </p:nvSpPr>
        <p:spPr>
          <a:xfrm>
            <a:off x="2209800" y="6368136"/>
            <a:ext cx="7772400" cy="59690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en-US" altLang="zh-CN" sz="2000" dirty="0">
                <a:latin typeface="微软雅黑" panose="020B0503020204020204" pitchFamily="34" charset="-122"/>
                <a:ea typeface="微软雅黑" panose="020B0503020204020204" pitchFamily="34" charset="-122"/>
              </a:rPr>
              <a:t>Linux</a:t>
            </a:r>
            <a:r>
              <a:rPr lang="zh-CN" altLang="en-US" sz="2000" dirty="0">
                <a:latin typeface="微软雅黑" panose="020B0503020204020204" pitchFamily="34" charset="-122"/>
                <a:ea typeface="微软雅黑" panose="020B0503020204020204" pitchFamily="34" charset="-122"/>
              </a:rPr>
              <a:t>使用四级页表</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内存管理</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marL="342900" indent="-342900">
              <a:lnSpc>
                <a:spcPct val="150000"/>
              </a:lnSpc>
              <a:buFont typeface="Arial" panose="020B0604020202090204" pitchFamily="34" charset="0"/>
              <a:buChar char="•"/>
            </a:pPr>
            <a:r>
              <a:rPr lang="en-US" altLang="zh-CN" sz="2400" dirty="0">
                <a:latin typeface="微软雅黑" panose="020B0503020204020204" pitchFamily="34" charset="-122"/>
                <a:ea typeface="微软雅黑" panose="020B0503020204020204" pitchFamily="34" charset="-122"/>
              </a:rPr>
              <a:t>Linux </a:t>
            </a:r>
            <a:r>
              <a:rPr lang="zh-CN" altLang="en-US" sz="2400" dirty="0">
                <a:latin typeface="微软雅黑" panose="020B0503020204020204" pitchFamily="34" charset="-122"/>
                <a:ea typeface="微软雅黑" panose="020B0503020204020204" pitchFamily="34" charset="-122"/>
              </a:rPr>
              <a:t>将</a:t>
            </a:r>
            <a:r>
              <a:rPr lang="en-US" altLang="zh-CN" sz="2400" dirty="0">
                <a:latin typeface="微软雅黑" panose="020B0503020204020204" pitchFamily="34" charset="-122"/>
                <a:ea typeface="微软雅黑" panose="020B0503020204020204" pitchFamily="34" charset="-122"/>
              </a:rPr>
              <a:t>4G</a:t>
            </a:r>
            <a:r>
              <a:rPr lang="zh-CN" altLang="en-US" sz="2400" dirty="0">
                <a:latin typeface="微软雅黑" panose="020B0503020204020204" pitchFamily="34" charset="-122"/>
                <a:ea typeface="微软雅黑" panose="020B0503020204020204" pitchFamily="34" charset="-122"/>
              </a:rPr>
              <a:t>的虚拟地址空间划分为两部分：用户空间和内核空间。用户空间从</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0xbfffffff,</a:t>
            </a:r>
            <a:r>
              <a:rPr lang="zh-CN" altLang="en-US" sz="2400" dirty="0">
                <a:latin typeface="微软雅黑" panose="020B0503020204020204" pitchFamily="34" charset="-122"/>
                <a:ea typeface="微软雅黑" panose="020B0503020204020204" pitchFamily="34" charset="-122"/>
              </a:rPr>
              <a:t>内核空间从</a:t>
            </a:r>
            <a:r>
              <a:rPr lang="en-US" altLang="zh-CN" sz="2400" dirty="0">
                <a:latin typeface="微软雅黑" panose="020B0503020204020204" pitchFamily="34" charset="-122"/>
                <a:ea typeface="微软雅黑" panose="020B0503020204020204" pitchFamily="34" charset="-122"/>
              </a:rPr>
              <a:t>3G</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4G</a:t>
            </a:r>
            <a:r>
              <a:rPr lang="zh-CN" altLang="en-US" sz="2400" dirty="0">
                <a:latin typeface="微软雅黑" panose="020B0503020204020204" pitchFamily="34" charset="-122"/>
                <a:ea typeface="微软雅黑" panose="020B0503020204020204" pitchFamily="34" charset="-122"/>
              </a:rPr>
              <a:t>。用户进程通常情况下只能访问用户空间的虚拟地址，不能访问内核空间。可以通过系统调用访问内核空间。</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90204" pitchFamily="34" charset="0"/>
              <a:buChar char="•"/>
            </a:pPr>
            <a:endParaRPr lang="zh-CN" altLang="en-US" dirty="0"/>
          </a:p>
        </p:txBody>
      </p:sp>
      <p:sp>
        <p:nvSpPr>
          <p:cNvPr id="4" name="文本占位符 3"/>
          <p:cNvSpPr>
            <a:spLocks noGrp="1"/>
          </p:cNvSpPr>
          <p:nvPr>
            <p:ph type="body" sz="quarter" idx="15"/>
          </p:nvPr>
        </p:nvSpPr>
        <p:spPr/>
        <p:txBody>
          <a:bodyPr/>
          <a:lstStyle/>
          <a:p>
            <a:r>
              <a:rPr lang="en-US" altLang="zh-CN" dirty="0"/>
              <a:t>5</a:t>
            </a:r>
            <a:endParaRPr lang="zh-CN" altLang="en-US" dirty="0"/>
          </a:p>
        </p:txBody>
      </p:sp>
      <p:sp>
        <p:nvSpPr>
          <p:cNvPr id="5" name="文本占位符 2"/>
          <p:cNvSpPr txBox="1"/>
          <p:nvPr/>
        </p:nvSpPr>
        <p:spPr>
          <a:xfrm>
            <a:off x="957943" y="3963133"/>
            <a:ext cx="9261231" cy="387941"/>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900" indent="-342900">
              <a:lnSpc>
                <a:spcPct val="150000"/>
              </a:lnSpc>
              <a:buFont typeface="Arial" panose="020B0604020202090204" pitchFamily="34" charset="0"/>
              <a:buChar char="•"/>
            </a:pPr>
            <a:r>
              <a:rPr lang="en-US" altLang="zh-CN" sz="2400" dirty="0">
                <a:latin typeface="微软雅黑" panose="020B0503020204020204" pitchFamily="34" charset="-122"/>
                <a:ea typeface="微软雅黑" panose="020B0503020204020204" pitchFamily="34" charset="-122"/>
              </a:rPr>
              <a:t>Linux</a:t>
            </a:r>
            <a:r>
              <a:rPr lang="zh-CN" altLang="en-US" sz="2400" dirty="0">
                <a:latin typeface="微软雅黑" panose="020B0503020204020204" pitchFamily="34" charset="-122"/>
                <a:ea typeface="微软雅黑" panose="020B0503020204020204" pitchFamily="34" charset="-122"/>
              </a:rPr>
              <a:t>的内存有三部分组成，前两部分是内核和内存映射，被固定在内存中，其余部分被划分成页框。</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系统维护的映射如下图所示。</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a:latin typeface="微软雅黑" panose="020B0503020204020204" pitchFamily="34" charset="-122"/>
                <a:ea typeface="微软雅黑" panose="020B0503020204020204" pitchFamily="34" charset="-122"/>
              </a:rPr>
              <a:t>物理内存管理</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6</a:t>
            </a:r>
            <a:endParaRPr lang="zh-CN" altLang="en-US" dirty="0"/>
          </a:p>
        </p:txBody>
      </p:sp>
      <p:pic>
        <p:nvPicPr>
          <p:cNvPr id="5" name="内容占位符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18482" y="849683"/>
            <a:ext cx="7555035" cy="58428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的换页</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伙伴算法</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Linux</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分配物理内存页框的主要机制是页面分配器，它使用了著名的伙伴算法。</a:t>
            </a:r>
            <a:endParaRPr lang="zh-CN" altLang="en-US"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7</a:t>
            </a:r>
            <a:endParaRPr lang="zh-CN" altLang="en-US" dirty="0"/>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b="3629"/>
          <a:stretch>
            <a:fillRect/>
          </a:stretch>
        </p:blipFill>
        <p:spPr bwMode="auto">
          <a:xfrm>
            <a:off x="803945" y="1877211"/>
            <a:ext cx="10599504" cy="44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p:cNvSpPr txBox="1">
            <a:spLocks noChangeArrowheads="1"/>
          </p:cNvSpPr>
          <p:nvPr/>
        </p:nvSpPr>
        <p:spPr bwMode="auto">
          <a:xfrm>
            <a:off x="5490704" y="6370456"/>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703060505090304" pitchFamily="18" charset="0"/>
              </a:defRPr>
            </a:lvl1pPr>
            <a:lvl2pPr marL="742950" indent="-285750">
              <a:defRPr sz="2400">
                <a:solidFill>
                  <a:schemeClr val="tx1"/>
                </a:solidFill>
                <a:latin typeface="Times New Roman" panose="02020703060505090304" pitchFamily="18" charset="0"/>
              </a:defRPr>
            </a:lvl2pPr>
            <a:lvl3pPr marL="1143000" indent="-228600">
              <a:defRPr sz="2400">
                <a:solidFill>
                  <a:schemeClr val="tx1"/>
                </a:solidFill>
                <a:latin typeface="Times New Roman" panose="02020703060505090304" pitchFamily="18" charset="0"/>
              </a:defRPr>
            </a:lvl3pPr>
            <a:lvl4pPr marL="1600200" indent="-228600">
              <a:defRPr sz="2400">
                <a:solidFill>
                  <a:schemeClr val="tx1"/>
                </a:solidFill>
                <a:latin typeface="Times New Roman" panose="02020703060505090304" pitchFamily="18" charset="0"/>
              </a:defRPr>
            </a:lvl4pPr>
            <a:lvl5pPr marL="2057400" indent="-22860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eaLnBrk="1" hangingPunct="1"/>
            <a:r>
              <a:rPr lang="zh-CN" altLang="en-US" sz="2000" dirty="0">
                <a:latin typeface="微软雅黑" panose="020B0503020204020204" pitchFamily="34" charset="-122"/>
                <a:ea typeface="微软雅黑" panose="020B0503020204020204" pitchFamily="34" charset="-122"/>
              </a:rPr>
              <a:t>伙伴算法</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页面置换算法</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系统启动时，</a:t>
            </a:r>
            <a:r>
              <a:rPr lang="en-US" altLang="zh-CN" b="1" dirty="0" err="1">
                <a:latin typeface="微软雅黑" panose="020B0503020204020204" pitchFamily="34" charset="-122"/>
                <a:ea typeface="微软雅黑" panose="020B0503020204020204" pitchFamily="34" charset="-122"/>
              </a:rPr>
              <a:t>init</a:t>
            </a:r>
            <a:r>
              <a:rPr lang="zh-CN" altLang="en-US" b="1" dirty="0">
                <a:latin typeface="微软雅黑" panose="020B0503020204020204" pitchFamily="34" charset="-122"/>
                <a:ea typeface="微软雅黑" panose="020B0503020204020204" pitchFamily="34" charset="-122"/>
              </a:rPr>
              <a:t>开启页面守护进程（</a:t>
            </a:r>
            <a:r>
              <a:rPr lang="en-US" altLang="zh-CN" b="1" dirty="0" err="1">
                <a:latin typeface="微软雅黑" panose="020B0503020204020204" pitchFamily="34" charset="-122"/>
                <a:ea typeface="微软雅黑" panose="020B0503020204020204" pitchFamily="34" charset="-122"/>
              </a:rPr>
              <a:t>kswaped</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en-US" altLang="zh-CN" b="1" dirty="0" err="1">
                <a:latin typeface="微软雅黑" panose="020B0503020204020204" pitchFamily="34" charset="-122"/>
                <a:ea typeface="微软雅黑" panose="020B0503020204020204" pitchFamily="34" charset="-122"/>
              </a:rPr>
              <a:t>Kswapd</a:t>
            </a:r>
            <a:r>
              <a:rPr lang="zh-CN" altLang="en-US" b="1" dirty="0">
                <a:latin typeface="微软雅黑" panose="020B0503020204020204" pitchFamily="34" charset="-122"/>
                <a:ea typeface="微软雅黑" panose="020B0503020204020204" pitchFamily="34" charset="-122"/>
              </a:rPr>
              <a:t> 周期性检查页面空闲状态</a:t>
            </a:r>
            <a:r>
              <a:rPr lang="en-US" altLang="zh-CN" b="1" dirty="0">
                <a:latin typeface="微软雅黑" panose="020B0503020204020204" pitchFamily="34" charset="-122"/>
                <a:ea typeface="微软雅黑" panose="020B0503020204020204" pitchFamily="34" charset="-122"/>
              </a:rPr>
              <a:t> (100ms)</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若空闲页面不够则选择页面回收并插入空闲队列；</a:t>
            </a:r>
            <a:endParaRPr lang="zh-CN" altLang="en-US" b="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四种页面：</a:t>
            </a:r>
            <a:endParaRPr lang="en-US" altLang="zh-CN" b="1" dirty="0">
              <a:latin typeface="微软雅黑" panose="020B0503020204020204" pitchFamily="34" charset="-122"/>
              <a:ea typeface="微软雅黑" panose="020B0503020204020204" pitchFamily="34" charset="-122"/>
            </a:endParaRPr>
          </a:p>
          <a:p>
            <a:pPr marL="342900" lvl="1" indent="0">
              <a:lnSpc>
                <a:spcPct val="150000"/>
              </a:lnSpc>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）不可回收：如内核态栈和锁定页面等；</a:t>
            </a:r>
            <a:endParaRPr lang="en-US" altLang="zh-CN" dirty="0">
              <a:latin typeface="微软雅黑" panose="020B0503020204020204" pitchFamily="34" charset="-122"/>
              <a:ea typeface="微软雅黑" panose="020B0503020204020204" pitchFamily="34" charset="-122"/>
            </a:endParaRPr>
          </a:p>
          <a:p>
            <a:pPr marL="342900" lvl="1" indent="0">
              <a:lnSpc>
                <a:spcPct val="150000"/>
              </a:lnSpc>
              <a:buNone/>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）可交换：回收前写回交换区；</a:t>
            </a:r>
            <a:endParaRPr lang="en-US" altLang="zh-CN" dirty="0">
              <a:latin typeface="微软雅黑" panose="020B0503020204020204" pitchFamily="34" charset="-122"/>
              <a:ea typeface="微软雅黑" panose="020B0503020204020204" pitchFamily="34" charset="-122"/>
            </a:endParaRPr>
          </a:p>
          <a:p>
            <a:pPr marL="342900" lvl="1" indent="0">
              <a:lnSpc>
                <a:spcPct val="150000"/>
              </a:lnSpc>
              <a:buNone/>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）可同步：若标记为脏，则必须要写回磁盘；</a:t>
            </a:r>
            <a:endParaRPr lang="en-US" altLang="zh-CN" dirty="0">
              <a:latin typeface="微软雅黑" panose="020B0503020204020204" pitchFamily="34" charset="-122"/>
              <a:ea typeface="微软雅黑" panose="020B0503020204020204" pitchFamily="34" charset="-122"/>
            </a:endParaRPr>
          </a:p>
          <a:p>
            <a:pPr marL="342900" lvl="1" indent="0">
              <a:lnSpc>
                <a:spcPct val="150000"/>
              </a:lnSpc>
              <a:buNone/>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）可丢弃：可立即回收。</a:t>
            </a:r>
            <a:endParaRPr lang="en-US" altLang="zh-CN" dirty="0">
              <a:latin typeface="微软雅黑" panose="020B0503020204020204" pitchFamily="34" charset="-122"/>
              <a:ea typeface="微软雅黑" panose="020B0503020204020204" pitchFamily="34" charset="-122"/>
            </a:endParaRPr>
          </a:p>
          <a:p>
            <a:endParaRPr lang="zh-CN" altLang="en-US" sz="3600" dirty="0"/>
          </a:p>
        </p:txBody>
      </p:sp>
      <p:sp>
        <p:nvSpPr>
          <p:cNvPr id="4" name="文本占位符 3"/>
          <p:cNvSpPr>
            <a:spLocks noGrp="1"/>
          </p:cNvSpPr>
          <p:nvPr>
            <p:ph type="body" sz="quarter" idx="15"/>
          </p:nvPr>
        </p:nvSpPr>
        <p:spPr/>
        <p:txBody>
          <a:bodyPr/>
          <a:lstStyle/>
          <a:p>
            <a:r>
              <a:rPr lang="en-US" altLang="zh-CN" dirty="0"/>
              <a:t>9</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2081683" y="0"/>
            <a:ext cx="8028633" cy="534844"/>
          </a:xfrm>
        </p:spPr>
        <p:txBody>
          <a:bodyPr/>
          <a:lstStyle/>
          <a:p>
            <a:r>
              <a:rPr lang="zh-CN" altLang="en-US" sz="3200" b="1" dirty="0">
                <a:latin typeface="微软雅黑" panose="020B0503020204020204" pitchFamily="34" charset="-122"/>
                <a:ea typeface="微软雅黑" panose="020B0503020204020204" pitchFamily="34" charset="-122"/>
              </a:rPr>
              <a:t>页面置换算法</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a:lnSpc>
                <a:spcPct val="150000"/>
              </a:lnSpc>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Linux</a:t>
            </a:r>
            <a:r>
              <a:rPr lang="zh-CN" altLang="en-US" sz="2400" dirty="0">
                <a:latin typeface="微软雅黑" panose="020B0503020204020204" pitchFamily="34" charset="-122"/>
                <a:ea typeface="微软雅黑" panose="020B0503020204020204" pitchFamily="34" charset="-122"/>
              </a:rPr>
              <a:t>使用一种改进地</a:t>
            </a:r>
            <a:r>
              <a:rPr lang="en-US" altLang="zh-CN" sz="2400" dirty="0">
                <a:latin typeface="微软雅黑" panose="020B0503020204020204" pitchFamily="34" charset="-122"/>
                <a:ea typeface="微软雅黑" panose="020B0503020204020204" pitchFamily="34" charset="-122"/>
              </a:rPr>
              <a:t>LRU</a:t>
            </a:r>
            <a:r>
              <a:rPr lang="zh-CN" altLang="en-US" sz="2400" dirty="0">
                <a:latin typeface="微软雅黑" panose="020B0503020204020204" pitchFamily="34" charset="-122"/>
                <a:ea typeface="微软雅黑" panose="020B0503020204020204" pitchFamily="34" charset="-122"/>
              </a:rPr>
              <a:t>算法，维护两组标记：活动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非活动和是否被引用。</a:t>
            </a:r>
            <a:endParaRPr lang="en-US" altLang="zh-CN"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第一轮扫描清除引用位，如果第二轮运行确定被引用，就提升到一个不太可能回收的状态，否则将该页面移动到一个更可能被回收的状态。</a:t>
            </a:r>
            <a:endParaRPr lang="zh-CN" altLang="en-US" sz="24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处于非活动列表的页面，自从上次检查未被引用过，因而是移除的最佳选择。被引用但不活跃的页面同样会被考虑回收。</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dirty="0"/>
          </a:p>
        </p:txBody>
      </p:sp>
      <p:sp>
        <p:nvSpPr>
          <p:cNvPr id="4" name="文本占位符 3"/>
          <p:cNvSpPr>
            <a:spLocks noGrp="1"/>
          </p:cNvSpPr>
          <p:nvPr>
            <p:ph type="body" sz="quarter" idx="15"/>
          </p:nvPr>
        </p:nvSpPr>
        <p:spPr/>
        <p:txBody>
          <a:bodyPr/>
          <a:lstStyle/>
          <a:p>
            <a:r>
              <a:rPr lang="en-US" altLang="zh-CN" dirty="0"/>
              <a:t>10</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页面置换算法</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11</a:t>
            </a:r>
            <a:endParaRPr lang="zh-CN" altLang="en-US" dirty="0"/>
          </a:p>
        </p:txBody>
      </p:sp>
      <p:pic>
        <p:nvPicPr>
          <p:cNvPr id="5"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24616" y="866640"/>
            <a:ext cx="7542767" cy="58258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伙伴系统在内存分配中的主要作用是？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dirty="0"/>
              <a:t>减少内存碎片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dirty="0"/>
              <a:t>加快内存访问速度</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dirty="0"/>
              <a:t>提高内存利用率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dirty="0"/>
              <a:t>增加内存容量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6"/>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1" name="组合 20"/>
          <p:cNvGrpSpPr/>
          <p:nvPr>
            <p:custDataLst>
              <p:tags r:id="rId11"/>
            </p:custDataLst>
          </p:nvPr>
        </p:nvGrpSpPr>
        <p:grpSpPr>
          <a:xfrm>
            <a:off x="0" y="0"/>
            <a:ext cx="12192000" cy="635000"/>
            <a:chOff x="0" y="0"/>
            <a:chExt cx="12192000" cy="635000"/>
          </a:xfrm>
        </p:grpSpPr>
        <p:sp>
          <p:nvSpPr>
            <p:cNvPr id="17"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6" name="图片 5"/>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dirty="0"/>
              <a:t>Linux</a:t>
            </a:r>
            <a:r>
              <a:rPr lang="zh-CN" altLang="en-US" dirty="0"/>
              <a:t>中常用的页面置换算法不包括：</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dirty="0"/>
              <a:t>最佳置换算法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dirty="0"/>
              <a:t>先进先出（</a:t>
            </a:r>
            <a:r>
              <a:rPr lang="en-US" altLang="zh-CN" dirty="0"/>
              <a:t>FIFO</a:t>
            </a:r>
            <a:r>
              <a:rPr lang="zh-CN" altLang="en-US" dirty="0"/>
              <a:t>）算法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dirty="0"/>
              <a:t>最近最少使用（</a:t>
            </a:r>
            <a:r>
              <a:rPr lang="en-US" altLang="zh-CN" dirty="0"/>
              <a:t>LRU</a:t>
            </a:r>
            <a:r>
              <a:rPr lang="zh-CN" altLang="en-US" dirty="0"/>
              <a:t>）算法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dirty="0"/>
              <a:t>随机置换算法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内存映射文件</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13</a:t>
            </a:r>
            <a:endParaRPr lang="zh-CN" altLang="en-US" dirty="0"/>
          </a:p>
        </p:txBody>
      </p:sp>
      <p:sp>
        <p:nvSpPr>
          <p:cNvPr id="8" name="矩形 7"/>
          <p:cNvSpPr/>
          <p:nvPr/>
        </p:nvSpPr>
        <p:spPr>
          <a:xfrm>
            <a:off x="713589" y="1024293"/>
            <a:ext cx="10904669" cy="5693866"/>
          </a:xfrm>
          <a:prstGeom prst="rect">
            <a:avLst/>
          </a:prstGeom>
        </p:spPr>
        <p:txBody>
          <a:bodyPr wrap="square">
            <a:spAutoFit/>
          </a:bodyPr>
          <a:lstStyle/>
          <a:p>
            <a:r>
              <a:rPr lang="zh-CN" altLang="en-US" sz="2800" b="1" dirty="0"/>
              <a:t>概念： </a:t>
            </a:r>
            <a:r>
              <a:rPr lang="zh-CN" altLang="en-US" sz="2800" dirty="0"/>
              <a:t>内存映射文件是一种通过将文件内容直接映射到进程的地址空间来实现文件访问的机制。这样做可以使得文件操作像内存访问一样高效。</a:t>
            </a:r>
            <a:endParaRPr lang="zh-CN" altLang="en-US" sz="2800" dirty="0"/>
          </a:p>
          <a:p>
            <a:endParaRPr lang="zh-CN" altLang="en-US" sz="2800" dirty="0"/>
          </a:p>
          <a:p>
            <a:r>
              <a:rPr lang="zh-CN" altLang="en-US" sz="2800" b="1" dirty="0"/>
              <a:t>优点： </a:t>
            </a:r>
            <a:r>
              <a:rPr lang="zh-CN" altLang="en-US" sz="2800" dirty="0"/>
              <a:t>内存映射文件允许进程将文件内容视为内存中的一部分，从而避免了频繁的系统调用，提高了IO操作的效率。</a:t>
            </a:r>
            <a:endParaRPr lang="zh-CN" altLang="en-US" sz="2800" dirty="0"/>
          </a:p>
          <a:p>
            <a:endParaRPr lang="zh-CN" altLang="en-US" sz="2800" dirty="0"/>
          </a:p>
          <a:p>
            <a:r>
              <a:rPr lang="zh-CN" altLang="en-US" sz="2800" b="1" dirty="0"/>
              <a:t>原理： </a:t>
            </a:r>
            <a:r>
              <a:rPr lang="zh-CN" altLang="en-US" sz="2800" dirty="0"/>
              <a:t>内存映射文件通过操作系统内核提供的相关系统调用（如mmap()）将文件内容映射到进程的虚拟地址空间中。这样，对这些内存区域的读写操作实际上是对文件的读写操作。</a:t>
            </a:r>
            <a:endParaRPr lang="zh-CN" altLang="en-US" sz="2800" dirty="0"/>
          </a:p>
          <a:p>
            <a:endParaRPr lang="zh-CN" altLang="en-US" sz="2800" dirty="0"/>
          </a:p>
          <a:p>
            <a:r>
              <a:rPr lang="zh-CN" altLang="en-US" sz="2800" b="1" dirty="0"/>
              <a:t>应用： </a:t>
            </a:r>
            <a:r>
              <a:rPr lang="zh-CN" altLang="en-US" sz="2800" dirty="0"/>
              <a:t>内存映射文件常用于需要频繁访问大文件内容的场景，如数据库系统、文本编辑器、图像处理等。</a:t>
            </a:r>
            <a:endParaRPr lang="zh-CN"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内存映射文件</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7308" y="809723"/>
            <a:ext cx="9261231" cy="387941"/>
          </a:xfrm>
        </p:spPr>
        <p:txBody>
          <a:bodyPr/>
          <a:lstStyle/>
          <a:p>
            <a:pPr>
              <a:lnSpc>
                <a:spcPct val="100000"/>
              </a:lnSpc>
            </a:pPr>
            <a:r>
              <a:rPr lang="en-US" altLang="zh-CN" sz="2000" b="1" dirty="0">
                <a:latin typeface="Times New Roman" panose="02020703060505090304" pitchFamily="18" charset="0"/>
                <a:cs typeface="Times New Roman" panose="02020703060505090304" pitchFamily="18" charset="0"/>
              </a:rPr>
              <a:t>void</a:t>
            </a:r>
            <a:r>
              <a:rPr lang="en-US" altLang="zh-CN" sz="2000" dirty="0">
                <a:latin typeface="Times New Roman" panose="02020703060505090304" pitchFamily="18" charset="0"/>
                <a:cs typeface="Times New Roman" panose="02020703060505090304" pitchFamily="18" charset="0"/>
              </a:rPr>
              <a:t> * </a:t>
            </a:r>
            <a:r>
              <a:rPr lang="en-US" altLang="zh-CN" sz="2000" b="1" dirty="0" err="1">
                <a:solidFill>
                  <a:srgbClr val="FF0000"/>
                </a:solidFill>
                <a:latin typeface="Times New Roman" panose="02020703060505090304" pitchFamily="18" charset="0"/>
                <a:cs typeface="Times New Roman" panose="02020703060505090304" pitchFamily="18" charset="0"/>
              </a:rPr>
              <a:t>mmap</a:t>
            </a:r>
            <a:r>
              <a:rPr lang="en-US" altLang="zh-CN" sz="2000" dirty="0">
                <a:latin typeface="Times New Roman" panose="02020703060505090304" pitchFamily="18" charset="0"/>
                <a:cs typeface="Times New Roman" panose="02020703060505090304" pitchFamily="18" charset="0"/>
              </a:rPr>
              <a:t>(</a:t>
            </a:r>
            <a:endParaRPr lang="en-US" altLang="zh-CN" sz="2000" dirty="0">
              <a:latin typeface="Times New Roman" panose="02020703060505090304" pitchFamily="18" charset="0"/>
              <a:cs typeface="Times New Roman" panose="02020703060505090304" pitchFamily="18" charset="0"/>
            </a:endParaRPr>
          </a:p>
          <a:p>
            <a:pPr>
              <a:lnSpc>
                <a:spcPct val="100000"/>
              </a:lnSpc>
            </a:pPr>
            <a:r>
              <a:rPr lang="en-US" altLang="zh-CN" sz="2000" b="1" dirty="0">
                <a:latin typeface="Times New Roman" panose="02020703060505090304" pitchFamily="18" charset="0"/>
                <a:cs typeface="Times New Roman" panose="02020703060505090304" pitchFamily="18" charset="0"/>
              </a:rPr>
              <a:t>	void</a:t>
            </a:r>
            <a:r>
              <a:rPr lang="en-US" altLang="zh-CN" sz="2000" dirty="0">
                <a:latin typeface="Times New Roman" panose="02020703060505090304" pitchFamily="18" charset="0"/>
                <a:cs typeface="Times New Roman" panose="02020703060505090304" pitchFamily="18" charset="0"/>
              </a:rPr>
              <a:t> *</a:t>
            </a:r>
            <a:r>
              <a:rPr lang="en-US" altLang="zh-CN" sz="2000" b="1" dirty="0">
                <a:solidFill>
                  <a:srgbClr val="003399"/>
                </a:solidFill>
                <a:latin typeface="Times New Roman" panose="02020703060505090304" pitchFamily="18" charset="0"/>
                <a:cs typeface="Times New Roman" panose="02020703060505090304" pitchFamily="18" charset="0"/>
              </a:rPr>
              <a:t>start</a:t>
            </a:r>
            <a:r>
              <a:rPr lang="en-US" altLang="zh-CN" sz="2000" dirty="0">
                <a:latin typeface="Times New Roman" panose="02020703060505090304" pitchFamily="18" charset="0"/>
                <a:cs typeface="Times New Roman" panose="02020703060505090304" pitchFamily="18" charset="0"/>
              </a:rPr>
              <a:t>, </a:t>
            </a:r>
            <a:r>
              <a:rPr lang="en-US" altLang="zh-CN" sz="2000" b="1" dirty="0" err="1">
                <a:latin typeface="Times New Roman" panose="02020703060505090304" pitchFamily="18" charset="0"/>
                <a:cs typeface="Times New Roman" panose="02020703060505090304" pitchFamily="18" charset="0"/>
              </a:rPr>
              <a:t>size_t</a:t>
            </a:r>
            <a:r>
              <a:rPr lang="en-US" altLang="zh-CN" sz="2000" dirty="0">
                <a:latin typeface="Times New Roman" panose="02020703060505090304" pitchFamily="18" charset="0"/>
                <a:cs typeface="Times New Roman" panose="02020703060505090304" pitchFamily="18" charset="0"/>
              </a:rPr>
              <a:t> </a:t>
            </a:r>
            <a:r>
              <a:rPr lang="en-US" altLang="zh-CN" sz="2000" b="1" dirty="0">
                <a:solidFill>
                  <a:srgbClr val="003399"/>
                </a:solidFill>
                <a:latin typeface="Times New Roman" panose="02020703060505090304" pitchFamily="18" charset="0"/>
                <a:cs typeface="Times New Roman" panose="02020703060505090304" pitchFamily="18" charset="0"/>
              </a:rPr>
              <a:t>length</a:t>
            </a:r>
            <a:r>
              <a:rPr lang="en-US" altLang="zh-CN" sz="2000" dirty="0">
                <a:latin typeface="Times New Roman" panose="02020703060505090304" pitchFamily="18" charset="0"/>
                <a:cs typeface="Times New Roman" panose="02020703060505090304" pitchFamily="18" charset="0"/>
              </a:rPr>
              <a:t>, </a:t>
            </a:r>
            <a:endParaRPr lang="en-US" altLang="zh-CN" sz="2000" dirty="0">
              <a:latin typeface="Times New Roman" panose="02020703060505090304" pitchFamily="18" charset="0"/>
              <a:cs typeface="Times New Roman" panose="02020703060505090304" pitchFamily="18" charset="0"/>
            </a:endParaRPr>
          </a:p>
          <a:p>
            <a:pPr>
              <a:lnSpc>
                <a:spcPct val="100000"/>
              </a:lnSpc>
            </a:pPr>
            <a:r>
              <a:rPr lang="en-US" altLang="zh-CN" sz="2000" b="1" dirty="0">
                <a:latin typeface="Times New Roman" panose="02020703060505090304" pitchFamily="18" charset="0"/>
                <a:cs typeface="Times New Roman" panose="02020703060505090304" pitchFamily="18" charset="0"/>
              </a:rPr>
              <a:t>	int</a:t>
            </a:r>
            <a:r>
              <a:rPr lang="en-US" altLang="zh-CN" sz="2000" dirty="0">
                <a:latin typeface="Times New Roman" panose="02020703060505090304" pitchFamily="18" charset="0"/>
                <a:cs typeface="Times New Roman" panose="02020703060505090304" pitchFamily="18" charset="0"/>
              </a:rPr>
              <a:t> </a:t>
            </a:r>
            <a:r>
              <a:rPr lang="en-US" altLang="zh-CN" sz="2000" b="1" dirty="0" err="1">
                <a:solidFill>
                  <a:srgbClr val="003399"/>
                </a:solidFill>
                <a:latin typeface="Times New Roman" panose="02020703060505090304" pitchFamily="18" charset="0"/>
                <a:cs typeface="Times New Roman" panose="02020703060505090304" pitchFamily="18" charset="0"/>
              </a:rPr>
              <a:t>prot</a:t>
            </a:r>
            <a:r>
              <a:rPr lang="en-US" altLang="zh-CN" sz="2000" dirty="0">
                <a:latin typeface="Times New Roman" panose="02020703060505090304" pitchFamily="18" charset="0"/>
                <a:cs typeface="Times New Roman" panose="02020703060505090304" pitchFamily="18" charset="0"/>
              </a:rPr>
              <a:t> , </a:t>
            </a:r>
            <a:r>
              <a:rPr lang="en-US" altLang="zh-CN" sz="2000" b="1" dirty="0">
                <a:latin typeface="Times New Roman" panose="02020703060505090304" pitchFamily="18" charset="0"/>
                <a:cs typeface="Times New Roman" panose="02020703060505090304" pitchFamily="18" charset="0"/>
              </a:rPr>
              <a:t>int</a:t>
            </a:r>
            <a:r>
              <a:rPr lang="en-US" altLang="zh-CN" sz="2000" dirty="0">
                <a:latin typeface="Times New Roman" panose="02020703060505090304" pitchFamily="18" charset="0"/>
                <a:cs typeface="Times New Roman" panose="02020703060505090304" pitchFamily="18" charset="0"/>
              </a:rPr>
              <a:t> </a:t>
            </a:r>
            <a:r>
              <a:rPr lang="en-US" altLang="zh-CN" sz="2000" b="1" dirty="0">
                <a:solidFill>
                  <a:srgbClr val="003399"/>
                </a:solidFill>
                <a:latin typeface="Times New Roman" panose="02020703060505090304" pitchFamily="18" charset="0"/>
                <a:cs typeface="Times New Roman" panose="02020703060505090304" pitchFamily="18" charset="0"/>
              </a:rPr>
              <a:t>flags</a:t>
            </a:r>
            <a:r>
              <a:rPr lang="en-US" altLang="zh-CN" sz="2000" dirty="0">
                <a:latin typeface="Times New Roman" panose="02020703060505090304" pitchFamily="18" charset="0"/>
                <a:cs typeface="Times New Roman" panose="02020703060505090304" pitchFamily="18" charset="0"/>
              </a:rPr>
              <a:t>, </a:t>
            </a:r>
            <a:endParaRPr lang="en-US" altLang="zh-CN" sz="2000" dirty="0">
              <a:latin typeface="Times New Roman" panose="02020703060505090304" pitchFamily="18" charset="0"/>
              <a:cs typeface="Times New Roman" panose="02020703060505090304" pitchFamily="18" charset="0"/>
            </a:endParaRPr>
          </a:p>
          <a:p>
            <a:pPr>
              <a:lnSpc>
                <a:spcPct val="100000"/>
              </a:lnSpc>
            </a:pPr>
            <a:r>
              <a:rPr lang="en-US" altLang="zh-CN" sz="2000" b="1" dirty="0">
                <a:latin typeface="Times New Roman" panose="02020703060505090304" pitchFamily="18" charset="0"/>
                <a:cs typeface="Times New Roman" panose="02020703060505090304" pitchFamily="18" charset="0"/>
              </a:rPr>
              <a:t>	int</a:t>
            </a:r>
            <a:r>
              <a:rPr lang="en-US" altLang="zh-CN" sz="2000" dirty="0">
                <a:latin typeface="Times New Roman" panose="02020703060505090304" pitchFamily="18" charset="0"/>
                <a:cs typeface="Times New Roman" panose="02020703060505090304" pitchFamily="18" charset="0"/>
              </a:rPr>
              <a:t> </a:t>
            </a:r>
            <a:r>
              <a:rPr lang="en-US" altLang="zh-CN" sz="2000" b="1" dirty="0" err="1">
                <a:solidFill>
                  <a:srgbClr val="003399"/>
                </a:solidFill>
                <a:latin typeface="Times New Roman" panose="02020703060505090304" pitchFamily="18" charset="0"/>
                <a:cs typeface="Times New Roman" panose="02020703060505090304" pitchFamily="18" charset="0"/>
              </a:rPr>
              <a:t>fd</a:t>
            </a:r>
            <a:r>
              <a:rPr lang="en-US" altLang="zh-CN" sz="2000" dirty="0">
                <a:latin typeface="Times New Roman" panose="02020703060505090304" pitchFamily="18" charset="0"/>
                <a:cs typeface="Times New Roman" panose="02020703060505090304" pitchFamily="18" charset="0"/>
              </a:rPr>
              <a:t>, </a:t>
            </a:r>
            <a:r>
              <a:rPr lang="en-US" altLang="zh-CN" sz="2000" dirty="0" err="1">
                <a:latin typeface="Times New Roman" panose="02020703060505090304" pitchFamily="18" charset="0"/>
                <a:cs typeface="Times New Roman" panose="02020703060505090304" pitchFamily="18" charset="0"/>
              </a:rPr>
              <a:t>off_t</a:t>
            </a:r>
            <a:r>
              <a:rPr lang="en-US" altLang="zh-CN" sz="2000" dirty="0">
                <a:latin typeface="Times New Roman" panose="02020703060505090304" pitchFamily="18" charset="0"/>
                <a:cs typeface="Times New Roman" panose="02020703060505090304" pitchFamily="18" charset="0"/>
              </a:rPr>
              <a:t> </a:t>
            </a:r>
            <a:r>
              <a:rPr lang="en-US" altLang="zh-CN" sz="2000" b="1" dirty="0">
                <a:solidFill>
                  <a:srgbClr val="003399"/>
                </a:solidFill>
                <a:latin typeface="Times New Roman" panose="02020703060505090304" pitchFamily="18" charset="0"/>
                <a:cs typeface="Times New Roman" panose="02020703060505090304" pitchFamily="18" charset="0"/>
              </a:rPr>
              <a:t>offset </a:t>
            </a:r>
            <a:r>
              <a:rPr lang="en-US" altLang="zh-CN" sz="2000" dirty="0">
                <a:latin typeface="Times New Roman" panose="02020703060505090304" pitchFamily="18" charset="0"/>
                <a:cs typeface="Times New Roman" panose="02020703060505090304" pitchFamily="18" charset="0"/>
              </a:rPr>
              <a:t>  );</a:t>
            </a:r>
            <a:endParaRPr lang="zh-CN" altLang="en-US" sz="2000" dirty="0"/>
          </a:p>
        </p:txBody>
      </p:sp>
      <p:sp>
        <p:nvSpPr>
          <p:cNvPr id="4" name="文本占位符 3"/>
          <p:cNvSpPr>
            <a:spLocks noGrp="1"/>
          </p:cNvSpPr>
          <p:nvPr>
            <p:ph type="body" sz="quarter" idx="15"/>
          </p:nvPr>
        </p:nvSpPr>
        <p:spPr/>
        <p:txBody>
          <a:bodyPr/>
          <a:lstStyle/>
          <a:p>
            <a:r>
              <a:rPr lang="en-US" altLang="zh-CN" dirty="0"/>
              <a:t>12</a:t>
            </a:r>
            <a:endParaRPr lang="zh-CN" altLang="en-US" dirty="0"/>
          </a:p>
        </p:txBody>
      </p:sp>
      <p:sp>
        <p:nvSpPr>
          <p:cNvPr id="5" name="文本占位符 2"/>
          <p:cNvSpPr txBox="1"/>
          <p:nvPr/>
        </p:nvSpPr>
        <p:spPr>
          <a:xfrm>
            <a:off x="430530" y="2625725"/>
            <a:ext cx="10735310" cy="38798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zh-CN" altLang="en-US" sz="2000" dirty="0">
                <a:latin typeface="微软雅黑" panose="020B0503020204020204" pitchFamily="34" charset="-122"/>
                <a:ea typeface="微软雅黑" panose="020B0503020204020204" pitchFamily="34" charset="-122"/>
              </a:rPr>
              <a:t>参数</a:t>
            </a:r>
            <a:r>
              <a:rPr lang="en-US" altLang="zh-CN" sz="20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start</a:t>
            </a:r>
            <a:r>
              <a:rPr lang="zh-CN" altLang="en-US" sz="2000" dirty="0">
                <a:latin typeface="微软雅黑" panose="020B0503020204020204" pitchFamily="34" charset="-122"/>
                <a:ea typeface="微软雅黑" panose="020B0503020204020204" pitchFamily="34" charset="-122"/>
              </a:rPr>
              <a:t>指定文件应被映射到进程空间的起始地址，一般被指定一个空指针，此时选择起始地址的任务留给内核来完成。</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0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length</a:t>
            </a:r>
            <a:r>
              <a:rPr lang="zh-CN" altLang="en-US" sz="2000" dirty="0">
                <a:latin typeface="微软雅黑" panose="020B0503020204020204" pitchFamily="34" charset="-122"/>
                <a:ea typeface="微软雅黑" panose="020B0503020204020204" pitchFamily="34" charset="-122"/>
              </a:rPr>
              <a:t>是映射到调用进程地址空间的字节数，它从被映射文件开头</a:t>
            </a:r>
            <a:r>
              <a:rPr lang="en-US" altLang="zh-CN" sz="20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offset</a:t>
            </a:r>
            <a:r>
              <a:rPr lang="zh-CN" altLang="en-US" sz="2000" dirty="0">
                <a:latin typeface="微软雅黑" panose="020B0503020204020204" pitchFamily="34" charset="-122"/>
                <a:ea typeface="微软雅黑" panose="020B0503020204020204" pitchFamily="34" charset="-122"/>
              </a:rPr>
              <a:t>个字节开始算起。</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000" b="1" dirty="0" err="1">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prot</a:t>
            </a:r>
            <a:r>
              <a:rPr lang="zh-CN" altLang="en-US" sz="2000" dirty="0">
                <a:latin typeface="微软雅黑" panose="020B0503020204020204" pitchFamily="34" charset="-122"/>
                <a:ea typeface="微软雅黑" panose="020B0503020204020204" pitchFamily="34" charset="-122"/>
              </a:rPr>
              <a:t> 参数指定共享内存的访问权限。可取如下几个值的或：PROT_READ（可读） , PROT_WRITE （可写）, PROT_EXEC （可执行）, PROT_NONE（不可访问）。</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0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flags</a:t>
            </a:r>
            <a:r>
              <a:rPr lang="zh-CN" altLang="en-US" sz="2000" dirty="0">
                <a:latin typeface="微软雅黑" panose="020B0503020204020204" pitchFamily="34" charset="-122"/>
                <a:ea typeface="微软雅黑" panose="020B0503020204020204" pitchFamily="34" charset="-122"/>
              </a:rPr>
              <a:t>由以下几个常值指定：MAP_SHARED , MAP_PRIVATE , MAP_FIXED，其中，MAP_SHARED , MAP_PRIVATE必选其一，而MAP_FIXED则不推荐使用。</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000" b="1" dirty="0">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offset</a:t>
            </a:r>
            <a:r>
              <a:rPr lang="zh-CN" altLang="en-US" sz="2000" dirty="0">
                <a:latin typeface="微软雅黑" panose="020B0503020204020204" pitchFamily="34" charset="-122"/>
                <a:ea typeface="微软雅黑" panose="020B0503020204020204" pitchFamily="34" charset="-122"/>
              </a:rPr>
              <a:t>参数一般设为0，表示从文件头开始映射。</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zh-CN" altLang="en-US" sz="2000" dirty="0">
                <a:latin typeface="微软雅黑" panose="020B0503020204020204" pitchFamily="34" charset="-122"/>
                <a:ea typeface="微软雅黑" panose="020B0503020204020204" pitchFamily="34" charset="-122"/>
              </a:rPr>
              <a:t>参数</a:t>
            </a:r>
            <a:r>
              <a:rPr lang="en-US" altLang="zh-CN" sz="2000" b="1" dirty="0" err="1">
                <a:solidFill>
                  <a:srgbClr val="003399"/>
                </a:solidFill>
                <a:latin typeface="微软雅黑" panose="020B0503020204020204" pitchFamily="34" charset="-122"/>
                <a:ea typeface="微软雅黑" panose="020B0503020204020204" pitchFamily="34" charset="-122"/>
                <a:cs typeface="Times New Roman" panose="02020703060505090304" pitchFamily="18" charset="0"/>
              </a:rPr>
              <a:t>fd</a:t>
            </a:r>
            <a:r>
              <a:rPr lang="zh-CN" altLang="en-US" sz="2000" dirty="0">
                <a:latin typeface="微软雅黑" panose="020B0503020204020204" pitchFamily="34" charset="-122"/>
                <a:ea typeface="微软雅黑" panose="020B0503020204020204" pitchFamily="34" charset="-122"/>
              </a:rPr>
              <a:t>为即将映射到进程空间的文件描述字，一般由open()返回。</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zh-CN" altLang="en-US" sz="2000" dirty="0">
                <a:latin typeface="微软雅黑" panose="020B0503020204020204" pitchFamily="34" charset="-122"/>
                <a:ea typeface="微软雅黑" panose="020B0503020204020204" pitchFamily="34" charset="-122"/>
              </a:rPr>
              <a:t>函数的返回值为最后文件映射到进程空间的地址，进程可直接操作起始地址为该值的有效地址。</a:t>
            </a:r>
            <a:endParaRPr lang="zh-CN" altLang="en-US" sz="2000" dirty="0">
              <a:latin typeface="微软雅黑" panose="020B0503020204020204" pitchFamily="34" charset="-122"/>
              <a:ea typeface="微软雅黑" panose="020B0503020204020204" pitchFamily="34" charset="-122"/>
            </a:endParaRPr>
          </a:p>
          <a:p>
            <a:pPr>
              <a:lnSpc>
                <a:spcPct val="100000"/>
              </a:lnSpc>
            </a:pP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内存映射文件</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13</a:t>
            </a:r>
            <a:endParaRPr lang="zh-CN" altLang="en-US" dirty="0"/>
          </a:p>
        </p:txBody>
      </p:sp>
      <p:pic>
        <p:nvPicPr>
          <p:cNvPr id="8" name="图片 7"/>
          <p:cNvPicPr>
            <a:picLocks noChangeAspect="1"/>
          </p:cNvPicPr>
          <p:nvPr/>
        </p:nvPicPr>
        <p:blipFill>
          <a:blip r:embed="rId1"/>
          <a:stretch>
            <a:fillRect/>
          </a:stretch>
        </p:blipFill>
        <p:spPr>
          <a:xfrm>
            <a:off x="347565" y="901038"/>
            <a:ext cx="4191000" cy="5629275"/>
          </a:xfrm>
          <a:prstGeom prst="rect">
            <a:avLst/>
          </a:prstGeom>
        </p:spPr>
      </p:pic>
      <p:pic>
        <p:nvPicPr>
          <p:cNvPr id="9" name="图片 8"/>
          <p:cNvPicPr>
            <a:picLocks noChangeAspect="1"/>
          </p:cNvPicPr>
          <p:nvPr/>
        </p:nvPicPr>
        <p:blipFill>
          <a:blip r:embed="rId2"/>
          <a:stretch>
            <a:fillRect/>
          </a:stretch>
        </p:blipFill>
        <p:spPr>
          <a:xfrm>
            <a:off x="4793147" y="862937"/>
            <a:ext cx="6715125" cy="5705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 </a:t>
            </a:r>
            <a:r>
              <a:rPr lang="zh-CN" altLang="en-US" sz="3200" b="1" dirty="0">
                <a:latin typeface="微软雅黑" panose="020B0503020204020204" pitchFamily="34" charset="-122"/>
                <a:ea typeface="微软雅黑" panose="020B0503020204020204" pitchFamily="34" charset="-122"/>
              </a:rPr>
              <a:t>输入</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输出</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14</a:t>
            </a:r>
            <a:endParaRPr lang="zh-CN" altLang="en-US" dirty="0"/>
          </a:p>
        </p:txBody>
      </p:sp>
      <p:sp>
        <p:nvSpPr>
          <p:cNvPr id="8" name="矩形 7"/>
          <p:cNvSpPr/>
          <p:nvPr/>
        </p:nvSpPr>
        <p:spPr>
          <a:xfrm>
            <a:off x="525635" y="898002"/>
            <a:ext cx="11098307" cy="5632311"/>
          </a:xfrm>
          <a:prstGeom prst="rect">
            <a:avLst/>
          </a:prstGeom>
        </p:spPr>
        <p:txBody>
          <a:bodyPr wrap="square">
            <a:spAutoFit/>
          </a:bodyPr>
          <a:lstStyle/>
          <a:p>
            <a:pPr>
              <a:lnSpc>
                <a:spcPct val="150000"/>
              </a:lnSpc>
            </a:pPr>
            <a:r>
              <a:rPr lang="zh-CN" altLang="en-US" sz="2400" b="1" dirty="0"/>
              <a:t>Linux将设备文件整合到文件系统中，为用户和应用程序提供了一种统一的接口来访问和操作硬件设备，这种设计使得Linux系统更加灵活和易于使用。</a:t>
            </a:r>
            <a:endParaRPr lang="en-US" altLang="zh-CN" sz="2400" b="1" dirty="0"/>
          </a:p>
          <a:p>
            <a:pPr marL="457200" indent="-457200">
              <a:buFont typeface="Wingdings" panose="05000000000000000000" pitchFamily="2" charset="2"/>
              <a:buChar char="ü"/>
            </a:pPr>
            <a:endParaRPr lang="en-US" altLang="zh-CN" sz="2400" dirty="0"/>
          </a:p>
          <a:p>
            <a:pPr marL="457200" indent="-457200">
              <a:buFont typeface="+mj-ea"/>
              <a:buAutoNum type="circleNumDbPlain"/>
            </a:pPr>
            <a:r>
              <a:rPr lang="zh-CN" altLang="en-US" sz="2400" dirty="0"/>
              <a:t>将设备视为一种</a:t>
            </a:r>
            <a:r>
              <a:rPr lang="zh-CN" altLang="en-US" sz="2400" b="1" dirty="0"/>
              <a:t>特殊文件</a:t>
            </a:r>
            <a:r>
              <a:rPr lang="zh-CN" altLang="en-US" sz="2400" dirty="0"/>
              <a:t>，并通过文件系统进行管理和访问。</a:t>
            </a:r>
            <a:endParaRPr lang="en-US" altLang="zh-CN" sz="2400" dirty="0"/>
          </a:p>
          <a:p>
            <a:r>
              <a:rPr lang="en-US" altLang="zh-CN" sz="2400" dirty="0"/>
              <a:t>       </a:t>
            </a:r>
            <a:r>
              <a:rPr lang="zh-CN" altLang="en-US" sz="2400" dirty="0"/>
              <a:t>优点：简化了对设备的访问和操作，与操作普通文件一样。</a:t>
            </a:r>
            <a:endParaRPr lang="zh-CN" altLang="en-US" sz="2400" dirty="0"/>
          </a:p>
          <a:p>
            <a:pPr marL="457200" indent="-457200">
              <a:buFont typeface="+mj-ea"/>
              <a:buAutoNum type="circleNumDbPlain"/>
            </a:pPr>
            <a:endParaRPr lang="zh-CN" altLang="en-US" sz="2400" dirty="0"/>
          </a:p>
          <a:p>
            <a:pPr marL="457200" indent="-457200">
              <a:buFont typeface="+mj-ea"/>
              <a:buAutoNum type="circleNumDbPlain" startAt="2"/>
            </a:pPr>
            <a:r>
              <a:rPr lang="zh-CN" altLang="en-US" sz="2400" dirty="0"/>
              <a:t>设备文件通常存储在/dev目录下，每个设备文件都有一个唯一的路径名。例如硬盘设备通常命名为/dev/sda、/dev/sdb等，</a:t>
            </a:r>
            <a:endParaRPr lang="zh-CN" altLang="en-US" sz="2400" dirty="0"/>
          </a:p>
          <a:p>
            <a:pPr marL="457200" indent="-457200">
              <a:buFont typeface="+mj-ea"/>
              <a:buAutoNum type="circleNumDbPlain" startAt="2"/>
            </a:pPr>
            <a:endParaRPr lang="zh-CN" altLang="en-US" sz="2400" dirty="0"/>
          </a:p>
          <a:p>
            <a:pPr marL="457200" indent="-457200">
              <a:buFont typeface="+mj-ea"/>
              <a:buAutoNum type="circleNumDbPlain" startAt="2"/>
            </a:pPr>
            <a:r>
              <a:rPr lang="zh-CN" altLang="en-US" sz="2400" dirty="0"/>
              <a:t>设备操作的方式与普通文件操作类似，可以使用标准的文件I/O函数（如open()、read()、write()、close()等）来进行设备的读写操作。此外，Linux还提供了一些特殊的设备文件操作接口，如ioctl()用于设备的控制操作。</a:t>
            </a:r>
            <a:endParaRPr lang="zh-CN" altLang="en-US" sz="2400" dirty="0"/>
          </a:p>
          <a:p>
            <a:pPr marL="457200" indent="-457200">
              <a:buFont typeface="+mj-ea"/>
              <a:buAutoNum type="circleNumDbPlain" startAt="2"/>
            </a:pPr>
            <a:endParaRPr lang="zh-CN" altLang="en-US" sz="2400" dirty="0"/>
          </a:p>
          <a:p>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设备特殊文件</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15</a:t>
            </a:r>
            <a:endParaRPr lang="zh-CN" altLang="en-US" dirty="0"/>
          </a:p>
        </p:txBody>
      </p:sp>
      <p:grpSp>
        <p:nvGrpSpPr>
          <p:cNvPr id="5" name="组合 4"/>
          <p:cNvGrpSpPr/>
          <p:nvPr/>
        </p:nvGrpSpPr>
        <p:grpSpPr>
          <a:xfrm>
            <a:off x="892229" y="1137920"/>
            <a:ext cx="10407540" cy="4885762"/>
            <a:chOff x="2029914" y="1462087"/>
            <a:chExt cx="8295801" cy="3882439"/>
          </a:xfrm>
        </p:grpSpPr>
        <p:graphicFrame>
          <p:nvGraphicFramePr>
            <p:cNvPr id="6" name="对象 5"/>
            <p:cNvGraphicFramePr>
              <a:graphicFrameLocks noChangeAspect="1"/>
            </p:cNvGraphicFramePr>
            <p:nvPr/>
          </p:nvGraphicFramePr>
          <p:xfrm>
            <a:off x="2208224" y="1462087"/>
            <a:ext cx="7775552" cy="3233738"/>
          </p:xfrm>
          <a:graphic>
            <a:graphicData uri="http://schemas.openxmlformats.org/presentationml/2006/ole">
              <mc:AlternateContent xmlns:mc="http://schemas.openxmlformats.org/markup-compatibility/2006">
                <mc:Choice xmlns:v="urn:schemas-microsoft-com:vml" Requires="v">
                  <p:oleObj spid="_x0000_s1059" name="Visio" r:id="rId1" imgW="9776460" imgH="4065905" progId="Visio.Drawing.15">
                    <p:embed/>
                  </p:oleObj>
                </mc:Choice>
                <mc:Fallback>
                  <p:oleObj name="Visio" r:id="rId1" imgW="9776460" imgH="4065905" progId="Visio.Drawing.15">
                    <p:embed/>
                    <p:pic>
                      <p:nvPicPr>
                        <p:cNvPr id="0" name="对象 1"/>
                        <p:cNvPicPr/>
                        <p:nvPr/>
                      </p:nvPicPr>
                      <p:blipFill>
                        <a:blip r:embed="rId2"/>
                        <a:stretch>
                          <a:fillRect/>
                        </a:stretch>
                      </p:blipFill>
                      <p:spPr>
                        <a:xfrm>
                          <a:off x="2208224" y="1462087"/>
                          <a:ext cx="7775552" cy="3233738"/>
                        </a:xfrm>
                        <a:prstGeom prst="rect">
                          <a:avLst/>
                        </a:prstGeom>
                      </p:spPr>
                    </p:pic>
                  </p:oleObj>
                </mc:Fallback>
              </mc:AlternateContent>
            </a:graphicData>
          </a:graphic>
        </p:graphicFrame>
        <p:sp>
          <p:nvSpPr>
            <p:cNvPr id="7" name="文本框 6"/>
            <p:cNvSpPr txBox="1"/>
            <p:nvPr/>
          </p:nvSpPr>
          <p:spPr>
            <a:xfrm>
              <a:off x="6096001" y="5026581"/>
              <a:ext cx="1415957" cy="317945"/>
            </a:xfrm>
            <a:prstGeom prst="rect">
              <a:avLst/>
            </a:prstGeom>
            <a:noFill/>
          </p:spPr>
          <p:txBody>
            <a:bodyPr wrap="square" rtlCol="0">
              <a:spAutoFit/>
            </a:bodyPr>
            <a:lstStyle/>
            <a:p>
              <a:pPr algn="ctr"/>
              <a:r>
                <a:rPr lang="en-US" altLang="zh-CN" sz="2000" b="1" dirty="0">
                  <a:latin typeface="Times New Roman" panose="02020703060505090304" pitchFamily="18" charset="0"/>
                  <a:ea typeface="华文中宋" panose="02010600040101010101" pitchFamily="2" charset="-122"/>
                  <a:cs typeface="Times New Roman" panose="02020703060505090304" pitchFamily="18" charset="0"/>
                </a:rPr>
                <a:t>25</a:t>
              </a: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针打印机</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sp>
          <p:nvSpPr>
            <p:cNvPr id="8" name="文本框 7"/>
            <p:cNvSpPr txBox="1"/>
            <p:nvPr/>
          </p:nvSpPr>
          <p:spPr>
            <a:xfrm>
              <a:off x="3402572" y="4983758"/>
              <a:ext cx="1359686" cy="317945"/>
            </a:xfrm>
            <a:prstGeom prst="rect">
              <a:avLst/>
            </a:prstGeom>
            <a:noFill/>
          </p:spPr>
          <p:txBody>
            <a:bodyPr wrap="square" rtlCol="0">
              <a:spAutoFit/>
            </a:bodyPr>
            <a:lstStyle/>
            <a:p>
              <a:pPr algn="ctr"/>
              <a:r>
                <a:rPr lang="en-US" altLang="zh-CN" sz="2000" b="1" dirty="0">
                  <a:latin typeface="Times New Roman" panose="02020703060505090304" pitchFamily="18" charset="0"/>
                  <a:ea typeface="华文中宋" panose="02010600040101010101" pitchFamily="2" charset="-122"/>
                  <a:cs typeface="Times New Roman" panose="02020703060505090304" pitchFamily="18" charset="0"/>
                </a:rPr>
                <a:t>SATA</a:t>
              </a: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硬盘</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sp>
          <p:nvSpPr>
            <p:cNvPr id="9" name="文本框 8"/>
            <p:cNvSpPr txBox="1"/>
            <p:nvPr/>
          </p:nvSpPr>
          <p:spPr>
            <a:xfrm>
              <a:off x="4736314" y="4999335"/>
              <a:ext cx="1359686" cy="317945"/>
            </a:xfrm>
            <a:prstGeom prst="rect">
              <a:avLst/>
            </a:prstGeom>
            <a:noFill/>
          </p:spPr>
          <p:txBody>
            <a:bodyPr wrap="square" rtlCol="0">
              <a:spAutoFit/>
            </a:bodyPr>
            <a:lstStyle/>
            <a:p>
              <a:pPr algn="ctr"/>
              <a:r>
                <a:rPr lang="en-US" altLang="zh-CN" sz="2000" b="1" dirty="0">
                  <a:latin typeface="Times New Roman" panose="02020703060505090304" pitchFamily="18" charset="0"/>
                  <a:ea typeface="华文中宋" panose="02010600040101010101" pitchFamily="2" charset="-122"/>
                  <a:cs typeface="Times New Roman" panose="02020703060505090304" pitchFamily="18" charset="0"/>
                </a:rPr>
                <a:t>U</a:t>
              </a: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盘</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sp>
          <p:nvSpPr>
            <p:cNvPr id="10" name="文本框 9"/>
            <p:cNvSpPr txBox="1"/>
            <p:nvPr/>
          </p:nvSpPr>
          <p:spPr>
            <a:xfrm>
              <a:off x="2029914" y="4999335"/>
              <a:ext cx="1359686" cy="317945"/>
            </a:xfrm>
            <a:prstGeom prst="rect">
              <a:avLst/>
            </a:prstGeom>
            <a:noFill/>
          </p:spPr>
          <p:txBody>
            <a:bodyPr wrap="square" rtlCol="0">
              <a:spAutoFit/>
            </a:bodyPr>
            <a:lstStyle/>
            <a:p>
              <a:pPr algn="ctr"/>
              <a:r>
                <a:rPr lang="en-US" altLang="zh-CN" sz="2000" b="1" dirty="0">
                  <a:latin typeface="Times New Roman" panose="02020703060505090304" pitchFamily="18" charset="0"/>
                  <a:ea typeface="华文中宋" panose="02010600040101010101" pitchFamily="2" charset="-122"/>
                  <a:cs typeface="Times New Roman" panose="02020703060505090304" pitchFamily="18" charset="0"/>
                </a:rPr>
                <a:t>IDE</a:t>
              </a: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硬盘</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sp>
          <p:nvSpPr>
            <p:cNvPr id="11" name="文本框 10"/>
            <p:cNvSpPr txBox="1"/>
            <p:nvPr/>
          </p:nvSpPr>
          <p:spPr>
            <a:xfrm>
              <a:off x="7455686" y="5026581"/>
              <a:ext cx="1359686" cy="317945"/>
            </a:xfrm>
            <a:prstGeom prst="rect">
              <a:avLst/>
            </a:prstGeom>
            <a:noFill/>
          </p:spPr>
          <p:txBody>
            <a:bodyPr wrap="square" rtlCol="0">
              <a:spAutoFit/>
            </a:bodyPr>
            <a:lstStyle/>
            <a:p>
              <a:pPr algn="ct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当前鼠标</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sp>
          <p:nvSpPr>
            <p:cNvPr id="12" name="文本框 11"/>
            <p:cNvSpPr txBox="1"/>
            <p:nvPr/>
          </p:nvSpPr>
          <p:spPr>
            <a:xfrm>
              <a:off x="8641251" y="5026581"/>
              <a:ext cx="1684464" cy="317945"/>
            </a:xfrm>
            <a:prstGeom prst="rect">
              <a:avLst/>
            </a:prstGeom>
            <a:noFill/>
          </p:spPr>
          <p:txBody>
            <a:bodyPr wrap="square" rtlCol="0">
              <a:spAutoFit/>
            </a:bodyPr>
            <a:lstStyle/>
            <a:p>
              <a:pPr algn="ctr"/>
              <a:r>
                <a:rPr lang="zh-CN" altLang="en-US" sz="2000" b="1" dirty="0">
                  <a:latin typeface="Times New Roman" panose="02020703060505090304" pitchFamily="18" charset="0"/>
                  <a:ea typeface="华文中宋" panose="02010600040101010101" pitchFamily="2" charset="-122"/>
                  <a:cs typeface="Times New Roman" panose="02020703060505090304" pitchFamily="18" charset="0"/>
                </a:rPr>
                <a:t>当前</a:t>
              </a:r>
              <a:r>
                <a:rPr lang="en-US" altLang="zh-CN" sz="2000" b="1" dirty="0">
                  <a:latin typeface="Times New Roman" panose="02020703060505090304" pitchFamily="18" charset="0"/>
                  <a:ea typeface="华文中宋" panose="02010600040101010101" pitchFamily="2" charset="-122"/>
                  <a:cs typeface="Times New Roman" panose="02020703060505090304" pitchFamily="18" charset="0"/>
                </a:rPr>
                <a:t>CD-ROM</a:t>
              </a:r>
              <a:endParaRPr lang="zh-CN" altLang="en-US" sz="2000" b="1" dirty="0">
                <a:latin typeface="Times New Roman" panose="02020703060505090304" pitchFamily="18" charset="0"/>
                <a:ea typeface="华文中宋" panose="02010600040101010101" pitchFamily="2" charset="-122"/>
                <a:cs typeface="Times New Roman" panose="02020703060505090304" pitchFamily="18"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输入</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输出系统调用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r>
              <a:rPr lang="zh-CN" altLang="en-US" sz="2400" dirty="0">
                <a:latin typeface="微软雅黑" panose="020B0503020204020204" pitchFamily="34" charset="-122"/>
                <a:ea typeface="微软雅黑" panose="020B0503020204020204" pitchFamily="34" charset="-122"/>
              </a:rPr>
              <a:t>每个</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设备都有一个特殊文件与其关联，大部分的</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只使用合适的文件调用即可完成。</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16</a:t>
            </a:r>
            <a:endParaRPr lang="zh-CN" altLang="en-US" dirty="0"/>
          </a:p>
        </p:txBody>
      </p:sp>
      <p:graphicFrame>
        <p:nvGraphicFramePr>
          <p:cNvPr id="5" name="表格 4"/>
          <p:cNvGraphicFramePr>
            <a:graphicFrameLocks noGrp="1"/>
          </p:cNvGraphicFramePr>
          <p:nvPr/>
        </p:nvGraphicFramePr>
        <p:xfrm>
          <a:off x="1381760" y="1692577"/>
          <a:ext cx="9583198" cy="4474540"/>
        </p:xfrm>
        <a:graphic>
          <a:graphicData uri="http://schemas.openxmlformats.org/drawingml/2006/table">
            <a:tbl>
              <a:tblPr firstRow="1" bandRow="1">
                <a:tableStyleId>{5940675A-B579-460E-94D1-54222C63F5DA}</a:tableStyleId>
              </a:tblPr>
              <a:tblGrid>
                <a:gridCol w="6362080"/>
                <a:gridCol w="3221118"/>
              </a:tblGrid>
              <a:tr h="639220">
                <a:tc>
                  <a:txBody>
                    <a:bodyPr/>
                    <a:lstStyle/>
                    <a:p>
                      <a:pPr algn="ctr"/>
                      <a:r>
                        <a:rPr lang="zh-CN" altLang="en-US" sz="2500" dirty="0">
                          <a:latin typeface="华文中宋" panose="02010600040101010101" pitchFamily="2" charset="-122"/>
                          <a:ea typeface="华文中宋" panose="02010600040101010101" pitchFamily="2" charset="-122"/>
                        </a:rPr>
                        <a:t>函数调用</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描述</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algn="ct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cfsetospeed</a:t>
                      </a:r>
                      <a:r>
                        <a:rPr lang="en-US" altLang="zh-CN" sz="2500" dirty="0">
                          <a:latin typeface="华文中宋" panose="02010600040101010101" pitchFamily="2" charset="-122"/>
                          <a:ea typeface="华文中宋" panose="02010600040101010101" pitchFamily="2" charset="-122"/>
                        </a:rPr>
                        <a:t>(&amp;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 speed)</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设置输出速率</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algn="ct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cfsetispeed</a:t>
                      </a:r>
                      <a:r>
                        <a:rPr lang="en-US" altLang="zh-CN" sz="2500" dirty="0">
                          <a:latin typeface="华文中宋" panose="02010600040101010101" pitchFamily="2" charset="-122"/>
                          <a:ea typeface="华文中宋" panose="02010600040101010101" pitchFamily="2" charset="-122"/>
                        </a:rPr>
                        <a:t>(&amp;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 speed)</a:t>
                      </a:r>
                      <a:endParaRPr lang="en-US" altLang="zh-CN"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设置输入速率</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cfgetospeed</a:t>
                      </a:r>
                      <a:r>
                        <a:rPr lang="en-US" altLang="zh-CN" sz="2500" dirty="0">
                          <a:latin typeface="华文中宋" panose="02010600040101010101" pitchFamily="2" charset="-122"/>
                          <a:ea typeface="华文中宋" panose="02010600040101010101" pitchFamily="2" charset="-122"/>
                        </a:rPr>
                        <a:t>(&amp;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 speed)</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获取输出速率</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cfgetispeed</a:t>
                      </a:r>
                      <a:r>
                        <a:rPr lang="en-US" altLang="zh-CN" sz="2500" dirty="0">
                          <a:latin typeface="华文中宋" panose="02010600040101010101" pitchFamily="2" charset="-122"/>
                          <a:ea typeface="华文中宋" panose="02010600040101010101" pitchFamily="2" charset="-122"/>
                        </a:rPr>
                        <a:t>(&amp;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 speed)</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获取输入速率</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tcsettattr</a:t>
                      </a:r>
                      <a:r>
                        <a:rPr lang="en-US" altLang="zh-CN" sz="2500" dirty="0">
                          <a:latin typeface="华文中宋" panose="02010600040101010101" pitchFamily="2" charset="-122"/>
                          <a:ea typeface="华文中宋" panose="02010600040101010101" pitchFamily="2" charset="-122"/>
                        </a:rPr>
                        <a:t>(</a:t>
                      </a:r>
                      <a:r>
                        <a:rPr lang="en-US" altLang="zh-CN" sz="2500" dirty="0" err="1">
                          <a:latin typeface="华文中宋" panose="02010600040101010101" pitchFamily="2" charset="-122"/>
                          <a:ea typeface="华文中宋" panose="02010600040101010101" pitchFamily="2" charset="-122"/>
                        </a:rPr>
                        <a:t>fd</a:t>
                      </a:r>
                      <a:r>
                        <a:rPr lang="en-US" altLang="zh-CN" sz="2500" dirty="0">
                          <a:latin typeface="华文中宋" panose="02010600040101010101" pitchFamily="2" charset="-122"/>
                          <a:ea typeface="华文中宋" panose="02010600040101010101" pitchFamily="2" charset="-122"/>
                        </a:rPr>
                        <a:t>, opt, &amp;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设置属性</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r h="63922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500" dirty="0">
                          <a:latin typeface="华文中宋" panose="02010600040101010101" pitchFamily="2" charset="-122"/>
                          <a:ea typeface="华文中宋" panose="02010600040101010101" pitchFamily="2" charset="-122"/>
                        </a:rPr>
                        <a:t>s=</a:t>
                      </a:r>
                      <a:r>
                        <a:rPr lang="en-US" altLang="zh-CN" sz="2500" dirty="0" err="1">
                          <a:latin typeface="华文中宋" panose="02010600040101010101" pitchFamily="2" charset="-122"/>
                          <a:ea typeface="华文中宋" panose="02010600040101010101" pitchFamily="2" charset="-122"/>
                        </a:rPr>
                        <a:t>tcgetattr</a:t>
                      </a:r>
                      <a:r>
                        <a:rPr lang="en-US" altLang="zh-CN" sz="2500" dirty="0">
                          <a:latin typeface="华文中宋" panose="02010600040101010101" pitchFamily="2" charset="-122"/>
                          <a:ea typeface="华文中宋" panose="02010600040101010101" pitchFamily="2" charset="-122"/>
                        </a:rPr>
                        <a:t>(</a:t>
                      </a:r>
                      <a:r>
                        <a:rPr lang="en-US" altLang="zh-CN" sz="2500" dirty="0" err="1">
                          <a:latin typeface="华文中宋" panose="02010600040101010101" pitchFamily="2" charset="-122"/>
                          <a:ea typeface="华文中宋" panose="02010600040101010101" pitchFamily="2" charset="-122"/>
                        </a:rPr>
                        <a:t>fd</a:t>
                      </a:r>
                      <a:r>
                        <a:rPr lang="en-US" altLang="zh-CN" sz="2500" dirty="0">
                          <a:latin typeface="华文中宋" panose="02010600040101010101" pitchFamily="2" charset="-122"/>
                          <a:ea typeface="华文中宋" panose="02010600040101010101" pitchFamily="2" charset="-122"/>
                        </a:rPr>
                        <a:t>, &amp;</a:t>
                      </a:r>
                      <a:r>
                        <a:rPr lang="en-US" altLang="zh-CN" sz="2500" dirty="0" err="1">
                          <a:latin typeface="华文中宋" panose="02010600040101010101" pitchFamily="2" charset="-122"/>
                          <a:ea typeface="华文中宋" panose="02010600040101010101" pitchFamily="2" charset="-122"/>
                        </a:rPr>
                        <a:t>termios</a:t>
                      </a:r>
                      <a:r>
                        <a:rPr lang="en-US" altLang="zh-CN" sz="2500" dirty="0">
                          <a:latin typeface="华文中宋" panose="02010600040101010101" pitchFamily="2" charset="-122"/>
                          <a:ea typeface="华文中宋" panose="02010600040101010101" pitchFamily="2" charset="-122"/>
                        </a:rPr>
                        <a:t>)</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c>
                  <a:txBody>
                    <a:bodyPr/>
                    <a:lstStyle/>
                    <a:p>
                      <a:pPr algn="ctr"/>
                      <a:r>
                        <a:rPr lang="zh-CN" altLang="en-US" sz="2500" dirty="0">
                          <a:latin typeface="华文中宋" panose="02010600040101010101" pitchFamily="2" charset="-122"/>
                          <a:ea typeface="华文中宋" panose="02010600040101010101" pitchFamily="2" charset="-122"/>
                        </a:rPr>
                        <a:t>获取属性</a:t>
                      </a:r>
                      <a:endParaRPr lang="zh-CN" altLang="en-US" sz="2500" dirty="0">
                        <a:latin typeface="华文中宋" panose="02010600040101010101" pitchFamily="2" charset="-122"/>
                        <a:ea typeface="华文中宋" panose="02010600040101010101" pitchFamily="2" charset="-122"/>
                      </a:endParaRPr>
                    </a:p>
                  </a:txBody>
                  <a:tcPr marL="109526" marR="109526" marT="54763" marB="54763"/>
                </a:tc>
              </a:tr>
            </a:tbl>
          </a:graphicData>
        </a:graphic>
      </p:graphicFrame>
      <p:sp>
        <p:nvSpPr>
          <p:cNvPr id="6" name="Rectangle 3"/>
          <p:cNvSpPr txBox="1">
            <a:spLocks noChangeArrowheads="1"/>
          </p:cNvSpPr>
          <p:nvPr/>
        </p:nvSpPr>
        <p:spPr>
          <a:xfrm>
            <a:off x="1523999" y="6272068"/>
            <a:ext cx="9144000" cy="49530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2000" dirty="0">
                <a:latin typeface="微软雅黑" panose="020B0503020204020204" pitchFamily="34" charset="-122"/>
                <a:ea typeface="微软雅黑" panose="020B0503020204020204" pitchFamily="34" charset="-122"/>
              </a:rPr>
              <a:t>管理终端的主要</a:t>
            </a:r>
            <a:r>
              <a:rPr lang="en-US" altLang="zh-CN" sz="2000" dirty="0">
                <a:latin typeface="微软雅黑" panose="020B0503020204020204" pitchFamily="34" charset="-122"/>
                <a:ea typeface="微软雅黑" panose="020B0503020204020204" pitchFamily="34" charset="-122"/>
              </a:rPr>
              <a:t>POSIX</a:t>
            </a:r>
            <a:r>
              <a:rPr lang="zh-CN" altLang="en-US" sz="2000" dirty="0">
                <a:latin typeface="微软雅黑" panose="020B0503020204020204" pitchFamily="34" charset="-122"/>
                <a:ea typeface="微软雅黑" panose="020B0503020204020204" pitchFamily="34" charset="-122"/>
              </a:rPr>
              <a:t>调用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输入</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输出在</a:t>
            </a:r>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中的实现</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r>
              <a:rPr lang="zh-CN" altLang="en-US" sz="2400" dirty="0">
                <a:latin typeface="微软雅黑" panose="020B0503020204020204" pitchFamily="34" charset="-122"/>
                <a:ea typeface="微软雅黑" panose="020B0503020204020204" pitchFamily="34" charset="-122"/>
              </a:rPr>
              <a:t>系统通过检索字符设备的散列表来选择合适的数据结构，然后调用相应的功能来执行此操作。</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17</a:t>
            </a:r>
            <a:endParaRPr lang="zh-CN" altLang="en-US" dirty="0"/>
          </a:p>
        </p:txBody>
      </p:sp>
      <p:sp>
        <p:nvSpPr>
          <p:cNvPr id="5" name="Rectangle 3"/>
          <p:cNvSpPr txBox="1">
            <a:spLocks noChangeArrowheads="1"/>
          </p:cNvSpPr>
          <p:nvPr/>
        </p:nvSpPr>
        <p:spPr>
          <a:xfrm>
            <a:off x="2118974" y="5778407"/>
            <a:ext cx="7954049" cy="3904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2000" dirty="0">
                <a:latin typeface="微软雅黑" panose="020B0503020204020204" pitchFamily="34" charset="-122"/>
                <a:ea typeface="微软雅黑" panose="020B0503020204020204" pitchFamily="34" charset="-122"/>
              </a:rPr>
              <a:t>典型字符设备支持的部分文件操作</a:t>
            </a:r>
            <a:endParaRPr lang="en-US" altLang="zh-CN" sz="2000"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957943" y="1869440"/>
          <a:ext cx="10046673" cy="3723308"/>
        </p:xfrm>
        <a:graphic>
          <a:graphicData uri="http://schemas.openxmlformats.org/drawingml/2006/table">
            <a:tbl>
              <a:tblPr firstRow="1" bandRow="1">
                <a:tableStyleId>{5940675A-B579-460E-94D1-54222C63F5DA}</a:tableStyleId>
              </a:tblPr>
              <a:tblGrid>
                <a:gridCol w="1435239"/>
                <a:gridCol w="1435239"/>
                <a:gridCol w="1435239"/>
                <a:gridCol w="1435239"/>
                <a:gridCol w="1435239"/>
                <a:gridCol w="1435239"/>
                <a:gridCol w="1435239"/>
              </a:tblGrid>
              <a:tr h="553567">
                <a:tc>
                  <a:txBody>
                    <a:bodyPr/>
                    <a:lstStyle/>
                    <a:p>
                      <a:pPr algn="ctr"/>
                      <a:r>
                        <a:rPr lang="zh-CN" altLang="en-US" sz="2100" dirty="0">
                          <a:latin typeface="华文中宋" panose="02010600040101010101" pitchFamily="2" charset="-122"/>
                          <a:ea typeface="华文中宋" panose="02010600040101010101" pitchFamily="2" charset="-122"/>
                        </a:rPr>
                        <a:t>设备</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Open</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Close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Read</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Write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Ioctl</a:t>
                      </a:r>
                      <a:endParaRPr lang="en-US" altLang="zh-CN"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Other</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r h="553567">
                <a:tc>
                  <a:txBody>
                    <a:bodyPr/>
                    <a:lstStyle/>
                    <a:p>
                      <a:pPr algn="ctr"/>
                      <a:r>
                        <a:rPr lang="en-US" altLang="zh-CN" sz="2100" dirty="0">
                          <a:latin typeface="华文中宋" panose="02010600040101010101" pitchFamily="2" charset="-122"/>
                          <a:ea typeface="华文中宋" panose="02010600040101010101" pitchFamily="2" charset="-122"/>
                        </a:rPr>
                        <a:t>NULL</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r h="955473">
                <a:tc>
                  <a:txBody>
                    <a:bodyPr/>
                    <a:lstStyle/>
                    <a:p>
                      <a:pPr algn="ctr"/>
                      <a:r>
                        <a:rPr lang="zh-CN" altLang="en-US" sz="2100" dirty="0">
                          <a:latin typeface="华文中宋" panose="02010600040101010101" pitchFamily="2" charset="-122"/>
                          <a:ea typeface="华文中宋" panose="02010600040101010101" pitchFamily="2" charset="-122"/>
                        </a:rPr>
                        <a:t>内存</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mem_read</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mem_write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NULL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r h="553567">
                <a:tc>
                  <a:txBody>
                    <a:bodyPr/>
                    <a:lstStyle/>
                    <a:p>
                      <a:pPr algn="ctr"/>
                      <a:r>
                        <a:rPr lang="zh-CN" altLang="en-US" sz="2100" dirty="0">
                          <a:latin typeface="华文中宋" panose="02010600040101010101" pitchFamily="2" charset="-122"/>
                          <a:ea typeface="华文中宋" panose="02010600040101010101" pitchFamily="2" charset="-122"/>
                        </a:rPr>
                        <a:t>键盘</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k_open</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k_close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k_read</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error</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k_ioctl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r h="553567">
                <a:tc>
                  <a:txBody>
                    <a:bodyPr/>
                    <a:lstStyle/>
                    <a:p>
                      <a:pPr algn="ctr"/>
                      <a:r>
                        <a:rPr lang="en-US" altLang="zh-CN" sz="2100" dirty="0" err="1">
                          <a:latin typeface="华文中宋" panose="02010600040101010101" pitchFamily="2" charset="-122"/>
                          <a:ea typeface="华文中宋" panose="02010600040101010101" pitchFamily="2" charset="-122"/>
                        </a:rPr>
                        <a:t>Tty</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tty_open</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tty_close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tty_read</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tty_write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tty_ioctl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r h="553567">
                <a:tc>
                  <a:txBody>
                    <a:bodyPr/>
                    <a:lstStyle/>
                    <a:p>
                      <a:pPr algn="ctr"/>
                      <a:r>
                        <a:rPr lang="zh-CN" altLang="en-US" sz="2100" dirty="0">
                          <a:latin typeface="华文中宋" panose="02010600040101010101" pitchFamily="2" charset="-122"/>
                          <a:ea typeface="华文中宋" panose="02010600040101010101" pitchFamily="2" charset="-122"/>
                        </a:rPr>
                        <a:t>打印机</a:t>
                      </a:r>
                      <a:endParaRPr lang="zh-CN" altLang="en-US" sz="2100" dirty="0">
                        <a:latin typeface="华文中宋" panose="02010600040101010101" pitchFamily="2" charset="-122"/>
                        <a:ea typeface="华文中宋" panose="02010600040101010101" pitchFamily="2" charset="-122"/>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lp_open</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lp_close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error</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lp_write</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err="1">
                          <a:latin typeface="Times New Roman" panose="02020703060505090304" pitchFamily="18" charset="0"/>
                          <a:ea typeface="华文中宋" panose="02010600040101010101" pitchFamily="2" charset="-122"/>
                          <a:cs typeface="Times New Roman" panose="02020703060505090304" pitchFamily="18" charset="0"/>
                        </a:rPr>
                        <a:t>lp_ioctl</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c>
                  <a:txBody>
                    <a:bodyPr/>
                    <a:lstStyle/>
                    <a:p>
                      <a:pPr algn="ctr"/>
                      <a:r>
                        <a:rPr lang="en-US" altLang="zh-CN" sz="2100" dirty="0">
                          <a:latin typeface="Times New Roman" panose="02020703060505090304" pitchFamily="18" charset="0"/>
                          <a:ea typeface="华文中宋" panose="02010600040101010101" pitchFamily="2" charset="-122"/>
                          <a:cs typeface="Times New Roman" panose="02020703060505090304" pitchFamily="18" charset="0"/>
                        </a:rPr>
                        <a:t>…</a:t>
                      </a:r>
                      <a:endParaRPr lang="zh-CN" altLang="en-US" sz="2100" dirty="0">
                        <a:latin typeface="Times New Roman" panose="02020703060505090304" pitchFamily="18" charset="0"/>
                        <a:ea typeface="华文中宋" panose="02010600040101010101" pitchFamily="2" charset="-122"/>
                        <a:cs typeface="Times New Roman" panose="02020703060505090304" pitchFamily="18" charset="0"/>
                      </a:endParaRPr>
                    </a:p>
                  </a:txBody>
                  <a:tcPr marL="105413" marR="105413" marT="52707" marB="52707"/>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在</a:t>
            </a:r>
            <a:r>
              <a:rPr lang="en-US" altLang="zh-CN" dirty="0"/>
              <a:t>Linux</a:t>
            </a:r>
            <a:r>
              <a:rPr lang="zh-CN" altLang="en-US" dirty="0"/>
              <a:t>中，设备文件通常存储在哪个目录下？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dirty="0"/>
              <a:t>/bin</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dirty="0"/>
              <a:t>/dev</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dirty="0"/>
              <a:t>/</a:t>
            </a:r>
            <a:r>
              <a:rPr lang="en-US" altLang="zh-CN" dirty="0" err="1"/>
              <a:t>usr</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en-US" altLang="zh-CN" dirty="0"/>
              <a:t>/</a:t>
            </a:r>
            <a:r>
              <a:rPr lang="en-US" altLang="zh-CN" dirty="0" err="1"/>
              <a:t>etc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7"/>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1" name="组合 20"/>
          <p:cNvGrpSpPr/>
          <p:nvPr>
            <p:custDataLst>
              <p:tags r:id="rId11"/>
            </p:custDataLst>
          </p:nvPr>
        </p:nvGrpSpPr>
        <p:grpSpPr>
          <a:xfrm>
            <a:off x="0" y="0"/>
            <a:ext cx="12192000" cy="635000"/>
            <a:chOff x="0" y="0"/>
            <a:chExt cx="12192000" cy="635000"/>
          </a:xfrm>
        </p:grpSpPr>
        <p:sp>
          <p:nvSpPr>
            <p:cNvPr id="17"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6" name="图片 5"/>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dirty="0"/>
              <a:t>在</a:t>
            </a:r>
            <a:r>
              <a:rPr lang="en-US" altLang="zh-CN" dirty="0"/>
              <a:t>Linux</a:t>
            </a:r>
            <a:r>
              <a:rPr lang="zh-CN" altLang="en-US" dirty="0"/>
              <a:t>中，对设备文件的操作与对普通文件的操作有什么区别？</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dirty="0"/>
              <a:t>没有区别</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dirty="0"/>
              <a:t>设备文件只能读取，不能写入</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dirty="0"/>
              <a:t>设备文件不能用标准文件</a:t>
            </a:r>
            <a:r>
              <a:rPr lang="en-US" altLang="zh-CN" dirty="0"/>
              <a:t>I/O</a:t>
            </a:r>
            <a:r>
              <a:rPr lang="zh-CN" altLang="en-US" dirty="0"/>
              <a:t>函数进行操作</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dirty="0"/>
              <a:t>设备文件的操作需要特殊权限</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12192000" cy="635000"/>
            <a:chOff x="0" y="0"/>
            <a:chExt cx="12192000" cy="635000"/>
          </a:xfrm>
        </p:grpSpPr>
        <p:sp>
          <p:nvSpPr>
            <p:cNvPr id="14"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solidFill>
                  <a:prstClr val="black"/>
                </a:solidFill>
                <a:latin typeface="微软雅黑" panose="020B0503020204020204" pitchFamily="34" charset="-122"/>
                <a:ea typeface="微软雅黑" panose="020B0503020204020204" pitchFamily="34" charset="-122"/>
              </a:rPr>
              <a:t>Linux</a:t>
            </a:r>
            <a:r>
              <a:rPr lang="zh-CN" altLang="en-US" sz="3200" b="1" dirty="0">
                <a:solidFill>
                  <a:prstClr val="black"/>
                </a:solidFill>
                <a:latin typeface="微软雅黑" panose="020B0503020204020204" pitchFamily="34" charset="-122"/>
                <a:ea typeface="微软雅黑" panose="020B0503020204020204" pitchFamily="34" charset="-122"/>
              </a:rPr>
              <a:t>文件系统</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pPr marL="342900" indent="-342900" algn="just">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文件被组织在一个目录里。</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目录储存成文件的形式。</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目录可以包含子目录。</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根目录表示为“</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”，字符“</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”还用于分离目录名。</a:t>
            </a:r>
            <a:endParaRPr lang="en-US" altLang="zh-CN" sz="2400" dirty="0">
              <a:latin typeface="微软雅黑" panose="020B0503020204020204" pitchFamily="34" charset="-122"/>
              <a:ea typeface="微软雅黑" panose="020B0503020204020204" pitchFamily="34" charset="-122"/>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18</a:t>
            </a:r>
            <a:endParaRPr lang="zh-CN" altLang="en-US" dirty="0"/>
          </a:p>
        </p:txBody>
      </p:sp>
      <p:sp>
        <p:nvSpPr>
          <p:cNvPr id="5" name="Rectangle 3"/>
          <p:cNvSpPr txBox="1">
            <a:spLocks noChangeArrowheads="1"/>
          </p:cNvSpPr>
          <p:nvPr/>
        </p:nvSpPr>
        <p:spPr>
          <a:xfrm>
            <a:off x="1523206" y="6368136"/>
            <a:ext cx="9145588" cy="57919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2000" dirty="0">
                <a:latin typeface="微软雅黑" panose="020B0503020204020204" pitchFamily="34" charset="-122"/>
                <a:ea typeface="微软雅黑" panose="020B0503020204020204" pitchFamily="34" charset="-122"/>
              </a:rPr>
              <a:t>大部分</a:t>
            </a:r>
            <a:r>
              <a:rPr lang="en-US" altLang="zh-CN" sz="2000" dirty="0">
                <a:latin typeface="微软雅黑" panose="020B0503020204020204" pitchFamily="34" charset="-122"/>
                <a:ea typeface="微软雅黑" panose="020B0503020204020204" pitchFamily="34" charset="-122"/>
              </a:rPr>
              <a:t>Linux </a:t>
            </a:r>
            <a:r>
              <a:rPr lang="zh-CN" altLang="en-US" sz="2000" dirty="0">
                <a:latin typeface="微软雅黑" panose="020B0503020204020204" pitchFamily="34" charset="-122"/>
                <a:ea typeface="微软雅黑" panose="020B0503020204020204" pitchFamily="34" charset="-122"/>
              </a:rPr>
              <a:t>系统中一些重要的目录</a:t>
            </a:r>
            <a:endParaRPr lang="zh-CN" altLang="en-US" sz="2000" dirty="0">
              <a:latin typeface="微软雅黑" panose="020B0503020204020204" pitchFamily="34" charset="-122"/>
              <a:ea typeface="微软雅黑" panose="020B0503020204020204" pitchFamily="34" charset="-122"/>
            </a:endParaRPr>
          </a:p>
        </p:txBody>
      </p:sp>
      <p:graphicFrame>
        <p:nvGraphicFramePr>
          <p:cNvPr id="6" name="Group 37"/>
          <p:cNvGraphicFramePr/>
          <p:nvPr/>
        </p:nvGraphicFramePr>
        <p:xfrm>
          <a:off x="3364467" y="3017520"/>
          <a:ext cx="5463065" cy="3242778"/>
        </p:xfrm>
        <a:graphic>
          <a:graphicData uri="http://schemas.openxmlformats.org/drawingml/2006/table">
            <a:tbl>
              <a:tblPr/>
              <a:tblGrid>
                <a:gridCol w="1955751"/>
                <a:gridCol w="3507314"/>
              </a:tblGrid>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目录</a:t>
                      </a:r>
                      <a:endPar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内容</a:t>
                      </a:r>
                      <a:endPar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bin</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可执行程序</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dev</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IO</a:t>
                      </a: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设备的特殊文件</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rPr>
                        <a:t>etc</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系统文件</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lib</a:t>
                      </a:r>
                      <a:endParaRPr kumimoji="0" lang="en-US" altLang="zh-CN" sz="23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库文件</a:t>
                      </a:r>
                      <a:endPar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0463">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3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usr</a:t>
                      </a:r>
                      <a:endParaRPr kumimoji="0" lang="en-US" altLang="zh-CN" sz="23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用户目录</a:t>
                      </a:r>
                      <a:endParaRPr kumimoji="0" lang="en-US" altLang="zh-CN" sz="23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L="106905" marR="106905" marT="53442" marB="534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a:t>
            </a:r>
            <a:r>
              <a:rPr lang="zh-CN" altLang="en-US" sz="3200" b="1" dirty="0">
                <a:latin typeface="微软雅黑" panose="020B0503020204020204" pitchFamily="34" charset="-122"/>
                <a:ea typeface="微软雅黑" panose="020B0503020204020204" pitchFamily="34" charset="-122"/>
              </a:rPr>
              <a:t>的文件系统调用</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20</a:t>
            </a:r>
            <a:endParaRPr lang="zh-CN" altLang="en-US" dirty="0"/>
          </a:p>
        </p:txBody>
      </p:sp>
      <p:graphicFrame>
        <p:nvGraphicFramePr>
          <p:cNvPr id="5" name="表格 4"/>
          <p:cNvGraphicFramePr>
            <a:graphicFrameLocks noGrp="1"/>
          </p:cNvGraphicFramePr>
          <p:nvPr/>
        </p:nvGraphicFramePr>
        <p:xfrm>
          <a:off x="1751130" y="885011"/>
          <a:ext cx="8689738" cy="5402942"/>
        </p:xfrm>
        <a:graphic>
          <a:graphicData uri="http://schemas.openxmlformats.org/drawingml/2006/table">
            <a:tbl>
              <a:tblPr firstRow="1" bandRow="1">
                <a:tableStyleId>{5940675A-B579-460E-94D1-54222C63F5DA}</a:tableStyleId>
              </a:tblPr>
              <a:tblGrid>
                <a:gridCol w="4517563"/>
                <a:gridCol w="4172175"/>
              </a:tblGrid>
              <a:tr h="518284">
                <a:tc>
                  <a:txBody>
                    <a:bodyPr/>
                    <a:lstStyle/>
                    <a:p>
                      <a:pPr algn="ctr"/>
                      <a:r>
                        <a:rPr lang="zh-CN" altLang="en-US" sz="2100" dirty="0">
                          <a:latin typeface="华文中宋" panose="02010600040101010101" pitchFamily="2" charset="-122"/>
                          <a:ea typeface="华文中宋" panose="02010600040101010101" pitchFamily="2" charset="-122"/>
                        </a:rPr>
                        <a:t>系统调用</a:t>
                      </a:r>
                      <a:endParaRPr lang="zh-CN" altLang="en-US" sz="2100" dirty="0">
                        <a:latin typeface="华文中宋" panose="02010600040101010101" pitchFamily="2" charset="-122"/>
                        <a:ea typeface="华文中宋" panose="02010600040101010101" pitchFamily="2" charset="-122"/>
                      </a:endParaRPr>
                    </a:p>
                  </a:txBody>
                  <a:tcPr marL="115233" marR="115233" marT="57615" marB="57615"/>
                </a:tc>
                <a:tc>
                  <a:txBody>
                    <a:bodyPr/>
                    <a:lstStyle/>
                    <a:p>
                      <a:pPr algn="ctr"/>
                      <a:r>
                        <a:rPr lang="zh-CN" altLang="en-US" sz="2100" dirty="0">
                          <a:latin typeface="华文中宋" panose="02010600040101010101" pitchFamily="2" charset="-122"/>
                          <a:ea typeface="华文中宋" panose="02010600040101010101" pitchFamily="2" charset="-122"/>
                        </a:rPr>
                        <a:t>描述</a:t>
                      </a:r>
                      <a:endParaRPr lang="zh-CN" altLang="en-US" sz="2100" dirty="0">
                        <a:latin typeface="华文中宋" panose="02010600040101010101" pitchFamily="2" charset="-122"/>
                        <a:ea typeface="华文中宋" panose="02010600040101010101" pitchFamily="2" charset="-122"/>
                      </a:endParaRPr>
                    </a:p>
                  </a:txBody>
                  <a:tcPr marL="115233" marR="115233" marT="57615" marB="57615"/>
                </a:tc>
              </a:tr>
              <a:tr h="518284">
                <a:tc>
                  <a:txBody>
                    <a:bodyPr/>
                    <a:lstStyle/>
                    <a:p>
                      <a:pPr algn="ctr"/>
                      <a:r>
                        <a:rPr lang="en-US" sz="2100" b="0" i="0" dirty="0" err="1">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 = </a:t>
                      </a:r>
                      <a:r>
                        <a:rPr lang="en-US" sz="2100" b="0" i="0" dirty="0" err="1">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creat</a:t>
                      </a:r>
                      <a:r>
                        <a:rPr lang="en-US" sz="2100" b="0" i="0" dirty="0">
                          <a:solidFill>
                            <a:srgbClr val="232323"/>
                          </a:solidFill>
                          <a:effectLst/>
                          <a:latin typeface="Times New Roman" panose="02020703060505090304" pitchFamily="18" charset="0"/>
                          <a:ea typeface="华文中宋" panose="02010600040101010101" pitchFamily="2" charset="-122"/>
                          <a:cs typeface="Times New Roman" panose="02020703060505090304" pitchFamily="18" charset="0"/>
                        </a:rPr>
                        <a:t>(name, mode)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12121"/>
                          </a:solidFill>
                          <a:effectLst/>
                          <a:latin typeface="华文中宋" panose="02010600040101010101" pitchFamily="2" charset="-122"/>
                          <a:ea typeface="华文中宋" panose="02010600040101010101" pitchFamily="2" charset="-122"/>
                        </a:rPr>
                        <a:t>创建文件的一种方法</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sz="21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 = open(file, how, ...)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1F1F1F"/>
                          </a:solidFill>
                          <a:effectLst/>
                          <a:latin typeface="华文中宋" panose="02010600040101010101" pitchFamily="2" charset="-122"/>
                          <a:ea typeface="华文中宋" panose="02010600040101010101" pitchFamily="2" charset="-122"/>
                        </a:rPr>
                        <a:t>打开文件读，写或者读写</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altLang="zh-CN" sz="21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s = close(</a:t>
                      </a:r>
                      <a:r>
                        <a:rPr lang="en-US" altLang="zh-CN" sz="21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altLang="zh-CN" sz="21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dirty="0">
                          <a:effectLst/>
                          <a:latin typeface="华文中宋" panose="02010600040101010101" pitchFamily="2" charset="-122"/>
                          <a:ea typeface="华文中宋" panose="02010600040101010101" pitchFamily="2" charset="-122"/>
                        </a:rPr>
                        <a:t>关闭一个已经打开的文件</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sz="21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n = read(</a:t>
                      </a:r>
                      <a:r>
                        <a:rPr lang="en-US" sz="21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 buffer, </a:t>
                      </a:r>
                      <a:r>
                        <a:rPr lang="en-US" sz="21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nbytes</a:t>
                      </a:r>
                      <a:r>
                        <a:rPr lang="en-US" sz="21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02020"/>
                          </a:solidFill>
                          <a:effectLst/>
                          <a:latin typeface="华文中宋" panose="02010600040101010101" pitchFamily="2" charset="-122"/>
                          <a:ea typeface="华文中宋" panose="02010600040101010101" pitchFamily="2" charset="-122"/>
                        </a:rPr>
                        <a:t>从文件中读取数据到一个缓冲区</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altLang="zh-CN" sz="21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n = write(</a:t>
                      </a:r>
                      <a:r>
                        <a:rPr lang="en-US" altLang="zh-CN" sz="21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altLang="zh-CN" sz="21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 buffer, </a:t>
                      </a:r>
                      <a:r>
                        <a:rPr lang="en-US" altLang="zh-CN" sz="21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nbytes</a:t>
                      </a:r>
                      <a:r>
                        <a:rPr lang="en-US" altLang="zh-CN" sz="21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dirty="0">
                          <a:effectLst/>
                          <a:latin typeface="华文中宋" panose="02010600040101010101" pitchFamily="2" charset="-122"/>
                          <a:ea typeface="华文中宋" panose="02010600040101010101" pitchFamily="2" charset="-122"/>
                        </a:rPr>
                        <a:t>把数据从缓冲区写到文件</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518284">
                <a:tc>
                  <a:txBody>
                    <a:bodyPr/>
                    <a:lstStyle/>
                    <a:p>
                      <a:pPr algn="ctr"/>
                      <a:r>
                        <a:rPr lang="en-US" sz="21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position = </a:t>
                      </a:r>
                      <a:r>
                        <a:rPr lang="en-US" sz="21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lseek</a:t>
                      </a:r>
                      <a:r>
                        <a:rPr lang="en-US" sz="21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2100" b="0" i="0" dirty="0" err="1">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42424"/>
                          </a:solidFill>
                          <a:effectLst/>
                          <a:latin typeface="Times New Roman" panose="02020703060505090304" pitchFamily="18" charset="0"/>
                          <a:ea typeface="华文中宋" panose="02010600040101010101" pitchFamily="2" charset="-122"/>
                          <a:cs typeface="Times New Roman" panose="02020703060505090304" pitchFamily="18" charset="0"/>
                        </a:rPr>
                        <a:t>, offset, whence)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02020"/>
                          </a:solidFill>
                          <a:effectLst/>
                          <a:latin typeface="华文中宋" panose="02010600040101010101" pitchFamily="2" charset="-122"/>
                          <a:ea typeface="华文中宋" panose="02010600040101010101" pitchFamily="2" charset="-122"/>
                        </a:rPr>
                        <a:t>移动文件指针</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518284">
                <a:tc>
                  <a:txBody>
                    <a:bodyPr/>
                    <a:lstStyle/>
                    <a:p>
                      <a:pPr algn="ctr"/>
                      <a:r>
                        <a:rPr lang="en-US" sz="21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s = stat(name, &amp;but)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02020"/>
                          </a:solidFill>
                          <a:effectLst/>
                          <a:latin typeface="华文中宋" panose="02010600040101010101" pitchFamily="2" charset="-122"/>
                          <a:ea typeface="华文中宋" panose="02010600040101010101" pitchFamily="2" charset="-122"/>
                        </a:rPr>
                        <a:t>获取一个文件的状态信息</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518284">
                <a:tc>
                  <a:txBody>
                    <a:bodyPr/>
                    <a:lstStyle/>
                    <a:p>
                      <a:pPr algn="ctr"/>
                      <a:r>
                        <a:rPr lang="en-US" sz="21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21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fstat</a:t>
                      </a:r>
                      <a:r>
                        <a:rPr lang="en-US" sz="21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2100" b="0" i="0" dirty="0" err="1">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12121"/>
                          </a:solidFill>
                          <a:effectLst/>
                          <a:latin typeface="Times New Roman" panose="02020703060505090304" pitchFamily="18" charset="0"/>
                          <a:ea typeface="华文中宋" panose="02010600040101010101" pitchFamily="2" charset="-122"/>
                          <a:cs typeface="Times New Roman" panose="02020703060505090304" pitchFamily="18" charset="0"/>
                        </a:rPr>
                        <a:t>, &amp;but)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12121"/>
                          </a:solidFill>
                          <a:effectLst/>
                          <a:latin typeface="华文中宋" panose="02010600040101010101" pitchFamily="2" charset="-122"/>
                          <a:ea typeface="华文中宋" panose="02010600040101010101" pitchFamily="2" charset="-122"/>
                        </a:rPr>
                        <a:t>获取一个文件的状态信息</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sz="2100" b="0" i="0" dirty="0">
                          <a:solidFill>
                            <a:srgbClr val="252525"/>
                          </a:solidFill>
                          <a:effectLst/>
                          <a:latin typeface="Times New Roman" panose="02020703060505090304" pitchFamily="18" charset="0"/>
                          <a:ea typeface="华文中宋" panose="02010600040101010101" pitchFamily="2" charset="-122"/>
                          <a:cs typeface="Times New Roman" panose="02020703060505090304" pitchFamily="18" charset="0"/>
                        </a:rPr>
                        <a:t>s = pipe(&amp;</a:t>
                      </a:r>
                      <a:r>
                        <a:rPr lang="en-US" sz="2100" b="0" i="0" dirty="0" err="1">
                          <a:solidFill>
                            <a:srgbClr val="252525"/>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252525"/>
                          </a:solidFill>
                          <a:effectLst/>
                          <a:latin typeface="Times New Roman" panose="02020703060505090304" pitchFamily="18" charset="0"/>
                          <a:ea typeface="华文中宋" panose="02010600040101010101" pitchFamily="2" charset="-122"/>
                          <a:cs typeface="Times New Roman" panose="02020703060505090304" pitchFamily="18" charset="0"/>
                        </a:rPr>
                        <a:t>[O])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32323"/>
                          </a:solidFill>
                          <a:effectLst/>
                          <a:latin typeface="华文中宋" panose="02010600040101010101" pitchFamily="2" charset="-122"/>
                          <a:ea typeface="华文中宋" panose="02010600040101010101" pitchFamily="2" charset="-122"/>
                        </a:rPr>
                        <a:t>创建一个管道</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r h="468587">
                <a:tc>
                  <a:txBody>
                    <a:bodyPr/>
                    <a:lstStyle/>
                    <a:p>
                      <a:pPr algn="ctr"/>
                      <a:r>
                        <a:rPr lang="en-US" sz="21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21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fcntl</a:t>
                      </a:r>
                      <a:r>
                        <a:rPr lang="en-US" sz="21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21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fd</a:t>
                      </a:r>
                      <a:r>
                        <a:rPr lang="en-US" sz="21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 </a:t>
                      </a:r>
                      <a:r>
                        <a:rPr lang="en-US" sz="21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cmd</a:t>
                      </a:r>
                      <a:r>
                        <a:rPr lang="en-US" sz="21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 ...) </a:t>
                      </a:r>
                      <a:endParaRPr lang="en-US" sz="21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15233" marR="115233" marT="57615" marB="57615" anchor="ctr"/>
                </a:tc>
                <a:tc>
                  <a:txBody>
                    <a:bodyPr/>
                    <a:lstStyle/>
                    <a:p>
                      <a:pPr algn="ctr"/>
                      <a:r>
                        <a:rPr lang="zh-CN" altLang="en-US" sz="2100" b="0" i="0" dirty="0">
                          <a:solidFill>
                            <a:srgbClr val="202020"/>
                          </a:solidFill>
                          <a:effectLst/>
                          <a:latin typeface="华文中宋" panose="02010600040101010101" pitchFamily="2" charset="-122"/>
                          <a:ea typeface="华文中宋" panose="02010600040101010101" pitchFamily="2" charset="-122"/>
                        </a:rPr>
                        <a:t>文件加锁和其它操作</a:t>
                      </a:r>
                      <a:endParaRPr lang="en-US" sz="2100" dirty="0">
                        <a:effectLst/>
                        <a:latin typeface="华文中宋" panose="02010600040101010101" pitchFamily="2" charset="-122"/>
                        <a:ea typeface="华文中宋" panose="02010600040101010101" pitchFamily="2" charset="-122"/>
                      </a:endParaRPr>
                    </a:p>
                  </a:txBody>
                  <a:tcPr marL="115233" marR="115233" marT="57615" marB="57615" anchor="ctr"/>
                </a:tc>
              </a:tr>
            </a:tbl>
          </a:graphicData>
        </a:graphic>
      </p:graphicFrame>
      <p:sp>
        <p:nvSpPr>
          <p:cNvPr id="6" name="Rectangle 3"/>
          <p:cNvSpPr txBox="1">
            <a:spLocks noChangeArrowheads="1"/>
          </p:cNvSpPr>
          <p:nvPr/>
        </p:nvSpPr>
        <p:spPr>
          <a:xfrm>
            <a:off x="2981959" y="6365952"/>
            <a:ext cx="6228080" cy="4397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r>
              <a:rPr lang="en-US" altLang="zh-CN" sz="2000" b="1" dirty="0">
                <a:latin typeface="微软雅黑" panose="020B0503020204020204" pitchFamily="34" charset="-122"/>
                <a:ea typeface="微软雅黑" panose="020B0503020204020204" pitchFamily="34" charset="-122"/>
              </a:rPr>
              <a:t>s</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错误码；</a:t>
            </a:r>
            <a:r>
              <a:rPr lang="en-US" altLang="zh-CN" sz="2000" b="1" dirty="0" err="1">
                <a:latin typeface="微软雅黑" panose="020B0503020204020204" pitchFamily="34" charset="-122"/>
                <a:ea typeface="微软雅黑" panose="020B0503020204020204" pitchFamily="34" charset="-122"/>
              </a:rPr>
              <a:t>fd</a:t>
            </a:r>
            <a:r>
              <a:rPr lang="en-US" altLang="zh-CN"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文件描述符； </a:t>
            </a:r>
            <a:r>
              <a:rPr lang="en-US" altLang="zh-CN" sz="2000" b="1" dirty="0">
                <a:latin typeface="微软雅黑" panose="020B0503020204020204" pitchFamily="34" charset="-122"/>
                <a:ea typeface="微软雅黑" panose="020B0503020204020204" pitchFamily="34" charset="-122"/>
              </a:rPr>
              <a:t>position</a:t>
            </a:r>
            <a:r>
              <a:rPr lang="en-US" altLang="zh-CN"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文件偏移</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Stat</a:t>
            </a:r>
            <a:r>
              <a:rPr lang="zh-CN" altLang="en-US" sz="3200" b="1" dirty="0">
                <a:latin typeface="微软雅黑" panose="020B0503020204020204" pitchFamily="34" charset="-122"/>
                <a:ea typeface="微软雅黑" panose="020B0503020204020204" pitchFamily="34" charset="-122"/>
              </a:rPr>
              <a:t>系统调用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7943" y="905404"/>
            <a:ext cx="4772297" cy="387941"/>
          </a:xfrm>
        </p:spPr>
        <p:txBody>
          <a:bodyPr/>
          <a:lstStyle/>
          <a:p>
            <a:pPr>
              <a:lnSpc>
                <a:spcPct val="150000"/>
              </a:lnSpc>
            </a:pPr>
            <a:r>
              <a:rPr lang="zh-CN" altLang="en-US" sz="2400" dirty="0">
                <a:latin typeface="微软雅黑" panose="020B0503020204020204" pitchFamily="34" charset="-122"/>
                <a:ea typeface="微软雅黑" panose="020B0503020204020204" pitchFamily="34" charset="-122"/>
              </a:rPr>
              <a:t>对于每个文件，</a:t>
            </a:r>
            <a:r>
              <a:rPr lang="en-US" altLang="zh-CN" sz="2400" dirty="0">
                <a:latin typeface="微软雅黑" panose="020B0503020204020204" pitchFamily="34" charset="-122"/>
                <a:ea typeface="微软雅黑" panose="020B0503020204020204" pitchFamily="34" charset="-122"/>
              </a:rPr>
              <a:t>Linux</a:t>
            </a:r>
            <a:r>
              <a:rPr lang="zh-CN" altLang="en-US" sz="2400" dirty="0">
                <a:latin typeface="微软雅黑" panose="020B0503020204020204" pitchFamily="34" charset="-122"/>
                <a:ea typeface="微软雅黑" panose="020B0503020204020204" pitchFamily="34" charset="-122"/>
              </a:rPr>
              <a:t>记录了它的文件类型、大小、最后一次修改时间等信息，程序可以使用</a:t>
            </a:r>
            <a:r>
              <a:rPr lang="en-US" altLang="zh-CN" sz="2400" dirty="0">
                <a:latin typeface="微软雅黑" panose="020B0503020204020204" pitchFamily="34" charset="-122"/>
                <a:ea typeface="微软雅黑" panose="020B0503020204020204" pitchFamily="34" charset="-122"/>
              </a:rPr>
              <a:t>stat</a:t>
            </a:r>
            <a:r>
              <a:rPr lang="zh-CN" altLang="en-US" sz="2400" dirty="0">
                <a:latin typeface="微软雅黑" panose="020B0503020204020204" pitchFamily="34" charset="-122"/>
                <a:ea typeface="微软雅黑" panose="020B0503020204020204" pitchFamily="34" charset="-122"/>
              </a:rPr>
              <a:t>系统调用来查看这些信息</a:t>
            </a:r>
            <a:endParaRPr lang="en-US" altLang="zh-CN" sz="2400" dirty="0">
              <a:latin typeface="微软雅黑" panose="020B0503020204020204" pitchFamily="34" charset="-122"/>
              <a:ea typeface="微软雅黑" panose="020B0503020204020204" pitchFamily="34" charset="-122"/>
            </a:endParaRPr>
          </a:p>
          <a:p>
            <a:pPr>
              <a:lnSpc>
                <a:spcPct val="150000"/>
              </a:lnSpc>
            </a:pPr>
            <a:endParaRPr lang="zh-CN" altLang="en-US" dirty="0"/>
          </a:p>
        </p:txBody>
      </p:sp>
      <p:sp>
        <p:nvSpPr>
          <p:cNvPr id="4" name="文本占位符 3"/>
          <p:cNvSpPr>
            <a:spLocks noGrp="1"/>
          </p:cNvSpPr>
          <p:nvPr>
            <p:ph type="body" sz="quarter" idx="15"/>
          </p:nvPr>
        </p:nvSpPr>
        <p:spPr/>
        <p:txBody>
          <a:bodyPr/>
          <a:lstStyle/>
          <a:p>
            <a:r>
              <a:rPr lang="en-US" altLang="zh-CN" dirty="0"/>
              <a:t>21</a:t>
            </a:r>
            <a:endParaRPr lang="zh-CN" altLang="en-US" dirty="0"/>
          </a:p>
        </p:txBody>
      </p:sp>
      <p:sp>
        <p:nvSpPr>
          <p:cNvPr id="5" name="Rectangle 3"/>
          <p:cNvSpPr txBox="1">
            <a:spLocks noChangeArrowheads="1"/>
          </p:cNvSpPr>
          <p:nvPr/>
        </p:nvSpPr>
        <p:spPr>
          <a:xfrm>
            <a:off x="6867633" y="5902298"/>
            <a:ext cx="3306063" cy="5619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en-US" altLang="zh-CN" sz="2000" dirty="0">
                <a:latin typeface="微软雅黑" panose="020B0503020204020204" pitchFamily="34" charset="-122"/>
                <a:ea typeface="微软雅黑" panose="020B0503020204020204" pitchFamily="34" charset="-122"/>
              </a:rPr>
              <a:t>stat </a:t>
            </a:r>
            <a:r>
              <a:rPr lang="zh-CN" altLang="en-US" sz="2000" dirty="0">
                <a:latin typeface="微软雅黑" panose="020B0503020204020204" pitchFamily="34" charset="-122"/>
                <a:ea typeface="微软雅黑" panose="020B0503020204020204" pitchFamily="34" charset="-122"/>
              </a:rPr>
              <a:t>系统调用返回的字段</a:t>
            </a:r>
            <a:endParaRPr lang="en-US" altLang="zh-CN" sz="2000"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7033730" y="1152850"/>
          <a:ext cx="2973870" cy="4552300"/>
        </p:xfrm>
        <a:graphic>
          <a:graphicData uri="http://schemas.openxmlformats.org/drawingml/2006/table">
            <a:tbl>
              <a:tblPr firstRow="1" bandRow="1">
                <a:tableStyleId>{5940675A-B579-460E-94D1-54222C63F5DA}</a:tableStyleId>
              </a:tblPr>
              <a:tblGrid>
                <a:gridCol w="2973870"/>
              </a:tblGrid>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文件所在的</a:t>
                      </a:r>
                      <a:r>
                        <a:rPr lang="zh-CN" altLang="en-US" sz="2300">
                          <a:latin typeface="华文中宋" panose="02010600040101010101" pitchFamily="2" charset="-122"/>
                          <a:ea typeface="华文中宋" panose="02010600040101010101" pitchFamily="2" charset="-122"/>
                        </a:rPr>
                        <a:t>设备</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300" dirty="0" err="1">
                          <a:latin typeface="华文中宋" panose="02010600040101010101" pitchFamily="2" charset="-122"/>
                          <a:ea typeface="华文中宋" panose="02010600040101010101" pitchFamily="2" charset="-122"/>
                        </a:rPr>
                        <a:t>I_node</a:t>
                      </a:r>
                      <a:r>
                        <a:rPr lang="zh-CN" altLang="en-US" sz="2300" dirty="0">
                          <a:latin typeface="华文中宋" panose="02010600040101010101" pitchFamily="2" charset="-122"/>
                          <a:ea typeface="华文中宋" panose="02010600040101010101" pitchFamily="2" charset="-122"/>
                        </a:rPr>
                        <a:t>号</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权限</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连接数</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所有者</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所有者所在的组</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文件大小</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创建时间</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上次访问时间</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r h="45374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300" dirty="0">
                          <a:latin typeface="华文中宋" panose="02010600040101010101" pitchFamily="2" charset="-122"/>
                          <a:ea typeface="华文中宋" panose="02010600040101010101" pitchFamily="2" charset="-122"/>
                        </a:rPr>
                        <a:t>上次修改时间</a:t>
                      </a:r>
                      <a:endParaRPr lang="zh-CN" altLang="en-US" sz="2300" dirty="0">
                        <a:latin typeface="华文中宋" panose="02010600040101010101" pitchFamily="2" charset="-122"/>
                        <a:ea typeface="华文中宋" panose="02010600040101010101" pitchFamily="2" charset="-122"/>
                      </a:endParaRPr>
                    </a:p>
                  </a:txBody>
                  <a:tcPr marL="104711" marR="104711" marT="52355" marB="52355"/>
                </a:tc>
              </a:tr>
            </a:tbl>
          </a:graphicData>
        </a:graphic>
      </p:graphicFrame>
      <p:sp>
        <p:nvSpPr>
          <p:cNvPr id="7" name="矩形 6"/>
          <p:cNvSpPr/>
          <p:nvPr/>
        </p:nvSpPr>
        <p:spPr>
          <a:xfrm>
            <a:off x="1161673" y="3294174"/>
            <a:ext cx="4934326" cy="3170099"/>
          </a:xfrm>
          <a:prstGeom prst="rect">
            <a:avLst/>
          </a:prstGeom>
        </p:spPr>
        <p:txBody>
          <a:bodyPr wrap="square">
            <a:spAutoFit/>
          </a:bodyPr>
          <a:lstStyle/>
          <a:p>
            <a:r>
              <a:rPr lang="en-US" altLang="zh-CN" sz="2000" dirty="0">
                <a:solidFill>
                  <a:srgbClr val="333333"/>
                </a:solidFill>
                <a:latin typeface="Microsoft Yahei" panose="020B0503020204020204" pitchFamily="34" charset="-122"/>
                <a:ea typeface="Microsoft Yahei" panose="020B0503020204020204" pitchFamily="34" charset="-122"/>
              </a:rPr>
              <a:t>#include &lt;sys/</a:t>
            </a:r>
            <a:r>
              <a:rPr lang="en-US" altLang="zh-CN" sz="2000" dirty="0" err="1">
                <a:solidFill>
                  <a:srgbClr val="333333"/>
                </a:solidFill>
                <a:latin typeface="Microsoft Yahei" panose="020B0503020204020204" pitchFamily="34" charset="-122"/>
                <a:ea typeface="Microsoft Yahei" panose="020B0503020204020204" pitchFamily="34" charset="-122"/>
              </a:rPr>
              <a:t>stat.h</a:t>
            </a:r>
            <a:r>
              <a:rPr lang="en-US" altLang="zh-CN" sz="2000" dirty="0">
                <a:solidFill>
                  <a:srgbClr val="333333"/>
                </a:solidFill>
                <a:latin typeface="Microsoft Yahei" panose="020B0503020204020204" pitchFamily="34" charset="-122"/>
                <a:ea typeface="Microsoft Yahei" panose="020B0503020204020204" pitchFamily="34" charset="-122"/>
              </a:rPr>
              <a:t>&gt;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#include &lt;</a:t>
            </a:r>
            <a:r>
              <a:rPr lang="en-US" altLang="zh-CN" sz="2000" dirty="0" err="1">
                <a:solidFill>
                  <a:srgbClr val="333333"/>
                </a:solidFill>
                <a:latin typeface="Microsoft Yahei" panose="020B0503020204020204" pitchFamily="34" charset="-122"/>
                <a:ea typeface="Microsoft Yahei" panose="020B0503020204020204" pitchFamily="34" charset="-122"/>
              </a:rPr>
              <a:t>unistd.h</a:t>
            </a:r>
            <a:r>
              <a:rPr lang="en-US" altLang="zh-CN" sz="2000" dirty="0">
                <a:solidFill>
                  <a:srgbClr val="333333"/>
                </a:solidFill>
                <a:latin typeface="Microsoft Yahei" panose="020B0503020204020204" pitchFamily="34" charset="-122"/>
                <a:ea typeface="Microsoft Yahei" panose="020B0503020204020204" pitchFamily="34" charset="-122"/>
              </a:rPr>
              <a:t>&gt;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#include &lt;</a:t>
            </a:r>
            <a:r>
              <a:rPr lang="en-US" altLang="zh-CN" sz="2000" dirty="0" err="1">
                <a:solidFill>
                  <a:srgbClr val="333333"/>
                </a:solidFill>
                <a:latin typeface="Microsoft Yahei" panose="020B0503020204020204" pitchFamily="34" charset="-122"/>
                <a:ea typeface="Microsoft Yahei" panose="020B0503020204020204" pitchFamily="34" charset="-122"/>
              </a:rPr>
              <a:t>stdio.h</a:t>
            </a:r>
            <a:r>
              <a:rPr lang="en-US" altLang="zh-CN" sz="2000" dirty="0">
                <a:solidFill>
                  <a:srgbClr val="333333"/>
                </a:solidFill>
                <a:latin typeface="Microsoft Yahei" panose="020B0503020204020204" pitchFamily="34" charset="-122"/>
                <a:ea typeface="Microsoft Yahei" panose="020B0503020204020204" pitchFamily="34" charset="-122"/>
              </a:rPr>
              <a:t>&gt;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int main() {</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    struct stat </a:t>
            </a:r>
            <a:r>
              <a:rPr lang="en-US" altLang="zh-CN" sz="2000" dirty="0" err="1">
                <a:solidFill>
                  <a:srgbClr val="333333"/>
                </a:solidFill>
                <a:latin typeface="Microsoft Yahei" panose="020B0503020204020204" pitchFamily="34" charset="-122"/>
                <a:ea typeface="Microsoft Yahei" panose="020B0503020204020204" pitchFamily="34" charset="-122"/>
              </a:rPr>
              <a:t>buf</a:t>
            </a:r>
            <a:r>
              <a:rPr lang="en-US" altLang="zh-CN" sz="2000" dirty="0">
                <a:solidFill>
                  <a:srgbClr val="333333"/>
                </a:solidFill>
                <a:latin typeface="Microsoft Yahei" panose="020B0503020204020204" pitchFamily="34" charset="-122"/>
                <a:ea typeface="Microsoft Yahei" panose="020B0503020204020204" pitchFamily="34" charset="-122"/>
              </a:rPr>
              <a: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    stat("/</a:t>
            </a:r>
            <a:r>
              <a:rPr lang="en-US" altLang="zh-CN" sz="2000" dirty="0" err="1">
                <a:solidFill>
                  <a:srgbClr val="333333"/>
                </a:solidFill>
                <a:latin typeface="Microsoft Yahei" panose="020B0503020204020204" pitchFamily="34" charset="-122"/>
                <a:ea typeface="Microsoft Yahei" panose="020B0503020204020204" pitchFamily="34" charset="-122"/>
              </a:rPr>
              <a:t>etc</a:t>
            </a:r>
            <a:r>
              <a:rPr lang="en-US" altLang="zh-CN" sz="2000" dirty="0">
                <a:solidFill>
                  <a:srgbClr val="333333"/>
                </a:solidFill>
                <a:latin typeface="Microsoft Yahei" panose="020B0503020204020204" pitchFamily="34" charset="-122"/>
                <a:ea typeface="Microsoft Yahei" panose="020B0503020204020204" pitchFamily="34" charset="-122"/>
              </a:rPr>
              <a:t>/hosts", &amp;</a:t>
            </a:r>
            <a:r>
              <a:rPr lang="en-US" altLang="zh-CN" sz="2000" dirty="0" err="1">
                <a:solidFill>
                  <a:srgbClr val="333333"/>
                </a:solidFill>
                <a:latin typeface="Microsoft Yahei" panose="020B0503020204020204" pitchFamily="34" charset="-122"/>
                <a:ea typeface="Microsoft Yahei" panose="020B0503020204020204" pitchFamily="34" charset="-122"/>
              </a:rPr>
              <a:t>buf</a:t>
            </a:r>
            <a:r>
              <a:rPr lang="en-US" altLang="zh-CN" sz="2000" dirty="0">
                <a:solidFill>
                  <a:srgbClr val="333333"/>
                </a:solidFill>
                <a:latin typeface="Microsoft Yahei" panose="020B0503020204020204" pitchFamily="34" charset="-122"/>
                <a:ea typeface="Microsoft Yahei" panose="020B0503020204020204" pitchFamily="34" charset="-122"/>
              </a:rPr>
              <a: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    </a:t>
            </a:r>
            <a:r>
              <a:rPr lang="en-US" altLang="zh-CN" sz="2000" dirty="0" err="1">
                <a:solidFill>
                  <a:srgbClr val="333333"/>
                </a:solidFill>
                <a:latin typeface="Microsoft Yahei" panose="020B0503020204020204" pitchFamily="34" charset="-122"/>
                <a:ea typeface="Microsoft Yahei" panose="020B0503020204020204" pitchFamily="34" charset="-122"/>
              </a:rPr>
              <a:t>printf</a:t>
            </a:r>
            <a:r>
              <a:rPr lang="en-US" altLang="zh-CN" sz="2000" dirty="0">
                <a:solidFill>
                  <a:srgbClr val="333333"/>
                </a:solidFill>
                <a:latin typeface="Microsoft Yahei" panose="020B0503020204020204" pitchFamily="34" charset="-122"/>
                <a:ea typeface="Microsoft Yahei" panose="020B0503020204020204" pitchFamily="34" charset="-122"/>
              </a:rPr>
              <a:t>("/</a:t>
            </a:r>
            <a:r>
              <a:rPr lang="en-US" altLang="zh-CN" sz="2000" dirty="0" err="1">
                <a:solidFill>
                  <a:srgbClr val="333333"/>
                </a:solidFill>
                <a:latin typeface="Microsoft Yahei" panose="020B0503020204020204" pitchFamily="34" charset="-122"/>
                <a:ea typeface="Microsoft Yahei" panose="020B0503020204020204" pitchFamily="34" charset="-122"/>
              </a:rPr>
              <a:t>etc</a:t>
            </a:r>
            <a:r>
              <a:rPr lang="en-US" altLang="zh-CN" sz="2000" dirty="0">
                <a:solidFill>
                  <a:srgbClr val="333333"/>
                </a:solidFill>
                <a:latin typeface="Microsoft Yahei" panose="020B0503020204020204" pitchFamily="34" charset="-122"/>
                <a:ea typeface="Microsoft Yahei" panose="020B0503020204020204" pitchFamily="34" charset="-122"/>
              </a:rPr>
              <a:t>/hosts file size = %d\n",    </a:t>
            </a:r>
            <a:r>
              <a:rPr lang="en-US" altLang="zh-CN" sz="2000" dirty="0" err="1">
                <a:solidFill>
                  <a:srgbClr val="333333"/>
                </a:solidFill>
                <a:latin typeface="Microsoft Yahei" panose="020B0503020204020204" pitchFamily="34" charset="-122"/>
                <a:ea typeface="Microsoft Yahei" panose="020B0503020204020204" pitchFamily="34" charset="-122"/>
              </a:rPr>
              <a:t>buf.st_size</a:t>
            </a:r>
            <a:r>
              <a:rPr lang="en-US" altLang="zh-CN" sz="2000" dirty="0">
                <a:solidFill>
                  <a:srgbClr val="333333"/>
                </a:solidFill>
                <a:latin typeface="Microsoft Yahei" panose="020B0503020204020204" pitchFamily="34" charset="-122"/>
                <a:ea typeface="Microsoft Yahei" panose="020B0503020204020204" pitchFamily="34" charset="-122"/>
              </a:rPr>
              <a:t>);</a:t>
            </a:r>
            <a:endParaRPr lang="en-US" altLang="zh-CN" sz="2000" dirty="0">
              <a:solidFill>
                <a:srgbClr val="333333"/>
              </a:solidFill>
              <a:latin typeface="Microsoft Yahei" panose="020B0503020204020204" pitchFamily="34" charset="-122"/>
              <a:ea typeface="Microsoft Yahei" panose="020B0503020204020204" pitchFamily="34" charset="-122"/>
            </a:endParaRPr>
          </a:p>
          <a:p>
            <a:r>
              <a:rPr lang="en-US" altLang="zh-CN" sz="2000" dirty="0">
                <a:solidFill>
                  <a:srgbClr val="333333"/>
                </a:solidFill>
                <a:latin typeface="Microsoft Yahei" panose="020B0503020204020204" pitchFamily="34" charset="-122"/>
                <a:ea typeface="Microsoft Yahei" panose="020B0503020204020204" pitchFamily="34" charset="-122"/>
              </a:rPr>
              <a:t>    return 1</a:t>
            </a:r>
            <a:r>
              <a:rPr lang="zh-CN" altLang="en-US" sz="2000" dirty="0">
                <a:solidFill>
                  <a:srgbClr val="333333"/>
                </a:solidFill>
                <a:latin typeface="Microsoft Yahei" panose="020B0503020204020204" pitchFamily="34" charset="-122"/>
                <a:ea typeface="Microsoft Yahei" panose="020B0503020204020204" pitchFamily="34" charset="-122"/>
              </a:rPr>
              <a:t>；</a:t>
            </a:r>
            <a:br>
              <a:rPr lang="en-US" altLang="zh-CN" sz="2000" dirty="0"/>
            </a:br>
            <a:r>
              <a:rPr lang="en-US" altLang="zh-CN" sz="2000" dirty="0">
                <a:solidFill>
                  <a:srgbClr val="333333"/>
                </a:solidFill>
                <a:latin typeface="Microsoft Yahei" panose="020B0503020204020204" pitchFamily="34" charset="-122"/>
                <a:ea typeface="Microsoft Yahei" panose="020B0503020204020204" pitchFamily="34" charset="-122"/>
              </a:rPr>
              <a:t>}</a:t>
            </a:r>
            <a:endParaRPr lang="zh-CN"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与目录相关的一些系统调用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mkdir</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 </a:t>
            </a: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rmdir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：创建和删除目录（只有目录为空时才可删除）</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link</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：创建链接；</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unlink</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：删除目录项</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chdir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：改变工作目录</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opendir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closedir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readdir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rewinddir</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：用于读取目录</a:t>
            </a:r>
            <a:endParaRPr lang="zh-CN" altLang="en-US" dirty="0"/>
          </a:p>
        </p:txBody>
      </p:sp>
      <p:sp>
        <p:nvSpPr>
          <p:cNvPr id="4" name="文本占位符 3"/>
          <p:cNvSpPr>
            <a:spLocks noGrp="1"/>
          </p:cNvSpPr>
          <p:nvPr>
            <p:ph type="body" sz="quarter" idx="15"/>
          </p:nvPr>
        </p:nvSpPr>
        <p:spPr/>
        <p:txBody>
          <a:bodyPr/>
          <a:lstStyle/>
          <a:p>
            <a:r>
              <a:rPr lang="en-US" altLang="zh-CN" dirty="0"/>
              <a:t>22</a:t>
            </a:r>
            <a:endParaRPr lang="zh-CN" altLang="en-US" dirty="0"/>
          </a:p>
        </p:txBody>
      </p:sp>
      <p:sp>
        <p:nvSpPr>
          <p:cNvPr id="5" name="Rectangle 3"/>
          <p:cNvSpPr txBox="1">
            <a:spLocks noChangeArrowheads="1"/>
          </p:cNvSpPr>
          <p:nvPr/>
        </p:nvSpPr>
        <p:spPr>
          <a:xfrm>
            <a:off x="1523206" y="6388337"/>
            <a:ext cx="9145588" cy="3790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r>
              <a:rPr lang="en-US" altLang="zh-CN" sz="2000" b="1" dirty="0">
                <a:latin typeface="微软雅黑" panose="020B0503020204020204" pitchFamily="34" charset="-122"/>
                <a:ea typeface="微软雅黑" panose="020B0503020204020204" pitchFamily="34" charset="-122"/>
              </a:rPr>
              <a:t>s</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：错误码；</a:t>
            </a:r>
            <a:r>
              <a:rPr lang="en-US" altLang="zh-CN" sz="2000" b="1" dirty="0">
                <a:latin typeface="微软雅黑" panose="020B0503020204020204" pitchFamily="34" charset="-122"/>
                <a:ea typeface="微软雅黑" panose="020B0503020204020204" pitchFamily="34" charset="-122"/>
              </a:rPr>
              <a:t>Dir</a:t>
            </a:r>
            <a:r>
              <a:rPr lang="zh-CN" altLang="en-US"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目录；</a:t>
            </a:r>
            <a:r>
              <a:rPr lang="en-US" altLang="zh-CN" sz="2000" b="1" dirty="0" err="1">
                <a:latin typeface="微软雅黑" panose="020B0503020204020204" pitchFamily="34" charset="-122"/>
                <a:ea typeface="微软雅黑" panose="020B0503020204020204" pitchFamily="34" charset="-122"/>
              </a:rPr>
              <a:t>dirent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：目录项</a:t>
            </a:r>
            <a:endParaRPr lang="en-US" altLang="zh-CN" sz="2000" b="1"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2737856" y="2899556"/>
          <a:ext cx="6716286" cy="3468580"/>
        </p:xfrm>
        <a:graphic>
          <a:graphicData uri="http://schemas.openxmlformats.org/drawingml/2006/table">
            <a:tbl>
              <a:tblPr firstRow="1" bandRow="1">
                <a:tableStyleId>{5940675A-B579-460E-94D1-54222C63F5DA}</a:tableStyleId>
              </a:tblPr>
              <a:tblGrid>
                <a:gridCol w="3358143"/>
                <a:gridCol w="3358143"/>
              </a:tblGrid>
              <a:tr h="343397">
                <a:tc>
                  <a:txBody>
                    <a:bodyPr/>
                    <a:lstStyle/>
                    <a:p>
                      <a:pPr algn="ctr"/>
                      <a:r>
                        <a:rPr lang="zh-CN" altLang="en-US" sz="1600" dirty="0">
                          <a:latin typeface="华文中宋" panose="02010600040101010101" pitchFamily="2" charset="-122"/>
                          <a:ea typeface="华文中宋" panose="02010600040101010101" pitchFamily="2" charset="-122"/>
                        </a:rPr>
                        <a:t>系统调用</a:t>
                      </a:r>
                      <a:endParaRPr lang="zh-CN" altLang="en-US" sz="1600" dirty="0">
                        <a:latin typeface="华文中宋" panose="02010600040101010101" pitchFamily="2" charset="-122"/>
                        <a:ea typeface="华文中宋" panose="02010600040101010101" pitchFamily="2" charset="-122"/>
                      </a:endParaRPr>
                    </a:p>
                  </a:txBody>
                  <a:tcPr marL="103019" marR="103019" marT="51509" marB="51509"/>
                </a:tc>
                <a:tc>
                  <a:txBody>
                    <a:bodyPr/>
                    <a:lstStyle/>
                    <a:p>
                      <a:pPr algn="ctr"/>
                      <a:r>
                        <a:rPr lang="zh-CN" altLang="en-US" sz="1600" dirty="0">
                          <a:latin typeface="华文中宋" panose="02010600040101010101" pitchFamily="2" charset="-122"/>
                          <a:ea typeface="华文中宋" panose="02010600040101010101" pitchFamily="2" charset="-122"/>
                        </a:rPr>
                        <a:t>描述</a:t>
                      </a:r>
                      <a:endParaRPr lang="zh-CN" altLang="en-US" sz="1600" dirty="0">
                        <a:latin typeface="华文中宋" panose="02010600040101010101" pitchFamily="2" charset="-122"/>
                        <a:ea typeface="华文中宋" panose="02010600040101010101" pitchFamily="2" charset="-122"/>
                      </a:endParaRPr>
                    </a:p>
                  </a:txBody>
                  <a:tcPr marL="103019" marR="103019" marT="51509" marB="51509"/>
                </a:tc>
              </a:tr>
              <a:tr h="343397">
                <a:tc>
                  <a:txBody>
                    <a:bodyPr/>
                    <a:lstStyle/>
                    <a:p>
                      <a:pPr algn="ctr"/>
                      <a:r>
                        <a:rPr lang="en-US"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sz="16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mkdir</a:t>
                      </a:r>
                      <a:r>
                        <a:rPr lang="en-US"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(path, mode)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32323"/>
                          </a:solidFill>
                          <a:effectLst/>
                          <a:latin typeface="华文中宋" panose="02010600040101010101" pitchFamily="2" charset="-122"/>
                          <a:ea typeface="华文中宋" panose="02010600040101010101" pitchFamily="2" charset="-122"/>
                        </a:rPr>
                        <a:t>建立新目录</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s = rmdir(path) </a:t>
                      </a:r>
                      <a:endParaRPr lang="en-US" sz="160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22222"/>
                          </a:solidFill>
                          <a:effectLst/>
                          <a:latin typeface="华文中宋" panose="02010600040101010101" pitchFamily="2" charset="-122"/>
                          <a:ea typeface="华文中宋" panose="02010600040101010101" pitchFamily="2" charset="-122"/>
                        </a:rPr>
                        <a:t>删除目录</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s = link(</a:t>
                      </a:r>
                      <a:r>
                        <a:rPr lang="en-US" sz="16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oldpath</a:t>
                      </a:r>
                      <a:r>
                        <a:rPr lang="en-US"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 </a:t>
                      </a:r>
                      <a:r>
                        <a:rPr lang="en-US" sz="16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newpath</a:t>
                      </a:r>
                      <a:r>
                        <a:rPr lang="en-US"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02020"/>
                          </a:solidFill>
                          <a:effectLst/>
                          <a:latin typeface="华文中宋" panose="02010600040101010101" pitchFamily="2" charset="-122"/>
                          <a:ea typeface="华文中宋" panose="02010600040101010101" pitchFamily="2" charset="-122"/>
                        </a:rPr>
                        <a:t>创建指向已有文件的链接</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dirty="0">
                          <a:solidFill>
                            <a:srgbClr val="1D1D1D"/>
                          </a:solidFill>
                          <a:effectLst/>
                          <a:latin typeface="Times New Roman" panose="02020703060505090304" pitchFamily="18" charset="0"/>
                          <a:ea typeface="华文中宋" panose="02010600040101010101" pitchFamily="2" charset="-122"/>
                          <a:cs typeface="Times New Roman" panose="02020703060505090304" pitchFamily="18" charset="0"/>
                        </a:rPr>
                        <a:t>s = unlink(path)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1A1A1A"/>
                          </a:solidFill>
                          <a:effectLst/>
                          <a:latin typeface="华文中宋" panose="02010600040101010101" pitchFamily="2" charset="-122"/>
                          <a:ea typeface="华文中宋" panose="02010600040101010101" pitchFamily="2" charset="-122"/>
                        </a:rPr>
                        <a:t>取消文件的链接</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altLang="zh-CN"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s = </a:t>
                      </a:r>
                      <a:r>
                        <a:rPr lang="en-US" altLang="zh-CN" sz="1600" b="0" i="0" dirty="0" err="1">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chdir</a:t>
                      </a:r>
                      <a:r>
                        <a:rPr lang="en-US" altLang="zh-CN" sz="1600" b="0" i="0" dirty="0">
                          <a:solidFill>
                            <a:srgbClr val="1F1F1F"/>
                          </a:solidFill>
                          <a:effectLst/>
                          <a:latin typeface="Times New Roman" panose="02020703060505090304" pitchFamily="18" charset="0"/>
                          <a:ea typeface="华文中宋" panose="02010600040101010101" pitchFamily="2" charset="-122"/>
                          <a:cs typeface="Times New Roman" panose="02020703060505090304" pitchFamily="18" charset="0"/>
                        </a:rPr>
                        <a:t>(pat)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dirty="0">
                          <a:effectLst/>
                          <a:latin typeface="华文中宋" panose="02010600040101010101" pitchFamily="2" charset="-122"/>
                          <a:ea typeface="华文中宋" panose="02010600040101010101" pitchFamily="2" charset="-122"/>
                        </a:rPr>
                        <a:t>改变工作目录</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dir</a:t>
                      </a:r>
                      <a:r>
                        <a:rPr lang="en-US" sz="16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 = </a:t>
                      </a:r>
                      <a:r>
                        <a:rPr lang="en-US" sz="1600" b="0" i="0" dirty="0" err="1">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opendir</a:t>
                      </a:r>
                      <a:r>
                        <a:rPr lang="en-US" sz="1600" b="0" i="0" dirty="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(path)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12121"/>
                          </a:solidFill>
                          <a:effectLst/>
                          <a:latin typeface="华文中宋" panose="02010600040101010101" pitchFamily="2" charset="-122"/>
                          <a:ea typeface="华文中宋" panose="02010600040101010101" pitchFamily="2" charset="-122"/>
                        </a:rPr>
                        <a:t>打开目录</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s </a:t>
                      </a:r>
                      <a:r>
                        <a:rPr lang="en-US" sz="16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closedir</a:t>
                      </a:r>
                      <a:r>
                        <a:rPr lang="en-US" sz="16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16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dir</a:t>
                      </a:r>
                      <a:r>
                        <a:rPr lang="en-US" sz="16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22222"/>
                          </a:solidFill>
                          <a:effectLst/>
                          <a:latin typeface="华文中宋" panose="02010600040101010101" pitchFamily="2" charset="-122"/>
                          <a:ea typeface="华文中宋" panose="02010600040101010101" pitchFamily="2" charset="-122"/>
                        </a:rPr>
                        <a:t>关闭目录</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a:solidFill>
                            <a:srgbClr val="202020"/>
                          </a:solidFill>
                          <a:effectLst/>
                          <a:latin typeface="Times New Roman" panose="02020703060505090304" pitchFamily="18" charset="0"/>
                          <a:ea typeface="华文中宋" panose="02010600040101010101" pitchFamily="2" charset="-122"/>
                          <a:cs typeface="Times New Roman" panose="02020703060505090304" pitchFamily="18" charset="0"/>
                        </a:rPr>
                        <a:t>dirent = readdir(dir) </a:t>
                      </a:r>
                      <a:endParaRPr lang="en-US" sz="160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22222"/>
                          </a:solidFill>
                          <a:effectLst/>
                          <a:latin typeface="华文中宋" panose="02010600040101010101" pitchFamily="2" charset="-122"/>
                          <a:ea typeface="华文中宋" panose="02010600040101010101" pitchFamily="2" charset="-122"/>
                        </a:rPr>
                        <a:t>读取一个目录项</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r h="343397">
                <a:tc>
                  <a:txBody>
                    <a:bodyPr/>
                    <a:lstStyle/>
                    <a:p>
                      <a:pPr algn="ctr"/>
                      <a:r>
                        <a:rPr lang="en-US" sz="16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rewinddir</a:t>
                      </a:r>
                      <a:r>
                        <a:rPr lang="en-US" sz="16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a:t>
                      </a:r>
                      <a:r>
                        <a:rPr lang="en-US" sz="1600" b="0" i="0" dirty="0" err="1">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dir</a:t>
                      </a:r>
                      <a:r>
                        <a:rPr lang="en-US" sz="1600" b="0" i="0" dirty="0">
                          <a:solidFill>
                            <a:srgbClr val="222222"/>
                          </a:solidFill>
                          <a:effectLst/>
                          <a:latin typeface="Times New Roman" panose="02020703060505090304" pitchFamily="18" charset="0"/>
                          <a:ea typeface="华文中宋" panose="02010600040101010101" pitchFamily="2" charset="-122"/>
                          <a:cs typeface="Times New Roman" panose="02020703060505090304" pitchFamily="18" charset="0"/>
                        </a:rPr>
                        <a:t>) </a:t>
                      </a:r>
                      <a:endParaRPr lang="en-US" sz="16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103019" marR="103019" marT="51509" marB="51509" anchor="ctr"/>
                </a:tc>
                <a:tc>
                  <a:txBody>
                    <a:bodyPr/>
                    <a:lstStyle/>
                    <a:p>
                      <a:pPr algn="ctr"/>
                      <a:r>
                        <a:rPr lang="zh-CN" altLang="en-US" sz="1600" b="0" i="0" dirty="0">
                          <a:solidFill>
                            <a:srgbClr val="232323"/>
                          </a:solidFill>
                          <a:effectLst/>
                          <a:latin typeface="华文中宋" panose="02010600040101010101" pitchFamily="2" charset="-122"/>
                          <a:ea typeface="华文中宋" panose="02010600040101010101" pitchFamily="2" charset="-122"/>
                        </a:rPr>
                        <a:t>回转目录使其再次被读取</a:t>
                      </a:r>
                      <a:endParaRPr lang="en-US" sz="1600" dirty="0">
                        <a:effectLst/>
                        <a:latin typeface="华文中宋" panose="02010600040101010101" pitchFamily="2" charset="-122"/>
                        <a:ea typeface="华文中宋" panose="02010600040101010101" pitchFamily="2" charset="-122"/>
                      </a:endParaRPr>
                    </a:p>
                  </a:txBody>
                  <a:tcPr marL="103019" marR="103019" marT="51509" marB="51509" anchor="ct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4" name="文本占位符 3"/>
          <p:cNvSpPr>
            <a:spLocks noGrp="1"/>
          </p:cNvSpPr>
          <p:nvPr>
            <p:ph type="body" sz="quarter" idx="15"/>
          </p:nvPr>
        </p:nvSpPr>
        <p:spPr/>
        <p:txBody>
          <a:bodyPr/>
          <a:lstStyle/>
          <a:p>
            <a:r>
              <a:rPr lang="en-US" altLang="zh-CN" dirty="0"/>
              <a:t>23</a:t>
            </a:r>
            <a:endParaRPr lang="zh-CN" altLang="en-US" dirty="0"/>
          </a:p>
        </p:txBody>
      </p:sp>
      <p:sp>
        <p:nvSpPr>
          <p:cNvPr id="5" name="矩形 4"/>
          <p:cNvSpPr/>
          <p:nvPr/>
        </p:nvSpPr>
        <p:spPr>
          <a:xfrm>
            <a:off x="1638907" y="906981"/>
            <a:ext cx="7081406" cy="5860387"/>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#include &lt;sys/types.h&gt;</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#include &lt;dirent.h&gt;</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#include &lt;unistd.h&gt;</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Int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main()</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    DIR * dir;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struct dirent * ptr;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int i;</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    dir = opendir("/etc/rc.d");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while((ptr = readdir(dir)) != NULL)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        printf("d_name : %s\n", ptr-&gt;d_name);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     closedir(dir);</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return 1</a:t>
            </a: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703060505090304" pitchFamily="18" charset="0"/>
              </a:rPr>
              <a:t>}</a:t>
            </a:r>
            <a:endParaRPr lang="zh-CN" altLang="en-US" dirty="0">
              <a:latin typeface="微软雅黑" panose="020B0503020204020204" pitchFamily="34" charset="-122"/>
              <a:ea typeface="微软雅黑" panose="020B0503020204020204" pitchFamily="34" charset="-122"/>
              <a:cs typeface="Times New Roman" panose="0202070306050509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latin typeface="微软雅黑" panose="020B0503020204020204" pitchFamily="34" charset="-122"/>
                <a:ea typeface="微软雅黑" panose="020B0503020204020204" pitchFamily="34" charset="-122"/>
              </a:rPr>
              <a:t>Linux ext2 </a:t>
            </a:r>
            <a:r>
              <a:rPr lang="zh-CN" altLang="en-US" sz="3200" b="1" dirty="0">
                <a:latin typeface="微软雅黑" panose="020B0503020204020204" pitchFamily="34" charset="-122"/>
                <a:ea typeface="微软雅黑" panose="020B0503020204020204" pitchFamily="34" charset="-122"/>
              </a:rPr>
              <a:t>文件系统</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27</a:t>
            </a:r>
            <a:endParaRPr lang="zh-CN" altLang="en-US" dirty="0"/>
          </a:p>
        </p:txBody>
      </p:sp>
      <p:grpSp>
        <p:nvGrpSpPr>
          <p:cNvPr id="33" name="组合 32"/>
          <p:cNvGrpSpPr/>
          <p:nvPr/>
        </p:nvGrpSpPr>
        <p:grpSpPr>
          <a:xfrm>
            <a:off x="1523205" y="1169297"/>
            <a:ext cx="9145588" cy="4878528"/>
            <a:chOff x="1564669" y="1423297"/>
            <a:chExt cx="9145588" cy="4878528"/>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34891" y="3644241"/>
              <a:ext cx="7805145" cy="2197004"/>
            </a:xfrm>
            <a:prstGeom prst="rect">
              <a:avLst/>
            </a:prstGeom>
          </p:spPr>
        </p:pic>
        <p:sp>
          <p:nvSpPr>
            <p:cNvPr id="7" name="Rectangle 3"/>
            <p:cNvSpPr txBox="1">
              <a:spLocks noChangeArrowheads="1"/>
            </p:cNvSpPr>
            <p:nvPr/>
          </p:nvSpPr>
          <p:spPr>
            <a:xfrm>
              <a:off x="1564669" y="5905129"/>
              <a:ext cx="9145588" cy="39669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algn="ctr">
                <a:buFontTx/>
                <a:buNone/>
              </a:pPr>
              <a:r>
                <a:rPr lang="en-US" altLang="zh-CN" sz="1800" dirty="0">
                  <a:latin typeface="微软雅黑" panose="020B0503020204020204" pitchFamily="34" charset="-122"/>
                  <a:ea typeface="微软雅黑" panose="020B0503020204020204" pitchFamily="34" charset="-122"/>
                </a:rPr>
                <a:t>Linux Ext2 </a:t>
              </a:r>
              <a:r>
                <a:rPr lang="zh-CN" altLang="en-US" sz="1800" dirty="0">
                  <a:latin typeface="微软雅黑" panose="020B0503020204020204" pitchFamily="34" charset="-122"/>
                  <a:ea typeface="微软雅黑" panose="020B0503020204020204" pitchFamily="34" charset="-122"/>
                </a:rPr>
                <a:t>文件的磁盘布局</a:t>
              </a:r>
              <a:endParaRPr lang="en-US" altLang="zh-CN" sz="18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870339" y="1600201"/>
              <a:ext cx="702090" cy="2531533"/>
              <a:chOff x="347133" y="1600200"/>
              <a:chExt cx="702090" cy="2531533"/>
            </a:xfrm>
          </p:grpSpPr>
          <p:cxnSp>
            <p:nvCxnSpPr>
              <p:cNvPr id="9" name="直接连接符 8"/>
              <p:cNvCxnSpPr/>
              <p:nvPr/>
            </p:nvCxnSpPr>
            <p:spPr>
              <a:xfrm flipV="1">
                <a:off x="347133" y="1600200"/>
                <a:ext cx="0" cy="2531533"/>
              </a:xfrm>
              <a:prstGeom prst="line">
                <a:avLst/>
              </a:prstGeom>
              <a:ln w="254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直接箭头连接符 9"/>
              <p:cNvCxnSpPr/>
              <p:nvPr/>
            </p:nvCxnSpPr>
            <p:spPr>
              <a:xfrm>
                <a:off x="347133" y="4123266"/>
                <a:ext cx="702090" cy="0"/>
              </a:xfrm>
              <a:prstGeom prst="straightConnector1">
                <a:avLst/>
              </a:prstGeom>
              <a:ln w="2540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1" name="直接连接符 10"/>
              <p:cNvCxnSpPr/>
              <p:nvPr/>
            </p:nvCxnSpPr>
            <p:spPr>
              <a:xfrm>
                <a:off x="347133" y="1608666"/>
                <a:ext cx="523039" cy="0"/>
              </a:xfrm>
              <a:prstGeom prst="line">
                <a:avLst/>
              </a:prstGeom>
              <a:ln w="25400">
                <a:solidFill>
                  <a:srgbClr val="FF0000"/>
                </a:solidFill>
              </a:ln>
            </p:spPr>
            <p:style>
              <a:lnRef idx="3">
                <a:schemeClr val="accent2"/>
              </a:lnRef>
              <a:fillRef idx="0">
                <a:schemeClr val="accent2"/>
              </a:fillRef>
              <a:effectRef idx="2">
                <a:schemeClr val="accent2"/>
              </a:effectRef>
              <a:fontRef idx="minor">
                <a:schemeClr val="tx1"/>
              </a:fontRef>
            </p:style>
          </p:cxnSp>
        </p:grpSp>
        <p:grpSp>
          <p:nvGrpSpPr>
            <p:cNvPr id="12" name="组合 11"/>
            <p:cNvGrpSpPr/>
            <p:nvPr/>
          </p:nvGrpSpPr>
          <p:grpSpPr>
            <a:xfrm>
              <a:off x="2128251" y="1888513"/>
              <a:ext cx="702090" cy="3403155"/>
              <a:chOff x="515519" y="1600200"/>
              <a:chExt cx="702090" cy="3403155"/>
            </a:xfrm>
          </p:grpSpPr>
          <p:cxnSp>
            <p:nvCxnSpPr>
              <p:cNvPr id="13" name="直接连接符 12"/>
              <p:cNvCxnSpPr/>
              <p:nvPr/>
            </p:nvCxnSpPr>
            <p:spPr>
              <a:xfrm flipH="1" flipV="1">
                <a:off x="515519" y="1600200"/>
                <a:ext cx="3607" cy="3403155"/>
              </a:xfrm>
              <a:prstGeom prst="line">
                <a:avLst/>
              </a:prstGeom>
              <a:ln w="25400">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14" name="直接箭头连接符 13"/>
              <p:cNvCxnSpPr/>
              <p:nvPr/>
            </p:nvCxnSpPr>
            <p:spPr>
              <a:xfrm>
                <a:off x="515519" y="4994888"/>
                <a:ext cx="702090" cy="0"/>
              </a:xfrm>
              <a:prstGeom prst="straightConnector1">
                <a:avLst/>
              </a:prstGeom>
              <a:ln w="25400">
                <a:solidFill>
                  <a:srgbClr val="FF0000"/>
                </a:solidFill>
                <a:tailEnd type="triangle"/>
              </a:ln>
            </p:spPr>
            <p:style>
              <a:lnRef idx="3">
                <a:schemeClr val="accent4"/>
              </a:lnRef>
              <a:fillRef idx="0">
                <a:schemeClr val="accent4"/>
              </a:fillRef>
              <a:effectRef idx="2">
                <a:schemeClr val="accent4"/>
              </a:effectRef>
              <a:fontRef idx="minor">
                <a:schemeClr val="tx1"/>
              </a:fontRef>
            </p:style>
          </p:cxnSp>
          <p:cxnSp>
            <p:nvCxnSpPr>
              <p:cNvPr id="15" name="直接连接符 14"/>
              <p:cNvCxnSpPr/>
              <p:nvPr/>
            </p:nvCxnSpPr>
            <p:spPr>
              <a:xfrm>
                <a:off x="519126" y="1608666"/>
                <a:ext cx="351046" cy="0"/>
              </a:xfrm>
              <a:prstGeom prst="line">
                <a:avLst/>
              </a:prstGeom>
              <a:ln w="25400">
                <a:solidFill>
                  <a:srgbClr val="FF0000"/>
                </a:solidFill>
              </a:ln>
            </p:spPr>
            <p:style>
              <a:lnRef idx="3">
                <a:schemeClr val="accent4"/>
              </a:lnRef>
              <a:fillRef idx="0">
                <a:schemeClr val="accent4"/>
              </a:fillRef>
              <a:effectRef idx="2">
                <a:schemeClr val="accent4"/>
              </a:effectRef>
              <a:fontRef idx="minor">
                <a:schemeClr val="tx1"/>
              </a:fontRef>
            </p:style>
          </p:cxnSp>
        </p:grpSp>
        <p:grpSp>
          <p:nvGrpSpPr>
            <p:cNvPr id="16" name="组合 15"/>
            <p:cNvGrpSpPr/>
            <p:nvPr/>
          </p:nvGrpSpPr>
          <p:grpSpPr>
            <a:xfrm>
              <a:off x="2307381" y="2226639"/>
              <a:ext cx="1620358" cy="2721425"/>
              <a:chOff x="690738" y="1600199"/>
              <a:chExt cx="1620358" cy="2721425"/>
            </a:xfrm>
          </p:grpSpPr>
          <p:cxnSp>
            <p:nvCxnSpPr>
              <p:cNvPr id="17" name="直接连接符 16"/>
              <p:cNvCxnSpPr/>
              <p:nvPr/>
            </p:nvCxnSpPr>
            <p:spPr>
              <a:xfrm flipV="1">
                <a:off x="690738" y="1600199"/>
                <a:ext cx="0" cy="2531533"/>
              </a:xfrm>
              <a:prstGeom prst="line">
                <a:avLst/>
              </a:prstGeom>
              <a:ln w="254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8" name="直接箭头连接符 35"/>
              <p:cNvCxnSpPr/>
              <p:nvPr/>
            </p:nvCxnSpPr>
            <p:spPr>
              <a:xfrm>
                <a:off x="690738" y="4123170"/>
                <a:ext cx="1620358" cy="198454"/>
              </a:xfrm>
              <a:prstGeom prst="bentConnector3">
                <a:avLst>
                  <a:gd name="adj1" fmla="val 99639"/>
                </a:avLst>
              </a:prstGeom>
              <a:ln w="25400">
                <a:solidFill>
                  <a:srgbClr val="FF0000"/>
                </a:solidFill>
                <a:tailEnd type="triangle"/>
              </a:ln>
            </p:spPr>
            <p:style>
              <a:lnRef idx="3">
                <a:schemeClr val="accent6"/>
              </a:lnRef>
              <a:fillRef idx="0">
                <a:schemeClr val="accent6"/>
              </a:fillRef>
              <a:effectRef idx="2">
                <a:schemeClr val="accent6"/>
              </a:effectRef>
              <a:fontRef idx="minor">
                <a:schemeClr val="tx1"/>
              </a:fontRef>
            </p:style>
          </p:cxnSp>
          <p:cxnSp>
            <p:nvCxnSpPr>
              <p:cNvPr id="19" name="直接连接符 18"/>
              <p:cNvCxnSpPr/>
              <p:nvPr/>
            </p:nvCxnSpPr>
            <p:spPr>
              <a:xfrm>
                <a:off x="698178" y="1608666"/>
                <a:ext cx="171994" cy="0"/>
              </a:xfrm>
              <a:prstGeom prst="line">
                <a:avLst/>
              </a:prstGeom>
              <a:ln w="25400">
                <a:solidFill>
                  <a:srgbClr val="FF0000"/>
                </a:solidFill>
              </a:ln>
            </p:spPr>
            <p:style>
              <a:lnRef idx="3">
                <a:schemeClr val="accent6"/>
              </a:lnRef>
              <a:fillRef idx="0">
                <a:schemeClr val="accent6"/>
              </a:fillRef>
              <a:effectRef idx="2">
                <a:schemeClr val="accent6"/>
              </a:effectRef>
              <a:fontRef idx="minor">
                <a:schemeClr val="tx1"/>
              </a:fontRef>
            </p:style>
          </p:cxnSp>
        </p:grpSp>
        <p:grpSp>
          <p:nvGrpSpPr>
            <p:cNvPr id="20" name="组合 19"/>
            <p:cNvGrpSpPr/>
            <p:nvPr/>
          </p:nvGrpSpPr>
          <p:grpSpPr>
            <a:xfrm flipH="1">
              <a:off x="4749006" y="2581948"/>
              <a:ext cx="5412610" cy="2366114"/>
              <a:chOff x="347131" y="1600201"/>
              <a:chExt cx="5412610" cy="2366114"/>
            </a:xfrm>
          </p:grpSpPr>
          <p:cxnSp>
            <p:nvCxnSpPr>
              <p:cNvPr id="21" name="直接连接符 20"/>
              <p:cNvCxnSpPr/>
              <p:nvPr/>
            </p:nvCxnSpPr>
            <p:spPr>
              <a:xfrm flipH="1" flipV="1">
                <a:off x="347133" y="1600201"/>
                <a:ext cx="0" cy="2006599"/>
              </a:xfrm>
              <a:prstGeom prst="line">
                <a:avLst/>
              </a:prstGeom>
              <a:ln w="254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直接箭头连接符 43"/>
              <p:cNvCxnSpPr/>
              <p:nvPr/>
            </p:nvCxnSpPr>
            <p:spPr>
              <a:xfrm rot="10800000" flipH="1" flipV="1">
                <a:off x="347131" y="3606800"/>
                <a:ext cx="5412610" cy="359515"/>
              </a:xfrm>
              <a:prstGeom prst="bentConnector3">
                <a:avLst>
                  <a:gd name="adj1" fmla="val 100056"/>
                </a:avLst>
              </a:prstGeom>
              <a:ln w="25400">
                <a:solidFill>
                  <a:srgbClr val="FF0000"/>
                </a:solidFill>
                <a:tailEnd type="triangle"/>
              </a:ln>
            </p:spPr>
            <p:style>
              <a:lnRef idx="3">
                <a:schemeClr val="accent1"/>
              </a:lnRef>
              <a:fillRef idx="0">
                <a:schemeClr val="accent1"/>
              </a:fillRef>
              <a:effectRef idx="2">
                <a:schemeClr val="accent1"/>
              </a:effectRef>
              <a:fontRef idx="minor">
                <a:schemeClr val="tx1"/>
              </a:fontRef>
            </p:style>
          </p:cxnSp>
          <p:cxnSp>
            <p:nvCxnSpPr>
              <p:cNvPr id="23" name="直接连接符 22"/>
              <p:cNvCxnSpPr/>
              <p:nvPr/>
            </p:nvCxnSpPr>
            <p:spPr>
              <a:xfrm>
                <a:off x="347132" y="1608666"/>
                <a:ext cx="2843729" cy="0"/>
              </a:xfrm>
              <a:prstGeom prst="line">
                <a:avLst/>
              </a:prstGeom>
              <a:ln w="25400">
                <a:solidFill>
                  <a:srgbClr val="FF0000"/>
                </a:solidFill>
              </a:ln>
            </p:spPr>
            <p:style>
              <a:lnRef idx="3">
                <a:schemeClr val="accent1"/>
              </a:lnRef>
              <a:fillRef idx="0">
                <a:schemeClr val="accent1"/>
              </a:fillRef>
              <a:effectRef idx="2">
                <a:schemeClr val="accent1"/>
              </a:effectRef>
              <a:fontRef idx="minor">
                <a:schemeClr val="tx1"/>
              </a:fontRef>
            </p:style>
          </p:cxnSp>
        </p:grpSp>
        <p:grpSp>
          <p:nvGrpSpPr>
            <p:cNvPr id="24" name="组合 23"/>
            <p:cNvGrpSpPr/>
            <p:nvPr/>
          </p:nvGrpSpPr>
          <p:grpSpPr>
            <a:xfrm flipH="1">
              <a:off x="6349204" y="2857500"/>
              <a:ext cx="4118110" cy="2090562"/>
              <a:chOff x="347133" y="1600200"/>
              <a:chExt cx="1600304" cy="2765625"/>
            </a:xfrm>
          </p:grpSpPr>
          <p:cxnSp>
            <p:nvCxnSpPr>
              <p:cNvPr id="25" name="直接连接符 24"/>
              <p:cNvCxnSpPr/>
              <p:nvPr/>
            </p:nvCxnSpPr>
            <p:spPr>
              <a:xfrm flipV="1">
                <a:off x="347133" y="1600200"/>
                <a:ext cx="0" cy="2531533"/>
              </a:xfrm>
              <a:prstGeom prst="line">
                <a:avLst/>
              </a:prstGeom>
              <a:ln w="2540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6" name="直接箭头连接符 57"/>
              <p:cNvCxnSpPr/>
              <p:nvPr/>
            </p:nvCxnSpPr>
            <p:spPr>
              <a:xfrm rot="10800000" flipH="1" flipV="1">
                <a:off x="347133" y="4123270"/>
                <a:ext cx="1600304" cy="242555"/>
              </a:xfrm>
              <a:prstGeom prst="bentConnector3">
                <a:avLst>
                  <a:gd name="adj1" fmla="val 99960"/>
                </a:avLst>
              </a:prstGeom>
              <a:ln w="25400">
                <a:solidFill>
                  <a:srgbClr val="FF0000"/>
                </a:solidFill>
                <a:tailEnd type="triangle"/>
              </a:ln>
            </p:spPr>
            <p:style>
              <a:lnRef idx="3">
                <a:schemeClr val="accent5"/>
              </a:lnRef>
              <a:fillRef idx="0">
                <a:schemeClr val="accent5"/>
              </a:fillRef>
              <a:effectRef idx="2">
                <a:schemeClr val="accent5"/>
              </a:effectRef>
              <a:fontRef idx="minor">
                <a:schemeClr val="tx1"/>
              </a:fontRef>
            </p:style>
          </p:cxnSp>
          <p:cxnSp>
            <p:nvCxnSpPr>
              <p:cNvPr id="27" name="直接连接符 26"/>
              <p:cNvCxnSpPr/>
              <p:nvPr/>
            </p:nvCxnSpPr>
            <p:spPr>
              <a:xfrm>
                <a:off x="347133" y="1608666"/>
                <a:ext cx="523039" cy="0"/>
              </a:xfrm>
              <a:prstGeom prst="line">
                <a:avLst/>
              </a:prstGeom>
              <a:ln w="25400">
                <a:solidFill>
                  <a:srgbClr val="FF0000"/>
                </a:solidFill>
              </a:ln>
            </p:spPr>
            <p:style>
              <a:lnRef idx="3">
                <a:schemeClr val="accent5"/>
              </a:lnRef>
              <a:fillRef idx="0">
                <a:schemeClr val="accent5"/>
              </a:fillRef>
              <a:effectRef idx="2">
                <a:schemeClr val="accent5"/>
              </a:effectRef>
              <a:fontRef idx="minor">
                <a:schemeClr val="tx1"/>
              </a:fontRef>
            </p:style>
          </p:cxnSp>
        </p:grpSp>
        <p:grpSp>
          <p:nvGrpSpPr>
            <p:cNvPr id="28" name="组合 27"/>
            <p:cNvGrpSpPr/>
            <p:nvPr/>
          </p:nvGrpSpPr>
          <p:grpSpPr>
            <a:xfrm flipH="1">
              <a:off x="7982279" y="3154279"/>
              <a:ext cx="1993466" cy="2137389"/>
              <a:chOff x="347133" y="1600200"/>
              <a:chExt cx="640554" cy="2541601"/>
            </a:xfrm>
          </p:grpSpPr>
          <p:cxnSp>
            <p:nvCxnSpPr>
              <p:cNvPr id="29" name="直接连接符 28"/>
              <p:cNvCxnSpPr/>
              <p:nvPr/>
            </p:nvCxnSpPr>
            <p:spPr>
              <a:xfrm flipV="1">
                <a:off x="347133" y="1600200"/>
                <a:ext cx="0" cy="2531533"/>
              </a:xfrm>
              <a:prstGeom prst="line">
                <a:avLst/>
              </a:prstGeom>
              <a:ln w="25400">
                <a:solidFill>
                  <a:srgbClr val="FF0000"/>
                </a:solidFill>
              </a:ln>
            </p:spPr>
            <p:style>
              <a:lnRef idx="3">
                <a:schemeClr val="accent3"/>
              </a:lnRef>
              <a:fillRef idx="0">
                <a:schemeClr val="accent3"/>
              </a:fillRef>
              <a:effectRef idx="2">
                <a:schemeClr val="accent3"/>
              </a:effectRef>
              <a:fontRef idx="minor">
                <a:schemeClr val="tx1"/>
              </a:fontRef>
            </p:style>
          </p:cxnSp>
          <p:cxnSp>
            <p:nvCxnSpPr>
              <p:cNvPr id="30" name="直接箭头连接符 29"/>
              <p:cNvCxnSpPr/>
              <p:nvPr/>
            </p:nvCxnSpPr>
            <p:spPr>
              <a:xfrm>
                <a:off x="347133" y="4133335"/>
                <a:ext cx="232150" cy="8466"/>
              </a:xfrm>
              <a:prstGeom prst="straightConnector1">
                <a:avLst/>
              </a:prstGeom>
              <a:ln w="25400">
                <a:solidFill>
                  <a:srgbClr val="FF0000"/>
                </a:solidFill>
                <a:tailEnd type="triangle"/>
              </a:ln>
            </p:spPr>
            <p:style>
              <a:lnRef idx="3">
                <a:schemeClr val="accent3"/>
              </a:lnRef>
              <a:fillRef idx="0">
                <a:schemeClr val="accent3"/>
              </a:fillRef>
              <a:effectRef idx="2">
                <a:schemeClr val="accent3"/>
              </a:effectRef>
              <a:fontRef idx="minor">
                <a:schemeClr val="tx1"/>
              </a:fontRef>
            </p:style>
          </p:cxnSp>
          <p:cxnSp>
            <p:nvCxnSpPr>
              <p:cNvPr id="31" name="直接连接符 30"/>
              <p:cNvCxnSpPr/>
              <p:nvPr/>
            </p:nvCxnSpPr>
            <p:spPr>
              <a:xfrm>
                <a:off x="347133" y="1608666"/>
                <a:ext cx="640554" cy="0"/>
              </a:xfrm>
              <a:prstGeom prst="line">
                <a:avLst/>
              </a:prstGeom>
              <a:ln w="25400">
                <a:solidFill>
                  <a:srgbClr val="FF0000"/>
                </a:solidFill>
              </a:ln>
            </p:spPr>
            <p:style>
              <a:lnRef idx="3">
                <a:schemeClr val="accent3"/>
              </a:lnRef>
              <a:fillRef idx="0">
                <a:schemeClr val="accent3"/>
              </a:fillRef>
              <a:effectRef idx="2">
                <a:schemeClr val="accent3"/>
              </a:effectRef>
              <a:fontRef idx="minor">
                <a:schemeClr val="tx1"/>
              </a:fontRef>
            </p:style>
          </p:cxnSp>
        </p:grpSp>
        <p:sp>
          <p:nvSpPr>
            <p:cNvPr id="32" name="文本框 31"/>
            <p:cNvSpPr txBox="1"/>
            <p:nvPr/>
          </p:nvSpPr>
          <p:spPr>
            <a:xfrm>
              <a:off x="2393378" y="1423297"/>
              <a:ext cx="7888070" cy="1938992"/>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块</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：存放启动计算机的代码</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超级块：包含了该文件系统的信息（</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节点个数，磁盘块数等）</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组描述符：存放了位图的位置、空闲块数、组中的</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节点数等</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两个位图：分别记录空闲块和空闲</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节点存储区域：包含所有存放文件数据的磁盘块的位置</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数据块区：所有文件和目录都存放在这个区域</a:t>
              </a:r>
              <a:endParaRPr lang="zh-CN" altLang="en-US" sz="20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目录文件结构</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957943" y="905404"/>
            <a:ext cx="9537337" cy="387941"/>
          </a:xfrm>
        </p:spPr>
        <p:txBody>
          <a:bodyPr/>
          <a:lstStyle/>
          <a:p>
            <a:pPr marL="342900" indent="-3429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目录文件允许不超过</a:t>
            </a:r>
            <a:r>
              <a:rPr lang="en-US" altLang="zh-CN" sz="2400" dirty="0">
                <a:latin typeface="微软雅黑" panose="020B0503020204020204" pitchFamily="34" charset="-122"/>
                <a:ea typeface="微软雅黑" panose="020B0503020204020204" pitchFamily="34" charset="-122"/>
              </a:rPr>
              <a:t>255</a:t>
            </a:r>
            <a:r>
              <a:rPr lang="zh-CN" altLang="en-US" sz="2400" dirty="0">
                <a:latin typeface="微软雅黑" panose="020B0503020204020204" pitchFamily="34" charset="-122"/>
                <a:ea typeface="微软雅黑" panose="020B0503020204020204" pitchFamily="34" charset="-122"/>
              </a:rPr>
              <a:t>个字符的文件名</a:t>
            </a:r>
            <a:endParaRPr lang="en-US" altLang="zh-CN" sz="2400" dirty="0">
              <a:latin typeface="微软雅黑" panose="020B0503020204020204" pitchFamily="34" charset="-122"/>
              <a:ea typeface="微软雅黑" panose="020B0503020204020204" pitchFamily="34" charset="-122"/>
            </a:endParaRPr>
          </a:p>
          <a:p>
            <a:pPr marL="342900" indent="-342900">
              <a:lnSpc>
                <a:spcPct val="100000"/>
              </a:lnSpc>
              <a:buFont typeface="+mj-lt"/>
              <a:buAutoNum type="arabicPeriod"/>
            </a:pPr>
            <a:r>
              <a:rPr lang="zh-CN" altLang="en-US" sz="2400" dirty="0">
                <a:solidFill>
                  <a:srgbClr val="FF0000"/>
                </a:solidFill>
                <a:latin typeface="微软雅黑" panose="020B0503020204020204" pitchFamily="34" charset="-122"/>
                <a:ea typeface="微软雅黑" panose="020B0503020204020204" pitchFamily="34" charset="-122"/>
              </a:rPr>
              <a:t>每一个目录都由整数个磁盘块组成</a:t>
            </a:r>
            <a:r>
              <a:rPr lang="zh-CN" altLang="en-US" sz="2400" dirty="0">
                <a:latin typeface="微软雅黑" panose="020B0503020204020204" pitchFamily="34" charset="-122"/>
                <a:ea typeface="微软雅黑" panose="020B0503020204020204" pitchFamily="34" charset="-122"/>
              </a:rPr>
              <a:t>，这样目录就可以整体写入磁盘</a:t>
            </a:r>
            <a:endParaRPr lang="en-US" altLang="zh-CN" sz="2400" dirty="0">
              <a:latin typeface="微软雅黑" panose="020B0503020204020204" pitchFamily="34" charset="-122"/>
              <a:ea typeface="微软雅黑" panose="020B0503020204020204" pitchFamily="34" charset="-122"/>
            </a:endParaRPr>
          </a:p>
          <a:p>
            <a:pPr marL="342900" indent="-342900">
              <a:lnSpc>
                <a:spcPct val="100000"/>
              </a:lnSpc>
              <a:buFont typeface="+mj-lt"/>
              <a:buAutoNum type="arabicPeriod"/>
            </a:pPr>
            <a:r>
              <a:rPr lang="zh-CN" altLang="en-US" sz="2400" dirty="0">
                <a:latin typeface="微软雅黑" panose="020B0503020204020204" pitchFamily="34" charset="-122"/>
                <a:ea typeface="微软雅黑" panose="020B0503020204020204" pitchFamily="34" charset="-122"/>
              </a:rPr>
              <a:t>目录中的文件和子目录的目录项是未排序的，并且一个紧挨一个</a:t>
            </a:r>
            <a:endParaRPr lang="en-US" altLang="zh-CN" sz="2400" dirty="0">
              <a:latin typeface="微软雅黑" panose="020B0503020204020204" pitchFamily="34" charset="-122"/>
              <a:ea typeface="微软雅黑" panose="020B0503020204020204" pitchFamily="34" charset="-122"/>
            </a:endParaRPr>
          </a:p>
          <a:p>
            <a:pPr marL="342900" indent="-342900">
              <a:lnSpc>
                <a:spcPct val="100000"/>
              </a:lnSpc>
              <a:buFont typeface="+mj-lt"/>
              <a:buAutoNum type="arabicPeriod"/>
            </a:pPr>
            <a:r>
              <a:rPr lang="zh-CN" altLang="en-US" sz="2400" dirty="0">
                <a:solidFill>
                  <a:srgbClr val="FF0000"/>
                </a:solidFill>
                <a:latin typeface="微软雅黑" panose="020B0503020204020204" pitchFamily="34" charset="-122"/>
                <a:ea typeface="微软雅黑" panose="020B0503020204020204" pitchFamily="34" charset="-122"/>
              </a:rPr>
              <a:t>目录项不能跨越磁盘块</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28</a:t>
            </a:r>
            <a:endParaRPr lang="zh-CN" altLang="en-US" dirty="0"/>
          </a:p>
        </p:txBody>
      </p:sp>
      <p:graphicFrame>
        <p:nvGraphicFramePr>
          <p:cNvPr id="5" name="Object 5"/>
          <p:cNvGraphicFramePr>
            <a:graphicFrameLocks noChangeAspect="1"/>
          </p:cNvGraphicFramePr>
          <p:nvPr/>
        </p:nvGraphicFramePr>
        <p:xfrm>
          <a:off x="3031191" y="2884084"/>
          <a:ext cx="6129615" cy="3068512"/>
        </p:xfrm>
        <a:graphic>
          <a:graphicData uri="http://schemas.openxmlformats.org/presentationml/2006/ole">
            <mc:AlternateContent xmlns:mc="http://schemas.openxmlformats.org/markup-compatibility/2006">
              <mc:Choice xmlns:v="urn:schemas-microsoft-com:vml" Requires="v">
                <p:oleObj spid="_x0000_s2084" name="位图图像" r:id="rId1" imgW="6562725" imgH="3286125" progId="Paint.Picture">
                  <p:embed/>
                </p:oleObj>
              </mc:Choice>
              <mc:Fallback>
                <p:oleObj name="位图图像" r:id="rId1" imgW="6562725" imgH="3286125"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1191" y="2884084"/>
                        <a:ext cx="6129615" cy="3068512"/>
                      </a:xfrm>
                      <a:prstGeom prst="rect">
                        <a:avLst/>
                      </a:prstGeom>
                      <a:noFill/>
                      <a:ln>
                        <a:noFill/>
                      </a:ln>
                      <a:effectLst/>
                    </p:spPr>
                  </p:pic>
                </p:oleObj>
              </mc:Fallback>
            </mc:AlternateContent>
          </a:graphicData>
        </a:graphic>
      </p:graphicFrame>
      <p:sp>
        <p:nvSpPr>
          <p:cNvPr id="6" name="Rectangle 3"/>
          <p:cNvSpPr txBox="1">
            <a:spLocks noChangeArrowheads="1"/>
          </p:cNvSpPr>
          <p:nvPr/>
        </p:nvSpPr>
        <p:spPr>
          <a:xfrm>
            <a:off x="1440384" y="5998735"/>
            <a:ext cx="6857731" cy="738801"/>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0" indent="0">
              <a:buNone/>
            </a:pPr>
            <a:r>
              <a:rPr lang="en-US" altLang="zh-CN" sz="2000" dirty="0">
                <a:latin typeface="微软雅黑" panose="020B0503020204020204" pitchFamily="34" charset="-122"/>
                <a:ea typeface="微软雅黑" panose="020B0503020204020204" pitchFamily="34" charset="-122"/>
              </a:rPr>
              <a:t>(a). </a:t>
            </a:r>
            <a:r>
              <a:rPr lang="zh-CN" altLang="en-US" sz="2000" dirty="0">
                <a:latin typeface="微软雅黑" panose="020B0503020204020204" pitchFamily="34" charset="-122"/>
                <a:ea typeface="微软雅黑" panose="020B0503020204020204" pitchFamily="34" charset="-122"/>
              </a:rPr>
              <a:t>一个含有三个文件的</a:t>
            </a:r>
            <a:r>
              <a:rPr lang="en-US" altLang="zh-CN" sz="2000" dirty="0" err="1">
                <a:latin typeface="微软雅黑" panose="020B0503020204020204" pitchFamily="34" charset="-122"/>
                <a:ea typeface="微软雅黑" panose="020B0503020204020204" pitchFamily="34" charset="-122"/>
              </a:rPr>
              <a:t>linux</a:t>
            </a:r>
            <a:r>
              <a:rPr lang="zh-CN" altLang="en-US" sz="2000" dirty="0">
                <a:latin typeface="微软雅黑" panose="020B0503020204020204" pitchFamily="34" charset="-122"/>
                <a:ea typeface="微软雅黑" panose="020B0503020204020204" pitchFamily="34" charset="-122"/>
              </a:rPr>
              <a:t>目录 </a:t>
            </a:r>
            <a:endParaRPr lang="zh-CN" altLang="en-US" sz="2000" dirty="0">
              <a:latin typeface="微软雅黑" panose="020B0503020204020204" pitchFamily="34" charset="-122"/>
              <a:ea typeface="微软雅黑" panose="020B0503020204020204" pitchFamily="34" charset="-122"/>
            </a:endParaRPr>
          </a:p>
          <a:p>
            <a:pPr marL="0" indent="0">
              <a:buNone/>
            </a:pPr>
            <a:r>
              <a:rPr lang="en-US" altLang="zh-CN" sz="2000" dirty="0">
                <a:latin typeface="微软雅黑" panose="020B0503020204020204" pitchFamily="34" charset="-122"/>
                <a:ea typeface="微软雅黑" panose="020B0503020204020204" pitchFamily="34" charset="-122"/>
              </a:rPr>
              <a:t>(b). </a:t>
            </a:r>
            <a:r>
              <a:rPr lang="zh-CN" altLang="en-US" sz="2000" dirty="0">
                <a:latin typeface="微软雅黑" panose="020B0503020204020204" pitchFamily="34" charset="-122"/>
                <a:ea typeface="微软雅黑" panose="020B0503020204020204" pitchFamily="34" charset="-122"/>
              </a:rPr>
              <a:t>文件 </a:t>
            </a:r>
            <a:r>
              <a:rPr lang="en-US" altLang="zh-CN" sz="2000" i="1" dirty="0">
                <a:latin typeface="微软雅黑" panose="020B0503020204020204" pitchFamily="34" charset="-122"/>
                <a:ea typeface="微软雅黑" panose="020B0503020204020204" pitchFamily="34" charset="-122"/>
              </a:rPr>
              <a:t>voluminous</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被删除后的目录表</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err="1">
                <a:latin typeface="微软雅黑" panose="020B0503020204020204" pitchFamily="34" charset="-122"/>
                <a:ea typeface="微软雅黑" panose="020B0503020204020204" pitchFamily="34" charset="-122"/>
              </a:rPr>
              <a:t>i</a:t>
            </a:r>
            <a:r>
              <a:rPr lang="zh-CN" altLang="en-US" sz="3200" b="1" dirty="0">
                <a:latin typeface="微软雅黑" panose="020B0503020204020204" pitchFamily="34" charset="-122"/>
                <a:ea typeface="微软雅黑" panose="020B0503020204020204" pitchFamily="34" charset="-122"/>
              </a:rPr>
              <a:t>节点结构</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r>
              <a:rPr lang="zh-CN" altLang="en-US" sz="2400" b="1" dirty="0">
                <a:latin typeface="微软雅黑" panose="020B0503020204020204" pitchFamily="34" charset="-122"/>
                <a:ea typeface="微软雅黑" panose="020B0503020204020204" pitchFamily="34" charset="-122"/>
                <a:cs typeface="Times New Roman" panose="02020703060505090304" pitchFamily="18" charset="0"/>
              </a:rPr>
              <a:t> </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节点被存放在</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节点表中，其中</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节点表是一个内核数据结构，用于保存所有当前打开的文件和目录的</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节点。</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29</a:t>
            </a:r>
            <a:endParaRPr lang="zh-CN" altLang="en-US" dirty="0"/>
          </a:p>
        </p:txBody>
      </p:sp>
      <p:graphicFrame>
        <p:nvGraphicFramePr>
          <p:cNvPr id="5" name="表格 4"/>
          <p:cNvGraphicFramePr>
            <a:graphicFrameLocks noGrp="1"/>
          </p:cNvGraphicFramePr>
          <p:nvPr/>
        </p:nvGraphicFramePr>
        <p:xfrm>
          <a:off x="2296529" y="1656080"/>
          <a:ext cx="7995551" cy="4582158"/>
        </p:xfrm>
        <a:graphic>
          <a:graphicData uri="http://schemas.openxmlformats.org/drawingml/2006/table">
            <a:tbl>
              <a:tblPr firstRow="1" bandRow="1">
                <a:tableStyleId>{5940675A-B579-460E-94D1-54222C63F5DA}</a:tableStyleId>
              </a:tblPr>
              <a:tblGrid>
                <a:gridCol w="1295051"/>
                <a:gridCol w="1120144"/>
                <a:gridCol w="5580356"/>
              </a:tblGrid>
              <a:tr h="461376">
                <a:tc>
                  <a:txBody>
                    <a:bodyPr/>
                    <a:lstStyle/>
                    <a:p>
                      <a:pPr algn="ctr"/>
                      <a:r>
                        <a:rPr lang="zh-CN" altLang="en-US" sz="1800" dirty="0">
                          <a:latin typeface="华文中宋" panose="02010600040101010101" pitchFamily="2" charset="-122"/>
                          <a:ea typeface="华文中宋" panose="02010600040101010101" pitchFamily="2" charset="-122"/>
                        </a:rPr>
                        <a:t>域</a:t>
                      </a:r>
                      <a:endParaRPr lang="zh-CN" altLang="en-US" sz="1800" dirty="0">
                        <a:latin typeface="华文中宋" panose="02010600040101010101" pitchFamily="2" charset="-122"/>
                        <a:ea typeface="华文中宋" panose="02010600040101010101" pitchFamily="2" charset="-122"/>
                      </a:endParaRPr>
                    </a:p>
                  </a:txBody>
                  <a:tcPr marL="97490" marR="97490" marT="48745" marB="48745"/>
                </a:tc>
                <a:tc>
                  <a:txBody>
                    <a:bodyPr/>
                    <a:lstStyle/>
                    <a:p>
                      <a:pPr algn="ctr"/>
                      <a:r>
                        <a:rPr lang="zh-CN" altLang="en-US" sz="1800" dirty="0">
                          <a:latin typeface="华文中宋" panose="02010600040101010101" pitchFamily="2" charset="-122"/>
                          <a:ea typeface="华文中宋" panose="02010600040101010101" pitchFamily="2" charset="-122"/>
                        </a:rPr>
                        <a:t>字节数</a:t>
                      </a:r>
                      <a:endParaRPr lang="zh-CN" altLang="en-US" sz="1800" dirty="0">
                        <a:latin typeface="华文中宋" panose="02010600040101010101" pitchFamily="2" charset="-122"/>
                        <a:ea typeface="华文中宋" panose="02010600040101010101" pitchFamily="2" charset="-122"/>
                      </a:endParaRPr>
                    </a:p>
                  </a:txBody>
                  <a:tcPr marL="97490" marR="97490" marT="48745" marB="48745"/>
                </a:tc>
                <a:tc>
                  <a:txBody>
                    <a:bodyPr/>
                    <a:lstStyle/>
                    <a:p>
                      <a:pPr algn="ctr"/>
                      <a:r>
                        <a:rPr lang="zh-CN" altLang="en-US" sz="1800" dirty="0">
                          <a:latin typeface="华文中宋" panose="02010600040101010101" pitchFamily="2" charset="-122"/>
                          <a:ea typeface="华文中宋" panose="02010600040101010101" pitchFamily="2" charset="-122"/>
                        </a:rPr>
                        <a:t>描述</a:t>
                      </a:r>
                      <a:endParaRPr lang="zh-CN" altLang="en-US" sz="1800" dirty="0">
                        <a:latin typeface="华文中宋" panose="02010600040101010101" pitchFamily="2" charset="-122"/>
                        <a:ea typeface="华文中宋" panose="02010600040101010101" pitchFamily="2" charset="-122"/>
                      </a:endParaRPr>
                    </a:p>
                  </a:txBody>
                  <a:tcPr marL="97490" marR="97490" marT="48745" marB="48745"/>
                </a:tc>
              </a:tr>
              <a:tr h="461376">
                <a:tc>
                  <a:txBody>
                    <a:bodyPr/>
                    <a:lstStyle/>
                    <a:p>
                      <a:pPr algn="ctr"/>
                      <a:r>
                        <a:rPr lang="en-US" altLang="zh-CN" sz="1800" dirty="0">
                          <a:effectLst/>
                          <a:latin typeface="Times New Roman" panose="02020703060505090304" pitchFamily="18" charset="0"/>
                          <a:ea typeface="华文中宋" panose="02010600040101010101" pitchFamily="2" charset="-122"/>
                          <a:cs typeface="Times New Roman" panose="02020703060505090304" pitchFamily="18" charset="0"/>
                        </a:rPr>
                        <a:t>Mode</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2</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文件类型，保护位，</a:t>
                      </a:r>
                      <a:r>
                        <a:rPr lang="en-US" altLang="zh-CN" sz="1800" dirty="0" err="1">
                          <a:effectLst/>
                          <a:latin typeface="华文中宋" panose="02010600040101010101" pitchFamily="2" charset="-122"/>
                          <a:ea typeface="华文中宋" panose="02010600040101010101" pitchFamily="2" charset="-122"/>
                        </a:rPr>
                        <a:t>setuid</a:t>
                      </a:r>
                      <a:r>
                        <a:rPr lang="zh-CN" altLang="en-US" sz="1800" dirty="0">
                          <a:effectLst/>
                          <a:latin typeface="华文中宋" panose="02010600040101010101" pitchFamily="2" charset="-122"/>
                          <a:ea typeface="华文中宋" panose="02010600040101010101" pitchFamily="2" charset="-122"/>
                        </a:rPr>
                        <a:t>和</a:t>
                      </a:r>
                      <a:r>
                        <a:rPr lang="en-US" altLang="zh-CN" sz="1800" dirty="0" err="1">
                          <a:effectLst/>
                          <a:latin typeface="华文中宋" panose="02010600040101010101" pitchFamily="2" charset="-122"/>
                          <a:ea typeface="华文中宋" panose="02010600040101010101" pitchFamily="2" charset="-122"/>
                        </a:rPr>
                        <a:t>setgid</a:t>
                      </a:r>
                      <a:r>
                        <a:rPr lang="zh-CN" altLang="en-US" sz="1800" dirty="0">
                          <a:effectLst/>
                          <a:latin typeface="华文中宋" panose="02010600040101010101" pitchFamily="2" charset="-122"/>
                          <a:ea typeface="华文中宋" panose="02010600040101010101" pitchFamily="2" charset="-122"/>
                        </a:rPr>
                        <a:t>位</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Nlinks</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2</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指向该</a:t>
                      </a:r>
                      <a:r>
                        <a:rPr lang="en-US" altLang="zh-CN" sz="1800" dirty="0" err="1">
                          <a:effectLst/>
                          <a:latin typeface="华文中宋" panose="02010600040101010101" pitchFamily="2" charset="-122"/>
                          <a:ea typeface="华文中宋" panose="02010600040101010101" pitchFamily="2" charset="-122"/>
                        </a:rPr>
                        <a:t>i</a:t>
                      </a:r>
                      <a:r>
                        <a:rPr lang="zh-CN" altLang="en-US" sz="1800" dirty="0">
                          <a:effectLst/>
                          <a:latin typeface="华文中宋" panose="02010600040101010101" pitchFamily="2" charset="-122"/>
                          <a:ea typeface="华文中宋" panose="02010600040101010101" pitchFamily="2" charset="-122"/>
                        </a:rPr>
                        <a:t>节点的目录项的数目</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Uid</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2</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文件属主的</a:t>
                      </a:r>
                      <a:r>
                        <a:rPr lang="en-US" altLang="zh-CN" sz="1800" dirty="0">
                          <a:effectLst/>
                          <a:latin typeface="华文中宋" panose="02010600040101010101" pitchFamily="2" charset="-122"/>
                          <a:ea typeface="华文中宋" panose="02010600040101010101" pitchFamily="2" charset="-122"/>
                        </a:rPr>
                        <a:t>UID</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Gid</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2</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文件属主的</a:t>
                      </a:r>
                      <a:r>
                        <a:rPr lang="en-US" altLang="zh-CN" sz="1800" dirty="0">
                          <a:effectLst/>
                          <a:latin typeface="华文中宋" panose="02010600040101010101" pitchFamily="2" charset="-122"/>
                          <a:ea typeface="华文中宋" panose="02010600040101010101" pitchFamily="2" charset="-122"/>
                        </a:rPr>
                        <a:t>GID</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a:effectLst/>
                          <a:latin typeface="Times New Roman" panose="02020703060505090304" pitchFamily="18" charset="0"/>
                          <a:ea typeface="华文中宋" panose="02010600040101010101" pitchFamily="2" charset="-122"/>
                          <a:cs typeface="Times New Roman" panose="02020703060505090304" pitchFamily="18" charset="0"/>
                        </a:rPr>
                        <a:t>Size</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4</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文件大小（以字节为单位）</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461376">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Addr</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60</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en-US" sz="1800" b="1" dirty="0">
                          <a:solidFill>
                            <a:srgbClr val="C00000"/>
                          </a:solidFill>
                          <a:effectLst/>
                          <a:latin typeface="华文中宋" panose="02010600040101010101" pitchFamily="2" charset="-122"/>
                          <a:ea typeface="华文中宋" panose="02010600040101010101" pitchFamily="2" charset="-122"/>
                        </a:rPr>
                        <a:t>12</a:t>
                      </a:r>
                      <a:r>
                        <a:rPr lang="zh-CN" altLang="en-US" sz="1800" dirty="0">
                          <a:effectLst/>
                          <a:latin typeface="华文中宋" panose="02010600040101010101" pitchFamily="2" charset="-122"/>
                          <a:ea typeface="华文中宋" panose="02010600040101010101" pitchFamily="2" charset="-122"/>
                        </a:rPr>
                        <a:t>个磁盘块及其后面</a:t>
                      </a:r>
                      <a:r>
                        <a:rPr lang="en-US" altLang="zh-CN" sz="1800" dirty="0">
                          <a:effectLst/>
                          <a:latin typeface="华文中宋" panose="02010600040101010101" pitchFamily="2" charset="-122"/>
                          <a:ea typeface="华文中宋" panose="02010600040101010101" pitchFamily="2" charset="-122"/>
                        </a:rPr>
                        <a:t>3</a:t>
                      </a:r>
                      <a:r>
                        <a:rPr lang="zh-CN" altLang="en-US" sz="1800" dirty="0">
                          <a:effectLst/>
                          <a:latin typeface="华文中宋" panose="02010600040101010101" pitchFamily="2" charset="-122"/>
                          <a:ea typeface="华文中宋" panose="02010600040101010101" pitchFamily="2" charset="-122"/>
                        </a:rPr>
                        <a:t>个间接块的地址</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461376">
                <a:tc>
                  <a:txBody>
                    <a:bodyPr/>
                    <a:lstStyle/>
                    <a:p>
                      <a:pPr algn="ctr"/>
                      <a:r>
                        <a:rPr lang="en-US" sz="1800" dirty="0">
                          <a:effectLst/>
                          <a:latin typeface="Times New Roman" panose="02020703060505090304" pitchFamily="18" charset="0"/>
                          <a:ea typeface="华文中宋" panose="02010600040101010101" pitchFamily="2" charset="-122"/>
                          <a:cs typeface="Times New Roman" panose="02020703060505090304" pitchFamily="18" charset="0"/>
                        </a:rPr>
                        <a:t>Gen</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1</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en-US" altLang="zh-CN" sz="1800" dirty="0">
                          <a:effectLst/>
                          <a:latin typeface="华文中宋" panose="02010600040101010101" pitchFamily="2" charset="-122"/>
                          <a:ea typeface="华文中宋" panose="02010600040101010101" pitchFamily="2" charset="-122"/>
                        </a:rPr>
                        <a:t>generation</a:t>
                      </a:r>
                      <a:r>
                        <a:rPr lang="zh-CN" altLang="en-US" sz="1800" dirty="0">
                          <a:effectLst/>
                          <a:latin typeface="华文中宋" panose="02010600040101010101" pitchFamily="2" charset="-122"/>
                          <a:ea typeface="华文中宋" panose="02010600040101010101" pitchFamily="2" charset="-122"/>
                        </a:rPr>
                        <a:t>数（每次</a:t>
                      </a:r>
                      <a:r>
                        <a:rPr lang="en-US" altLang="zh-CN" sz="1800" dirty="0" err="1">
                          <a:effectLst/>
                          <a:latin typeface="华文中宋" panose="02010600040101010101" pitchFamily="2" charset="-122"/>
                          <a:ea typeface="华文中宋" panose="02010600040101010101" pitchFamily="2" charset="-122"/>
                        </a:rPr>
                        <a:t>i</a:t>
                      </a:r>
                      <a:r>
                        <a:rPr lang="zh-CN" altLang="en-US" sz="1800" dirty="0">
                          <a:effectLst/>
                          <a:latin typeface="华文中宋" panose="02010600040101010101" pitchFamily="2" charset="-122"/>
                          <a:ea typeface="华文中宋" panose="02010600040101010101" pitchFamily="2" charset="-122"/>
                        </a:rPr>
                        <a:t>节点被重用时增加）</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461376">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Atime</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4</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最近访问文件的时间</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Mtime</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4</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最近修改文件的时间</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r h="379213">
                <a:tc>
                  <a:txBody>
                    <a:bodyPr/>
                    <a:lstStyle/>
                    <a:p>
                      <a:pPr algn="ctr"/>
                      <a:r>
                        <a:rPr lang="en-US" sz="1800" dirty="0" err="1">
                          <a:effectLst/>
                          <a:latin typeface="Times New Roman" panose="02020703060505090304" pitchFamily="18" charset="0"/>
                          <a:ea typeface="华文中宋" panose="02010600040101010101" pitchFamily="2" charset="-122"/>
                          <a:cs typeface="Times New Roman" panose="02020703060505090304" pitchFamily="18" charset="0"/>
                        </a:rPr>
                        <a:t>Ctime</a:t>
                      </a:r>
                      <a:endParaRPr lang="en-US" sz="1800" dirty="0">
                        <a:effectLst/>
                        <a:latin typeface="Times New Roman" panose="02020703060505090304" pitchFamily="18" charset="0"/>
                        <a:ea typeface="华文中宋" panose="02010600040101010101" pitchFamily="2" charset="-122"/>
                        <a:cs typeface="Times New Roman" panose="02020703060505090304" pitchFamily="18" charset="0"/>
                      </a:endParaRPr>
                    </a:p>
                  </a:txBody>
                  <a:tcPr marL="97490" marR="97490" marT="48745" marB="48745" anchor="ctr"/>
                </a:tc>
                <a:tc>
                  <a:txBody>
                    <a:bodyPr/>
                    <a:lstStyle/>
                    <a:p>
                      <a:pPr algn="ctr"/>
                      <a:r>
                        <a:rPr lang="en-US" sz="1800" dirty="0">
                          <a:effectLst/>
                          <a:latin typeface="华文中宋" panose="02010600040101010101" pitchFamily="2" charset="-122"/>
                          <a:ea typeface="华文中宋" panose="02010600040101010101" pitchFamily="2" charset="-122"/>
                        </a:rPr>
                        <a:t>4</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c>
                  <a:txBody>
                    <a:bodyPr/>
                    <a:lstStyle/>
                    <a:p>
                      <a:pPr algn="ctr"/>
                      <a:r>
                        <a:rPr lang="zh-CN" altLang="en-US" sz="1800" dirty="0">
                          <a:effectLst/>
                          <a:latin typeface="华文中宋" panose="02010600040101010101" pitchFamily="2" charset="-122"/>
                          <a:ea typeface="华文中宋" panose="02010600040101010101" pitchFamily="2" charset="-122"/>
                        </a:rPr>
                        <a:t>最近改变</a:t>
                      </a:r>
                      <a:r>
                        <a:rPr lang="en-US" altLang="zh-CN" sz="1800" dirty="0" err="1">
                          <a:effectLst/>
                          <a:latin typeface="华文中宋" panose="02010600040101010101" pitchFamily="2" charset="-122"/>
                          <a:ea typeface="华文中宋" panose="02010600040101010101" pitchFamily="2" charset="-122"/>
                        </a:rPr>
                        <a:t>i</a:t>
                      </a:r>
                      <a:r>
                        <a:rPr lang="zh-CN" altLang="en-US" sz="1800" dirty="0">
                          <a:effectLst/>
                          <a:latin typeface="华文中宋" panose="02010600040101010101" pitchFamily="2" charset="-122"/>
                          <a:ea typeface="华文中宋" panose="02010600040101010101" pitchFamily="2" charset="-122"/>
                        </a:rPr>
                        <a:t>节点的时间（除去其他时间）</a:t>
                      </a:r>
                      <a:endParaRPr lang="en-US" sz="1800" dirty="0">
                        <a:effectLst/>
                        <a:latin typeface="华文中宋" panose="02010600040101010101" pitchFamily="2" charset="-122"/>
                        <a:ea typeface="华文中宋" panose="02010600040101010101" pitchFamily="2" charset="-122"/>
                      </a:endParaRPr>
                    </a:p>
                  </a:txBody>
                  <a:tcPr marL="97490" marR="97490" marT="48745" marB="48745" anchor="ctr"/>
                </a:tc>
              </a:tr>
            </a:tbl>
          </a:graphicData>
        </a:graphic>
      </p:graphicFrame>
      <p:sp>
        <p:nvSpPr>
          <p:cNvPr id="6" name="Text Box 5"/>
          <p:cNvSpPr txBox="1">
            <a:spLocks noChangeArrowheads="1"/>
          </p:cNvSpPr>
          <p:nvPr/>
        </p:nvSpPr>
        <p:spPr bwMode="auto">
          <a:xfrm>
            <a:off x="4333699" y="6317334"/>
            <a:ext cx="352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703060505090304" pitchFamily="18" charset="0"/>
              </a:defRPr>
            </a:lvl1pPr>
            <a:lvl2pPr marL="742950" indent="-285750">
              <a:defRPr sz="2400">
                <a:solidFill>
                  <a:schemeClr val="tx1"/>
                </a:solidFill>
                <a:latin typeface="Times New Roman" panose="02020703060505090304" pitchFamily="18" charset="0"/>
              </a:defRPr>
            </a:lvl2pPr>
            <a:lvl3pPr marL="1143000" indent="-228600">
              <a:defRPr sz="2400">
                <a:solidFill>
                  <a:schemeClr val="tx1"/>
                </a:solidFill>
                <a:latin typeface="Times New Roman" panose="02020703060505090304" pitchFamily="18" charset="0"/>
              </a:defRPr>
            </a:lvl3pPr>
            <a:lvl4pPr marL="1600200" indent="-228600">
              <a:defRPr sz="2400">
                <a:solidFill>
                  <a:schemeClr val="tx1"/>
                </a:solidFill>
                <a:latin typeface="Times New Roman" panose="02020703060505090304" pitchFamily="18" charset="0"/>
              </a:defRPr>
            </a:lvl4pPr>
            <a:lvl5pPr marL="2057400" indent="-22860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defRPr sz="2400">
                <a:solidFill>
                  <a:schemeClr val="tx1"/>
                </a:solidFill>
                <a:latin typeface="Times New Roman" panose="02020703060505090304" pitchFamily="18" charset="0"/>
              </a:defRPr>
            </a:lvl9pPr>
          </a:lstStyle>
          <a:p>
            <a:pPr algn="ctr" eaLnBrk="1" hangingPunct="1"/>
            <a:r>
              <a:rPr lang="en-US" altLang="zh-CN" sz="2000" dirty="0">
                <a:latin typeface="微软雅黑" panose="020B0503020204020204" pitchFamily="34" charset="-122"/>
                <a:ea typeface="微软雅黑" panose="020B0503020204020204" pitchFamily="34" charset="-122"/>
              </a:rPr>
              <a:t>Linux</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节点结构中的一些域</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文件描述符表</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30</a:t>
            </a:r>
            <a:endParaRPr lang="zh-CN" altLang="en-US" dirty="0"/>
          </a:p>
        </p:txBody>
      </p:sp>
      <p:sp>
        <p:nvSpPr>
          <p:cNvPr id="9" name="矩形 8"/>
          <p:cNvSpPr/>
          <p:nvPr/>
        </p:nvSpPr>
        <p:spPr>
          <a:xfrm>
            <a:off x="441406" y="954491"/>
            <a:ext cx="10962043" cy="5575822"/>
          </a:xfrm>
          <a:prstGeom prst="rect">
            <a:avLst/>
          </a:prstGeom>
        </p:spPr>
        <p:txBody>
          <a:bodyPr wrap="square">
            <a:spAutoFit/>
          </a:bodyPr>
          <a:lstStyle/>
          <a:p>
            <a:pPr>
              <a:lnSpc>
                <a:spcPct val="150000"/>
              </a:lnSpc>
            </a:pPr>
            <a:r>
              <a:rPr lang="zh-CN" altLang="en-US" sz="2400" b="1" dirty="0"/>
              <a:t>概念： </a:t>
            </a:r>
            <a:r>
              <a:rPr lang="zh-CN" altLang="en-US" sz="2400" dirty="0"/>
              <a:t>文件描述符表是操作系统内核用于跟踪进程打开的文件和其他I/O资源的数据结构。每个进程都有自己的文件描述符表，用于管理其打开的文件、套接字、管道等资源。文件描述符是一个非负整数，用于唯一标识进程打开的每个文件或I/O资源。</a:t>
            </a:r>
            <a:endParaRPr lang="en-US" altLang="zh-CN" sz="2400" dirty="0"/>
          </a:p>
          <a:p>
            <a:pPr>
              <a:lnSpc>
                <a:spcPct val="150000"/>
              </a:lnSpc>
            </a:pPr>
            <a:endParaRPr lang="en-US" altLang="zh-CN" sz="2400" dirty="0"/>
          </a:p>
          <a:p>
            <a:pPr>
              <a:lnSpc>
                <a:spcPct val="150000"/>
              </a:lnSpc>
            </a:pPr>
            <a:r>
              <a:rPr lang="zh-CN" altLang="en-US" sz="2400" dirty="0"/>
              <a:t>当进程打开一个文件时，操作系统会分配一个文件描述符并在文件描述符表中记录文件的相关信息，如文件状态、文件位置等。</a:t>
            </a:r>
            <a:endParaRPr lang="en-US" altLang="zh-CN" sz="2400" dirty="0"/>
          </a:p>
          <a:p>
            <a:pPr>
              <a:lnSpc>
                <a:spcPct val="150000"/>
              </a:lnSpc>
            </a:pPr>
            <a:endParaRPr lang="en-US" altLang="zh-CN" sz="2400" dirty="0"/>
          </a:p>
          <a:p>
            <a:pPr>
              <a:lnSpc>
                <a:spcPct val="150000"/>
              </a:lnSpc>
            </a:pPr>
            <a:r>
              <a:rPr lang="zh-CN" altLang="en-US" sz="2400" dirty="0"/>
              <a:t>当进程关闭一个文件时，对应的文件描述符会被释放，并且相关的资源会被释放或者计数减少。关闭文件可以释放系统资源并避免资源泄漏。</a:t>
            </a:r>
            <a:endParaRPr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打开文件描述符</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30</a:t>
            </a:r>
            <a:endParaRPr lang="zh-CN" altLang="en-US" dirty="0"/>
          </a:p>
        </p:txBody>
      </p:sp>
      <p:sp>
        <p:nvSpPr>
          <p:cNvPr id="3" name="矩形 2"/>
          <p:cNvSpPr/>
          <p:nvPr/>
        </p:nvSpPr>
        <p:spPr>
          <a:xfrm>
            <a:off x="484092" y="930173"/>
            <a:ext cx="11048105" cy="5585247"/>
          </a:xfrm>
          <a:prstGeom prst="rect">
            <a:avLst/>
          </a:prstGeom>
        </p:spPr>
        <p:txBody>
          <a:bodyPr wrap="square">
            <a:spAutoFit/>
          </a:bodyPr>
          <a:lstStyle/>
          <a:p>
            <a:pPr>
              <a:lnSpc>
                <a:spcPct val="150000"/>
              </a:lnSpc>
            </a:pPr>
            <a:r>
              <a:rPr lang="zh-CN" altLang="en-US" sz="2000" b="1" dirty="0"/>
              <a:t>打开文件描述符： </a:t>
            </a:r>
            <a:r>
              <a:rPr lang="zh-CN" altLang="en-US" sz="2000" dirty="0"/>
              <a:t>每个打开的文件都有一个对应的"打开文件描述符"，它是一个数据结构，用于跟踪和管理该文件的各种信息，如文件状态、文件偏移量等。</a:t>
            </a:r>
            <a:endParaRPr lang="zh-CN" altLang="en-US" sz="2000" dirty="0"/>
          </a:p>
          <a:p>
            <a:pPr>
              <a:lnSpc>
                <a:spcPct val="150000"/>
              </a:lnSpc>
            </a:pPr>
            <a:endParaRPr lang="zh-CN" altLang="en-US" sz="2000" dirty="0"/>
          </a:p>
          <a:p>
            <a:pPr>
              <a:lnSpc>
                <a:spcPct val="150000"/>
              </a:lnSpc>
            </a:pPr>
            <a:r>
              <a:rPr lang="zh-CN" altLang="en-US" sz="2000" b="1" dirty="0"/>
              <a:t>关联关系： </a:t>
            </a:r>
            <a:r>
              <a:rPr lang="zh-CN" altLang="en-US" sz="2000" dirty="0"/>
              <a:t>当进程通过系统调用（如open()）打开一个文件时，操作系统会在内核中分配一个文件描述符，并创建一个与之相关联的"打开文件描述符"。然后，操作系统将这个文件描述符添加到进程的文件描述符表中，并将其与打开的文件关联起来。</a:t>
            </a:r>
            <a:endParaRPr lang="zh-CN" altLang="en-US" sz="2000" dirty="0"/>
          </a:p>
          <a:p>
            <a:pPr>
              <a:lnSpc>
                <a:spcPct val="150000"/>
              </a:lnSpc>
            </a:pPr>
            <a:endParaRPr lang="zh-CN" altLang="en-US" sz="2000" dirty="0"/>
          </a:p>
          <a:p>
            <a:pPr>
              <a:lnSpc>
                <a:spcPct val="150000"/>
              </a:lnSpc>
            </a:pPr>
            <a:r>
              <a:rPr lang="zh-CN" altLang="en-US" sz="2000" b="1" dirty="0"/>
              <a:t>访问和操作： </a:t>
            </a:r>
            <a:r>
              <a:rPr lang="zh-CN" altLang="en-US" sz="2000" dirty="0"/>
              <a:t>进程可以通过文件描述符来访问和操作打开的文件，而文件描述符表中的每一项都指向一个"打开文件描述符"，从而实现了对打开文件的管理和操作。</a:t>
            </a:r>
            <a:endParaRPr lang="zh-CN" altLang="en-US" sz="2000" dirty="0"/>
          </a:p>
          <a:p>
            <a:pPr>
              <a:lnSpc>
                <a:spcPct val="150000"/>
              </a:lnSpc>
            </a:pPr>
            <a:endParaRPr lang="zh-CN" altLang="en-US" sz="2000" dirty="0"/>
          </a:p>
          <a:p>
            <a:pPr>
              <a:lnSpc>
                <a:spcPct val="150000"/>
              </a:lnSpc>
            </a:pPr>
            <a:r>
              <a:rPr lang="zh-CN" altLang="en-US" sz="2000" dirty="0"/>
              <a:t>总之，文件描述符表中的每一项都指向一个"打开文件描述符"，而"打开文件描述符"则包含了与打开文件相关的所有信息。通过这种关联关系，操作系统实现了对进程打开的文件的管理和操作。</a:t>
            </a:r>
            <a:endParaRPr lang="zh-CN" alt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51114" y="1268568"/>
            <a:ext cx="6289769" cy="5134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定位读写位置</a:t>
            </a:r>
            <a:endParaRPr lang="en-US" altLang="zh-CN" sz="3200" b="1"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r>
              <a:rPr lang="zh-CN" altLang="en-US" sz="2400" dirty="0">
                <a:latin typeface="微软雅黑" panose="020B0503020204020204" pitchFamily="34" charset="-122"/>
                <a:ea typeface="微软雅黑" panose="020B0503020204020204" pitchFamily="34" charset="-122"/>
              </a:rPr>
              <a:t>技巧：在文件描述符表和</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节点表之间引入打开文件描述表</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30</a:t>
            </a:r>
            <a:endParaRPr lang="zh-CN" altLang="en-US" dirty="0"/>
          </a:p>
        </p:txBody>
      </p:sp>
      <p:sp>
        <p:nvSpPr>
          <p:cNvPr id="6" name="Rectangle 3"/>
          <p:cNvSpPr txBox="1">
            <a:spLocks noChangeArrowheads="1"/>
          </p:cNvSpPr>
          <p:nvPr/>
        </p:nvSpPr>
        <p:spPr>
          <a:xfrm>
            <a:off x="3402869" y="6403540"/>
            <a:ext cx="5386257" cy="45446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Tx/>
              <a:buNone/>
            </a:pPr>
            <a:r>
              <a:rPr lang="zh-CN" altLang="en-US" sz="2000" dirty="0">
                <a:latin typeface="微软雅黑" panose="020B0503020204020204" pitchFamily="34" charset="-122"/>
                <a:ea typeface="微软雅黑" panose="020B0503020204020204" pitchFamily="34" charset="-122"/>
              </a:rPr>
              <a:t>文件描述符表、打开文件表与</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节点表之间的关系</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200700" y="1651544"/>
            <a:ext cx="5790591" cy="4727442"/>
            <a:chOff x="3985260" y="2221141"/>
            <a:chExt cx="4979609" cy="4065356"/>
          </a:xfrm>
        </p:grpSpPr>
        <p:pic>
          <p:nvPicPr>
            <p:cNvPr id="7"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85260" y="2221141"/>
              <a:ext cx="4979609" cy="4065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4037744" y="4909370"/>
              <a:ext cx="1655957"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答案：</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cs typeface="Times New Roman" panose="02020703060505090304" pitchFamily="18" charset="0"/>
                </a:rPr>
                <a:t>16843020KB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r>
                <a:rPr lang="zh-CN" altLang="en-US"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16448.3MB </a:t>
              </a:r>
              <a:endParaRPr lang="en-US" altLang="zh-CN" dirty="0">
                <a:latin typeface="微软雅黑" panose="020B0503020204020204" pitchFamily="34" charset="-122"/>
                <a:ea typeface="微软雅黑" panose="020B0503020204020204" pitchFamily="34" charset="-122"/>
                <a:cs typeface="Times New Roman" panose="02020703060505090304" pitchFamily="18" charset="0"/>
              </a:endParaRPr>
            </a:p>
            <a:p>
              <a:r>
                <a:rPr lang="zh-CN" altLang="en-US"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dirty="0">
                  <a:latin typeface="微软雅黑" panose="020B0503020204020204" pitchFamily="34" charset="-122"/>
                  <a:ea typeface="微软雅黑" panose="020B0503020204020204" pitchFamily="34" charset="-122"/>
                  <a:cs typeface="Times New Roman" panose="02020703060505090304" pitchFamily="18" charset="0"/>
                </a:rPr>
                <a:t> 16.1GB</a:t>
              </a:r>
              <a:endParaRPr lang="zh-CN" altLang="en-US" dirty="0">
                <a:latin typeface="微软雅黑" panose="020B0503020204020204" pitchFamily="34" charset="-122"/>
                <a:ea typeface="微软雅黑" panose="020B0503020204020204" pitchFamily="34" charset="-122"/>
                <a:cs typeface="Times New Roman" panose="02020703060505090304" pitchFamily="18" charset="0"/>
              </a:endParaRPr>
            </a:p>
          </p:txBody>
        </p:sp>
      </p:grpSp>
      <p:sp>
        <p:nvSpPr>
          <p:cNvPr id="2" name="文本占位符 1"/>
          <p:cNvSpPr>
            <a:spLocks noGrp="1"/>
          </p:cNvSpPr>
          <p:nvPr>
            <p:ph type="body" sz="quarter" idx="10"/>
          </p:nvPr>
        </p:nvSpPr>
        <p:spPr/>
        <p:txBody>
          <a:bodyPr/>
          <a:lstStyle/>
          <a:p>
            <a:r>
              <a:rPr lang="en-US" altLang="zh-CN" sz="3200" b="1" dirty="0">
                <a:solidFill>
                  <a:prstClr val="black"/>
                </a:solidFill>
                <a:latin typeface="微软雅黑" panose="020B0503020204020204" pitchFamily="34" charset="-122"/>
                <a:ea typeface="微软雅黑" panose="020B0503020204020204" pitchFamily="34" charset="-122"/>
              </a:rPr>
              <a:t>Linux ext2 </a:t>
            </a:r>
            <a:r>
              <a:rPr lang="zh-CN" altLang="en-US" sz="3200" b="1" dirty="0">
                <a:solidFill>
                  <a:prstClr val="black"/>
                </a:solidFill>
                <a:latin typeface="微软雅黑" panose="020B0503020204020204" pitchFamily="34" charset="-122"/>
                <a:ea typeface="微软雅黑" panose="020B0503020204020204" pitchFamily="34" charset="-122"/>
              </a:rPr>
              <a:t>文件系统</a:t>
            </a:r>
            <a:endParaRPr lang="en-US" altLang="zh-CN" sz="3200" b="1"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r>
              <a:rPr lang="zh-CN" altLang="en-US" sz="2400" dirty="0">
                <a:solidFill>
                  <a:prstClr val="black"/>
                </a:solidFill>
                <a:latin typeface="微软雅黑" panose="020B0503020204020204" pitchFamily="34" charset="-122"/>
                <a:ea typeface="微软雅黑" panose="020B0503020204020204" pitchFamily="34" charset="-122"/>
              </a:rPr>
              <a:t>想一想：如果一个磁盘块大小为</a:t>
            </a:r>
            <a:r>
              <a:rPr lang="en-US" altLang="zh-CN" sz="2400" dirty="0">
                <a:solidFill>
                  <a:prstClr val="black"/>
                </a:solidFill>
                <a:latin typeface="微软雅黑" panose="020B0503020204020204" pitchFamily="34" charset="-122"/>
                <a:ea typeface="微软雅黑" panose="020B0503020204020204" pitchFamily="34" charset="-122"/>
              </a:rPr>
              <a:t>1KB</a:t>
            </a:r>
            <a:r>
              <a:rPr lang="zh-CN" altLang="en-US" sz="2400" dirty="0">
                <a:solidFill>
                  <a:prstClr val="black"/>
                </a:solidFill>
                <a:latin typeface="微软雅黑" panose="020B0503020204020204" pitchFamily="34" charset="-122"/>
                <a:ea typeface="微软雅黑" panose="020B0503020204020204" pitchFamily="34" charset="-122"/>
              </a:rPr>
              <a:t>，磁盘块地址长度为</a:t>
            </a:r>
            <a:r>
              <a:rPr lang="en-US" altLang="zh-CN" sz="2400" dirty="0">
                <a:solidFill>
                  <a:prstClr val="black"/>
                </a:solidFill>
                <a:latin typeface="微软雅黑" panose="020B0503020204020204" pitchFamily="34" charset="-122"/>
                <a:ea typeface="微软雅黑" panose="020B0503020204020204" pitchFamily="34" charset="-122"/>
              </a:rPr>
              <a:t>4byte</a:t>
            </a:r>
            <a:r>
              <a:rPr lang="zh-CN" altLang="en-US" sz="2400" dirty="0">
                <a:solidFill>
                  <a:prstClr val="black"/>
                </a:solidFill>
                <a:latin typeface="微软雅黑" panose="020B0503020204020204" pitchFamily="34" charset="-122"/>
                <a:ea typeface="微软雅黑" panose="020B0503020204020204" pitchFamily="34" charset="-122"/>
              </a:rPr>
              <a:t>，那么如图所示</a:t>
            </a:r>
            <a:r>
              <a:rPr lang="en-US" altLang="zh-CN" sz="2400" dirty="0" err="1">
                <a:solidFill>
                  <a:prstClr val="black"/>
                </a:solidFill>
                <a:latin typeface="微软雅黑" panose="020B0503020204020204" pitchFamily="34" charset="-122"/>
                <a:ea typeface="微软雅黑" panose="020B0503020204020204" pitchFamily="34" charset="-122"/>
              </a:rPr>
              <a:t>i</a:t>
            </a:r>
            <a:r>
              <a:rPr lang="zh-CN" altLang="en-US" sz="2400" dirty="0">
                <a:solidFill>
                  <a:prstClr val="black"/>
                </a:solidFill>
                <a:latin typeface="微软雅黑" panose="020B0503020204020204" pitchFamily="34" charset="-122"/>
                <a:ea typeface="微软雅黑" panose="020B0503020204020204" pitchFamily="34" charset="-122"/>
              </a:rPr>
              <a:t>节点最大能适用于多大长度的文件？</a:t>
            </a:r>
            <a:endParaRPr lang="en-US" altLang="zh-CN" sz="24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31</a:t>
            </a:r>
            <a:endParaRPr lang="zh-CN" altLang="en-US" dirty="0"/>
          </a:p>
        </p:txBody>
      </p:sp>
      <p:sp>
        <p:nvSpPr>
          <p:cNvPr id="5" name="Rectangle 3"/>
          <p:cNvSpPr txBox="1">
            <a:spLocks noChangeArrowheads="1"/>
          </p:cNvSpPr>
          <p:nvPr/>
        </p:nvSpPr>
        <p:spPr>
          <a:xfrm>
            <a:off x="3261732" y="6419626"/>
            <a:ext cx="5527393" cy="41101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2000" dirty="0">
                <a:latin typeface="微软雅黑" panose="020B0503020204020204" pitchFamily="34" charset="-122"/>
                <a:ea typeface="微软雅黑" panose="020B0503020204020204" pitchFamily="34" charset="-122"/>
              </a:rPr>
              <a:t>文件描述符表、打开文件表与</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节点表之间的关系</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3200" b="1" dirty="0">
                <a:solidFill>
                  <a:srgbClr val="C00000"/>
                </a:solidFill>
                <a:latin typeface="微软雅黑" panose="020B0503020204020204" pitchFamily="34" charset="-122"/>
                <a:ea typeface="微软雅黑" panose="020B0503020204020204" pitchFamily="34" charset="-122"/>
              </a:rPr>
              <a:t>Linux</a:t>
            </a:r>
            <a:r>
              <a:rPr lang="zh-CN" altLang="en-US" sz="3200" b="1" dirty="0">
                <a:solidFill>
                  <a:srgbClr val="C00000"/>
                </a:solidFill>
                <a:latin typeface="微软雅黑" panose="020B0503020204020204" pitchFamily="34" charset="-122"/>
                <a:ea typeface="微软雅黑" panose="020B0503020204020204" pitchFamily="34" charset="-122"/>
              </a:rPr>
              <a:t>的安全性</a:t>
            </a:r>
            <a:endParaRPr lang="en-US" altLang="zh-CN" sz="3200" b="1" dirty="0">
              <a:solidFill>
                <a:srgbClr val="C00000"/>
              </a:solidFill>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a:xfrm>
            <a:off x="957943" y="905404"/>
            <a:ext cx="9496697" cy="387941"/>
          </a:xfrm>
        </p:spPr>
        <p:txBody>
          <a:bodyPr/>
          <a:lstStyle/>
          <a:p>
            <a:pPr marL="342900" indent="-3429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一个</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Linux</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系统的用户群体由一定数量的注册用户组成，其中每个用户拥有一个唯一的</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UID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（用户</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），是一个介于</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0~65535</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之间的整数。</a:t>
            </a:r>
            <a:endParaRPr lang="en-US" altLang="zh-CN" sz="20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50000"/>
              </a:lnSpc>
              <a:buFont typeface="+mj-lt"/>
              <a:buAutoNum type="arabicPeriod"/>
            </a:pP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用户可以被分组，其中每组同样由一个</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16</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位的整数标记，叫做</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GID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（组</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50000"/>
              </a:lnSpc>
              <a:buFont typeface="+mj-lt"/>
              <a:buAutoNum type="arabicPeriod"/>
            </a:pP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Linux</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中的基本安全机制很简单。每个进程记录它的所有者的</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UID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和</a:t>
            </a:r>
            <a:r>
              <a:rPr lang="en-US" altLang="zh-CN" sz="2000" dirty="0">
                <a:latin typeface="微软雅黑" panose="020B0503020204020204" pitchFamily="34" charset="-122"/>
                <a:ea typeface="微软雅黑" panose="020B0503020204020204" pitchFamily="34" charset="-122"/>
                <a:cs typeface="Times New Roman" panose="02020703060505090304" pitchFamily="18" charset="0"/>
              </a:rPr>
              <a:t>GID</a:t>
            </a:r>
            <a:r>
              <a:rPr lang="zh-CN" altLang="en-US" sz="2000" dirty="0">
                <a:latin typeface="微软雅黑" panose="020B0503020204020204" pitchFamily="34" charset="-122"/>
                <a:ea typeface="微软雅黑" panose="020B0503020204020204" pitchFamily="34" charset="-122"/>
                <a:cs typeface="Times New Roman" panose="02020703060505090304" pitchFamily="18" charset="0"/>
              </a:rPr>
              <a:t>。</a:t>
            </a:r>
            <a:endParaRPr lang="zh-CN" altLang="en-US" sz="20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50000"/>
              </a:lnSpc>
            </a:pPr>
            <a:endParaRPr lang="zh-CN" altLang="en-US" sz="2000" dirty="0"/>
          </a:p>
        </p:txBody>
      </p:sp>
      <p:sp>
        <p:nvSpPr>
          <p:cNvPr id="4" name="文本占位符 3"/>
          <p:cNvSpPr>
            <a:spLocks noGrp="1"/>
          </p:cNvSpPr>
          <p:nvPr>
            <p:ph type="body" sz="quarter" idx="15"/>
          </p:nvPr>
        </p:nvSpPr>
        <p:spPr/>
        <p:txBody>
          <a:bodyPr/>
          <a:lstStyle/>
          <a:p>
            <a:r>
              <a:rPr lang="en-US" altLang="zh-CN" dirty="0"/>
              <a:t>32</a:t>
            </a:r>
            <a:endParaRPr lang="zh-CN" altLang="en-US" dirty="0"/>
          </a:p>
        </p:txBody>
      </p:sp>
      <p:graphicFrame>
        <p:nvGraphicFramePr>
          <p:cNvPr id="31" name="表格 30"/>
          <p:cNvGraphicFramePr>
            <a:graphicFrameLocks noGrp="1"/>
          </p:cNvGraphicFramePr>
          <p:nvPr/>
        </p:nvGraphicFramePr>
        <p:xfrm>
          <a:off x="2793441" y="3269336"/>
          <a:ext cx="6745679" cy="2966720"/>
        </p:xfrm>
        <a:graphic>
          <a:graphicData uri="http://schemas.openxmlformats.org/drawingml/2006/table">
            <a:tbl>
              <a:tblPr firstRow="1" bandRow="1">
                <a:tableStyleId>{5940675A-B579-460E-94D1-54222C63F5DA}</a:tableStyleId>
              </a:tblPr>
              <a:tblGrid>
                <a:gridCol w="1236087"/>
                <a:gridCol w="1233752"/>
                <a:gridCol w="4275840"/>
              </a:tblGrid>
              <a:tr h="370840">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二进制</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标记</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允许的文件访问权限</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111000000</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rwx</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所有者可以读、写和执行</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111111000</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rwxrwx</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所有者和组可以读，写和执行</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110100000</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-r-----</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所有者可以读和写；组可以读</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110100100</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-r--r--</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所有者可以读和写，其他人可以读</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111101101</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rwxr</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a:t>
                      </a:r>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xr</a:t>
                      </a:r>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-x</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所有者拥有所有权限，其他人也可以读和执行</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000000000</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所有人都不拥有任何权限</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r h="370840">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000000111</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en-US" altLang="zh-CN" sz="1400" dirty="0">
                          <a:latin typeface="华文中宋" panose="02010600040101010101" pitchFamily="2" charset="-122"/>
                          <a:ea typeface="华文中宋" panose="02010600040101010101" pitchFamily="2" charset="-122"/>
                          <a:cs typeface="Times New Roman" panose="02020703060505090304" pitchFamily="18" charset="0"/>
                        </a:rPr>
                        <a:t>------</a:t>
                      </a:r>
                      <a:r>
                        <a:rPr lang="en-US" altLang="zh-CN" sz="1400" dirty="0" err="1">
                          <a:latin typeface="华文中宋" panose="02010600040101010101" pitchFamily="2" charset="-122"/>
                          <a:ea typeface="华文中宋" panose="02010600040101010101" pitchFamily="2" charset="-122"/>
                          <a:cs typeface="Times New Roman" panose="02020703060505090304" pitchFamily="18" charset="0"/>
                        </a:rPr>
                        <a:t>rwx</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c>
                  <a:txBody>
                    <a:bodyPr/>
                    <a:lstStyle/>
                    <a:p>
                      <a:r>
                        <a:rPr lang="zh-CN" altLang="en-US" sz="1400" dirty="0">
                          <a:latin typeface="华文中宋" panose="02010600040101010101" pitchFamily="2" charset="-122"/>
                          <a:ea typeface="华文中宋" panose="02010600040101010101" pitchFamily="2" charset="-122"/>
                          <a:cs typeface="Times New Roman" panose="02020703060505090304" pitchFamily="18" charset="0"/>
                        </a:rPr>
                        <a:t>只有组意外的其他用户拥有所有权限（奇怪但合法）</a:t>
                      </a:r>
                      <a:endParaRPr lang="zh-CN" altLang="en-US" sz="1400" dirty="0">
                        <a:latin typeface="华文中宋" panose="02010600040101010101" pitchFamily="2" charset="-122"/>
                        <a:ea typeface="华文中宋" panose="02010600040101010101" pitchFamily="2" charset="-122"/>
                        <a:cs typeface="Times New Roman" panose="02020703060505090304" pitchFamily="18" charset="0"/>
                      </a:endParaRPr>
                    </a:p>
                  </a:txBody>
                  <a:tcPr/>
                </a:tc>
              </a:tr>
            </a:tbl>
          </a:graphicData>
        </a:graphic>
      </p:graphicFrame>
      <p:sp>
        <p:nvSpPr>
          <p:cNvPr id="32" name="Rectangle 3"/>
          <p:cNvSpPr txBox="1">
            <a:spLocks noChangeArrowheads="1"/>
          </p:cNvSpPr>
          <p:nvPr/>
        </p:nvSpPr>
        <p:spPr>
          <a:xfrm>
            <a:off x="2280080" y="6392127"/>
            <a:ext cx="7772400" cy="654050"/>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1800">
                <a:latin typeface="微软雅黑" panose="020B0503020204020204" pitchFamily="34" charset="-122"/>
                <a:ea typeface="微软雅黑" panose="020B0503020204020204" pitchFamily="34" charset="-122"/>
              </a:rPr>
              <a:t>文件保护模式示例</a:t>
            </a:r>
            <a:endParaRPr lang="zh-CN" altLang="en-US" sz="1800" dirty="0">
              <a:latin typeface="微软雅黑" panose="020B0503020204020204" pitchFamily="34" charset="-122"/>
              <a:ea typeface="微软雅黑" panose="020B0503020204020204" pitchFamily="34" charset="-122"/>
            </a:endParaRPr>
          </a:p>
        </p:txBody>
      </p:sp>
      <p:sp>
        <p:nvSpPr>
          <p:cNvPr id="33" name="灯片编号占位符 5"/>
          <p:cNvSpPr txBox="1"/>
          <p:nvPr/>
        </p:nvSpPr>
        <p:spPr>
          <a:xfrm>
            <a:off x="8052559" y="6063400"/>
            <a:ext cx="2057757" cy="365125"/>
          </a:xfrm>
          <a:prstGeom prst="rect">
            <a:avLst/>
          </a:prstGeom>
          <a:noFill/>
        </p:spPr>
        <p:txBody>
          <a:bodyPr/>
          <a:lstStyle>
            <a:defPPr>
              <a:defRPr lang="en-US"/>
            </a:defPPr>
            <a:lvl1pPr marL="0" algn="l" defTabSz="457200" rtl="0" eaLnBrk="1" latinLnBrk="0" hangingPunct="1">
              <a:defRPr sz="2400" kern="1200">
                <a:solidFill>
                  <a:schemeClr val="tx1"/>
                </a:solidFill>
                <a:latin typeface="Times New Roman" panose="02020703060505090304" pitchFamily="18" charset="0"/>
                <a:ea typeface="+mn-ea"/>
                <a:cs typeface="+mn-cs"/>
              </a:defRPr>
            </a:lvl1pPr>
            <a:lvl2pPr marL="742950" indent="-285750" algn="l" defTabSz="457200" rtl="0" eaLnBrk="1" latinLnBrk="0" hangingPunct="1">
              <a:defRPr sz="2400" kern="1200">
                <a:solidFill>
                  <a:schemeClr val="tx1"/>
                </a:solidFill>
                <a:latin typeface="Times New Roman" panose="02020703060505090304" pitchFamily="18" charset="0"/>
                <a:ea typeface="+mn-ea"/>
                <a:cs typeface="+mn-cs"/>
              </a:defRPr>
            </a:lvl2pPr>
            <a:lvl3pPr marL="1143000" indent="-228600" algn="l" defTabSz="457200" rtl="0" eaLnBrk="1" latinLnBrk="0" hangingPunct="1">
              <a:defRPr sz="2400" kern="1200">
                <a:solidFill>
                  <a:schemeClr val="tx1"/>
                </a:solidFill>
                <a:latin typeface="Times New Roman" panose="02020703060505090304" pitchFamily="18" charset="0"/>
                <a:ea typeface="+mn-ea"/>
                <a:cs typeface="+mn-cs"/>
              </a:defRPr>
            </a:lvl3pPr>
            <a:lvl4pPr marL="1600200" indent="-228600" algn="l" defTabSz="457200" rtl="0" eaLnBrk="1" latinLnBrk="0" hangingPunct="1">
              <a:defRPr sz="2400" kern="1200">
                <a:solidFill>
                  <a:schemeClr val="tx1"/>
                </a:solidFill>
                <a:latin typeface="Times New Roman" panose="02020703060505090304" pitchFamily="18" charset="0"/>
                <a:ea typeface="+mn-ea"/>
                <a:cs typeface="+mn-cs"/>
              </a:defRPr>
            </a:lvl4pPr>
            <a:lvl5pPr marL="2057400" indent="-228600" algn="l" defTabSz="457200" rtl="0" eaLnBrk="1" latinLnBrk="0" hangingPunct="1">
              <a:defRPr sz="2400" kern="1200">
                <a:solidFill>
                  <a:schemeClr val="tx1"/>
                </a:solidFill>
                <a:latin typeface="Times New Roman" panose="02020703060505090304" pitchFamily="18" charset="0"/>
                <a:ea typeface="+mn-ea"/>
                <a:cs typeface="+mn-cs"/>
              </a:defRPr>
            </a:lvl5pPr>
            <a:lvl6pPr marL="2514600" indent="-228600" algn="l" defTabSz="457200" rtl="0" eaLnBrk="0" fontAlgn="base" latinLnBrk="0" hangingPunct="0">
              <a:spcBef>
                <a:spcPct val="0"/>
              </a:spcBef>
              <a:spcAft>
                <a:spcPct val="0"/>
              </a:spcAft>
              <a:defRPr sz="2400" kern="1200">
                <a:solidFill>
                  <a:schemeClr val="tx1"/>
                </a:solidFill>
                <a:latin typeface="Times New Roman" panose="02020703060505090304" pitchFamily="18" charset="0"/>
                <a:ea typeface="+mn-ea"/>
                <a:cs typeface="+mn-cs"/>
              </a:defRPr>
            </a:lvl6pPr>
            <a:lvl7pPr marL="2971800" indent="-228600" algn="l" defTabSz="457200" rtl="0" eaLnBrk="0" fontAlgn="base" latinLnBrk="0" hangingPunct="0">
              <a:spcBef>
                <a:spcPct val="0"/>
              </a:spcBef>
              <a:spcAft>
                <a:spcPct val="0"/>
              </a:spcAft>
              <a:defRPr sz="2400" kern="1200">
                <a:solidFill>
                  <a:schemeClr val="tx1"/>
                </a:solidFill>
                <a:latin typeface="Times New Roman" panose="02020703060505090304" pitchFamily="18" charset="0"/>
                <a:ea typeface="+mn-ea"/>
                <a:cs typeface="+mn-cs"/>
              </a:defRPr>
            </a:lvl7pPr>
            <a:lvl8pPr marL="3429000" indent="-228600" algn="l" defTabSz="457200" rtl="0" eaLnBrk="0" fontAlgn="base" latinLnBrk="0" hangingPunct="0">
              <a:spcBef>
                <a:spcPct val="0"/>
              </a:spcBef>
              <a:spcAft>
                <a:spcPct val="0"/>
              </a:spcAft>
              <a:defRPr sz="2400" kern="1200">
                <a:solidFill>
                  <a:schemeClr val="tx1"/>
                </a:solidFill>
                <a:latin typeface="Times New Roman" panose="02020703060505090304" pitchFamily="18" charset="0"/>
                <a:ea typeface="+mn-ea"/>
                <a:cs typeface="+mn-cs"/>
              </a:defRPr>
            </a:lvl8pPr>
            <a:lvl9pPr marL="3886200" indent="-228600" algn="l" defTabSz="457200" rtl="0" eaLnBrk="0" fontAlgn="base" latinLnBrk="0" hangingPunct="0">
              <a:spcBef>
                <a:spcPct val="0"/>
              </a:spcBef>
              <a:spcAft>
                <a:spcPct val="0"/>
              </a:spcAft>
              <a:defRPr sz="2400" kern="1200">
                <a:solidFill>
                  <a:schemeClr val="tx1"/>
                </a:solidFill>
                <a:latin typeface="Times New Roman" panose="02020703060505090304" pitchFamily="18" charset="0"/>
                <a:ea typeface="+mn-ea"/>
                <a:cs typeface="+mn-cs"/>
              </a:defRPr>
            </a:lvl9pPr>
          </a:lstStyle>
          <a:p>
            <a:fld id="{02F26FC6-514A-48EC-A605-DF5AF89C1C70}" type="slidenum">
              <a:rPr lang="zh-CN" altLang="en-US" sz="1400" smtClean="0"/>
            </a:fld>
            <a:endParaRPr lang="en-US" altLang="zh-CN" sz="1400"/>
          </a:p>
        </p:txBody>
      </p:sp>
      <p:grpSp>
        <p:nvGrpSpPr>
          <p:cNvPr id="34" name="组合 33"/>
          <p:cNvGrpSpPr/>
          <p:nvPr/>
        </p:nvGrpSpPr>
        <p:grpSpPr>
          <a:xfrm>
            <a:off x="2734250" y="5990890"/>
            <a:ext cx="742871" cy="793936"/>
            <a:chOff x="904699" y="5927076"/>
            <a:chExt cx="742871" cy="793936"/>
          </a:xfrm>
        </p:grpSpPr>
        <p:sp>
          <p:nvSpPr>
            <p:cNvPr id="35" name="右大括号 34"/>
            <p:cNvSpPr/>
            <p:nvPr/>
          </p:nvSpPr>
          <p:spPr>
            <a:xfrm rot="5400000" flipV="1">
              <a:off x="947311" y="6038889"/>
              <a:ext cx="549650" cy="326024"/>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36" name="文本框 35"/>
            <p:cNvSpPr txBox="1"/>
            <p:nvPr/>
          </p:nvSpPr>
          <p:spPr>
            <a:xfrm>
              <a:off x="904699" y="6444013"/>
              <a:ext cx="742871" cy="276999"/>
            </a:xfrm>
            <a:prstGeom prst="rect">
              <a:avLst/>
            </a:prstGeom>
            <a:noFill/>
          </p:spPr>
          <p:txBody>
            <a:bodyPr wrap="square" rtlCol="0">
              <a:spAutoFit/>
            </a:bodyPr>
            <a:lstStyle/>
            <a:p>
              <a:pPr algn="ctr"/>
              <a:r>
                <a:rPr lang="zh-CN" altLang="en-US" sz="1200" dirty="0">
                  <a:latin typeface="华文中宋" panose="02010600040101010101" pitchFamily="2" charset="-122"/>
                  <a:ea typeface="华文中宋" panose="02010600040101010101" pitchFamily="2" charset="-122"/>
                </a:rPr>
                <a:t>所有者</a:t>
              </a:r>
              <a:endParaRPr lang="zh-CN" altLang="en-US" sz="1200" dirty="0">
                <a:latin typeface="华文中宋" panose="02010600040101010101" pitchFamily="2" charset="-122"/>
                <a:ea typeface="华文中宋" panose="02010600040101010101" pitchFamily="2" charset="-122"/>
              </a:endParaRPr>
            </a:p>
          </p:txBody>
        </p:sp>
      </p:grpSp>
      <p:grpSp>
        <p:nvGrpSpPr>
          <p:cNvPr id="37" name="组合 36"/>
          <p:cNvGrpSpPr/>
          <p:nvPr/>
        </p:nvGrpSpPr>
        <p:grpSpPr>
          <a:xfrm>
            <a:off x="3028050" y="5991036"/>
            <a:ext cx="742871" cy="647142"/>
            <a:chOff x="861446" y="5952893"/>
            <a:chExt cx="742871" cy="647142"/>
          </a:xfrm>
        </p:grpSpPr>
        <p:sp>
          <p:nvSpPr>
            <p:cNvPr id="38" name="右大括号 37"/>
            <p:cNvSpPr/>
            <p:nvPr/>
          </p:nvSpPr>
          <p:spPr>
            <a:xfrm rot="5400000" flipV="1">
              <a:off x="1051249" y="5972444"/>
              <a:ext cx="365125" cy="326024"/>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39" name="文本框 38"/>
            <p:cNvSpPr txBox="1"/>
            <p:nvPr/>
          </p:nvSpPr>
          <p:spPr>
            <a:xfrm>
              <a:off x="861446" y="6323036"/>
              <a:ext cx="742871" cy="276999"/>
            </a:xfrm>
            <a:prstGeom prst="rect">
              <a:avLst/>
            </a:prstGeom>
            <a:noFill/>
          </p:spPr>
          <p:txBody>
            <a:bodyPr wrap="square" rtlCol="0">
              <a:spAutoFit/>
            </a:bodyPr>
            <a:lstStyle/>
            <a:p>
              <a:pPr algn="ctr"/>
              <a:r>
                <a:rPr lang="zh-CN" altLang="en-US" sz="1200" dirty="0">
                  <a:latin typeface="华文中宋" panose="02010600040101010101" pitchFamily="2" charset="-122"/>
                  <a:ea typeface="华文中宋" panose="02010600040101010101" pitchFamily="2" charset="-122"/>
                </a:rPr>
                <a:t>组</a:t>
              </a:r>
              <a:endParaRPr lang="zh-CN" altLang="en-US" sz="1200" dirty="0">
                <a:latin typeface="华文中宋" panose="02010600040101010101" pitchFamily="2" charset="-122"/>
                <a:ea typeface="华文中宋" panose="02010600040101010101" pitchFamily="2" charset="-122"/>
              </a:endParaRPr>
            </a:p>
          </p:txBody>
        </p:sp>
      </p:grpSp>
      <p:grpSp>
        <p:nvGrpSpPr>
          <p:cNvPr id="40" name="组合 39"/>
          <p:cNvGrpSpPr/>
          <p:nvPr/>
        </p:nvGrpSpPr>
        <p:grpSpPr>
          <a:xfrm>
            <a:off x="3353389" y="6063400"/>
            <a:ext cx="742871" cy="481965"/>
            <a:chOff x="861851" y="5925172"/>
            <a:chExt cx="742871" cy="481965"/>
          </a:xfrm>
        </p:grpSpPr>
        <p:sp>
          <p:nvSpPr>
            <p:cNvPr id="41" name="右大括号 40"/>
            <p:cNvSpPr/>
            <p:nvPr/>
          </p:nvSpPr>
          <p:spPr>
            <a:xfrm rot="5400000" flipV="1">
              <a:off x="1169381" y="5826066"/>
              <a:ext cx="127812" cy="326024"/>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42" name="文本框 41"/>
            <p:cNvSpPr txBox="1"/>
            <p:nvPr/>
          </p:nvSpPr>
          <p:spPr>
            <a:xfrm>
              <a:off x="861851" y="6130138"/>
              <a:ext cx="742871" cy="276999"/>
            </a:xfrm>
            <a:prstGeom prst="rect">
              <a:avLst/>
            </a:prstGeom>
            <a:noFill/>
          </p:spPr>
          <p:txBody>
            <a:bodyPr wrap="square" rtlCol="0">
              <a:spAutoFit/>
            </a:bodyPr>
            <a:lstStyle/>
            <a:p>
              <a:pPr algn="ctr"/>
              <a:r>
                <a:rPr lang="zh-CN" altLang="en-US" sz="1200" dirty="0">
                  <a:latin typeface="华文中宋" panose="02010600040101010101" pitchFamily="2" charset="-122"/>
                  <a:ea typeface="华文中宋" panose="02010600040101010101" pitchFamily="2" charset="-122"/>
                </a:rPr>
                <a:t>其他人</a:t>
              </a:r>
              <a:endParaRPr lang="zh-CN" altLang="en-US" sz="1200" dirty="0">
                <a:latin typeface="华文中宋" panose="02010600040101010101" pitchFamily="2" charset="-122"/>
                <a:ea typeface="华文中宋" panose="02010600040101010101" pitchFamily="2" charset="-122"/>
              </a:endParaRPr>
            </a:p>
          </p:txBody>
        </p:sp>
      </p:grpSp>
      <p:grpSp>
        <p:nvGrpSpPr>
          <p:cNvPr id="43" name="组合 42"/>
          <p:cNvGrpSpPr/>
          <p:nvPr/>
        </p:nvGrpSpPr>
        <p:grpSpPr>
          <a:xfrm>
            <a:off x="2222244" y="3654386"/>
            <a:ext cx="791252" cy="356839"/>
            <a:chOff x="390778" y="4081347"/>
            <a:chExt cx="791252" cy="356839"/>
          </a:xfrm>
        </p:grpSpPr>
        <p:sp>
          <p:nvSpPr>
            <p:cNvPr id="44" name="椭圆 43"/>
            <p:cNvSpPr/>
            <p:nvPr/>
          </p:nvSpPr>
          <p:spPr>
            <a:xfrm>
              <a:off x="1025671" y="4081347"/>
              <a:ext cx="156359" cy="356839"/>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5" name="文本框 44"/>
            <p:cNvSpPr txBox="1"/>
            <p:nvPr/>
          </p:nvSpPr>
          <p:spPr>
            <a:xfrm>
              <a:off x="390778" y="4121266"/>
              <a:ext cx="338554"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读</a:t>
              </a:r>
              <a:endParaRPr lang="zh-CN" altLang="en-US" sz="1200" dirty="0">
                <a:latin typeface="华文中宋" panose="02010600040101010101" pitchFamily="2" charset="-122"/>
                <a:ea typeface="华文中宋" panose="02010600040101010101" pitchFamily="2" charset="-122"/>
              </a:endParaRPr>
            </a:p>
          </p:txBody>
        </p:sp>
        <p:cxnSp>
          <p:nvCxnSpPr>
            <p:cNvPr id="46" name="直接箭头连接符 45"/>
            <p:cNvCxnSpPr>
              <a:stCxn id="45" idx="3"/>
              <a:endCxn id="44" idx="2"/>
            </p:cNvCxnSpPr>
            <p:nvPr/>
          </p:nvCxnSpPr>
          <p:spPr>
            <a:xfrm>
              <a:off x="729332" y="4259766"/>
              <a:ext cx="29633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grpSp>
        <p:nvGrpSpPr>
          <p:cNvPr id="47" name="组合 46"/>
          <p:cNvGrpSpPr/>
          <p:nvPr/>
        </p:nvGrpSpPr>
        <p:grpSpPr>
          <a:xfrm>
            <a:off x="2232657" y="3984608"/>
            <a:ext cx="888927" cy="356839"/>
            <a:chOff x="293103" y="4081347"/>
            <a:chExt cx="888927" cy="356839"/>
          </a:xfrm>
        </p:grpSpPr>
        <p:sp>
          <p:nvSpPr>
            <p:cNvPr id="48" name="椭圆 47"/>
            <p:cNvSpPr/>
            <p:nvPr/>
          </p:nvSpPr>
          <p:spPr>
            <a:xfrm>
              <a:off x="1025671" y="4081347"/>
              <a:ext cx="156359" cy="356839"/>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9" name="文本框 48"/>
            <p:cNvSpPr txBox="1"/>
            <p:nvPr/>
          </p:nvSpPr>
          <p:spPr>
            <a:xfrm>
              <a:off x="293103" y="4121266"/>
              <a:ext cx="338554"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写</a:t>
              </a:r>
              <a:endParaRPr lang="zh-CN" altLang="en-US" sz="1200" dirty="0">
                <a:latin typeface="华文中宋" panose="02010600040101010101" pitchFamily="2" charset="-122"/>
                <a:ea typeface="华文中宋" panose="02010600040101010101" pitchFamily="2" charset="-122"/>
              </a:endParaRPr>
            </a:p>
          </p:txBody>
        </p:sp>
        <p:cxnSp>
          <p:nvCxnSpPr>
            <p:cNvPr id="50" name="直接箭头连接符 49"/>
            <p:cNvCxnSpPr>
              <a:stCxn id="49" idx="3"/>
              <a:endCxn id="48" idx="2"/>
            </p:cNvCxnSpPr>
            <p:nvPr/>
          </p:nvCxnSpPr>
          <p:spPr>
            <a:xfrm>
              <a:off x="631657" y="4259766"/>
              <a:ext cx="394014"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grpSp>
        <p:nvGrpSpPr>
          <p:cNvPr id="51" name="组合 50"/>
          <p:cNvGrpSpPr/>
          <p:nvPr/>
        </p:nvGrpSpPr>
        <p:grpSpPr>
          <a:xfrm>
            <a:off x="2148726" y="4353931"/>
            <a:ext cx="1092331" cy="356839"/>
            <a:chOff x="89699" y="4081347"/>
            <a:chExt cx="1092331" cy="356839"/>
          </a:xfrm>
        </p:grpSpPr>
        <p:sp>
          <p:nvSpPr>
            <p:cNvPr id="52" name="椭圆 51"/>
            <p:cNvSpPr/>
            <p:nvPr/>
          </p:nvSpPr>
          <p:spPr>
            <a:xfrm>
              <a:off x="1025671" y="4081347"/>
              <a:ext cx="156359" cy="356839"/>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3" name="文本框 52"/>
            <p:cNvSpPr txBox="1"/>
            <p:nvPr/>
          </p:nvSpPr>
          <p:spPr>
            <a:xfrm>
              <a:off x="89699" y="4121266"/>
              <a:ext cx="492443"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执行</a:t>
              </a:r>
              <a:endParaRPr lang="zh-CN" altLang="en-US" sz="1200" dirty="0">
                <a:latin typeface="华文中宋" panose="02010600040101010101" pitchFamily="2" charset="-122"/>
                <a:ea typeface="华文中宋" panose="02010600040101010101" pitchFamily="2" charset="-122"/>
              </a:endParaRPr>
            </a:p>
          </p:txBody>
        </p:sp>
        <p:cxnSp>
          <p:nvCxnSpPr>
            <p:cNvPr id="54" name="直接箭头连接符 53"/>
            <p:cNvCxnSpPr>
              <a:stCxn id="53" idx="3"/>
              <a:endCxn id="52" idx="2"/>
            </p:cNvCxnSpPr>
            <p:nvPr/>
          </p:nvCxnSpPr>
          <p:spPr>
            <a:xfrm>
              <a:off x="582142" y="4259766"/>
              <a:ext cx="443529"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grpSp>
        <p:nvGrpSpPr>
          <p:cNvPr id="55" name="组合 54"/>
          <p:cNvGrpSpPr/>
          <p:nvPr/>
        </p:nvGrpSpPr>
        <p:grpSpPr>
          <a:xfrm>
            <a:off x="4048849" y="4062138"/>
            <a:ext cx="5490270" cy="2157123"/>
            <a:chOff x="2228608" y="4398265"/>
            <a:chExt cx="6344879" cy="1528811"/>
          </a:xfrm>
        </p:grpSpPr>
        <p:sp>
          <p:nvSpPr>
            <p:cNvPr id="56" name="矩形 55"/>
            <p:cNvSpPr/>
            <p:nvPr/>
          </p:nvSpPr>
          <p:spPr>
            <a:xfrm>
              <a:off x="2228608" y="4398265"/>
              <a:ext cx="6344879" cy="15288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3967252" y="4912226"/>
              <a:ext cx="2810933" cy="261756"/>
            </a:xfrm>
            <a:prstGeom prst="rect">
              <a:avLst/>
            </a:prstGeom>
            <a:noFill/>
          </p:spPr>
          <p:txBody>
            <a:bodyPr wrap="square" rtlCol="0">
              <a:spAutoFit/>
            </a:bodyPr>
            <a:lstStyle/>
            <a:p>
              <a:pPr algn="ctr"/>
              <a:r>
                <a:rPr lang="zh-CN" altLang="en-US" b="1" dirty="0">
                  <a:latin typeface="华文中宋" panose="02010600040101010101" pitchFamily="2" charset="-122"/>
                  <a:ea typeface="华文中宋" panose="02010600040101010101" pitchFamily="2" charset="-122"/>
                </a:rPr>
                <a:t>试着补充完整</a:t>
              </a:r>
              <a:endParaRPr lang="zh-CN" altLang="en-US" b="1" dirty="0">
                <a:latin typeface="华文中宋" panose="02010600040101010101" pitchFamily="2" charset="-122"/>
                <a:ea typeface="华文中宋" panose="02010600040101010101" pitchFamily="2" charset="-122"/>
              </a:endParaRPr>
            </a:p>
          </p:txBody>
        </p:sp>
      </p:grpSp>
      <p:sp>
        <p:nvSpPr>
          <p:cNvPr id="58" name="矩形 57"/>
          <p:cNvSpPr/>
          <p:nvPr/>
        </p:nvSpPr>
        <p:spPr>
          <a:xfrm>
            <a:off x="292563" y="6658997"/>
            <a:ext cx="205796" cy="563252"/>
          </a:xfrm>
          <a:prstGeom prst="rect">
            <a:avLst/>
          </a:prstGeom>
          <a:solidFill>
            <a:schemeClr val="accent1"/>
          </a:solidFill>
          <a:ln>
            <a:noFill/>
          </a:ln>
          <a:effectLst>
            <a:outerShdw blurRad="25400" dist="25400" dir="13500000" algn="br" rotWithShape="0">
              <a:schemeClr val="accent1">
                <a:lumMod val="75000"/>
                <a:alpha val="40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34"/>
                                        </p:tgtEl>
                                      </p:cBhvr>
                                    </p:animEffect>
                                    <p:set>
                                      <p:cBhvr>
                                        <p:cTn id="37" dur="1" fill="hold">
                                          <p:stCondLst>
                                            <p:cond delay="499"/>
                                          </p:stCondLst>
                                        </p:cTn>
                                        <p:tgtEl>
                                          <p:spTgt spid="34"/>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37"/>
                                        </p:tgtEl>
                                      </p:cBhvr>
                                    </p:animEffect>
                                    <p:set>
                                      <p:cBhvr>
                                        <p:cTn id="40" dur="1" fill="hold">
                                          <p:stCondLst>
                                            <p:cond delay="499"/>
                                          </p:stCondLst>
                                        </p:cTn>
                                        <p:tgtEl>
                                          <p:spTgt spid="37"/>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0"/>
                                        </p:tgtEl>
                                      </p:cBhvr>
                                    </p:animEffect>
                                    <p:set>
                                      <p:cBhvr>
                                        <p:cTn id="43" dur="1" fill="hold">
                                          <p:stCondLst>
                                            <p:cond delay="499"/>
                                          </p:stCondLst>
                                        </p:cTn>
                                        <p:tgtEl>
                                          <p:spTgt spid="4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43"/>
                                        </p:tgtEl>
                                      </p:cBhvr>
                                    </p:animEffect>
                                    <p:set>
                                      <p:cBhvr>
                                        <p:cTn id="46" dur="1" fill="hold">
                                          <p:stCondLst>
                                            <p:cond delay="499"/>
                                          </p:stCondLst>
                                        </p:cTn>
                                        <p:tgtEl>
                                          <p:spTgt spid="4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47"/>
                                        </p:tgtEl>
                                      </p:cBhvr>
                                    </p:animEffect>
                                    <p:set>
                                      <p:cBhvr>
                                        <p:cTn id="49" dur="1" fill="hold">
                                          <p:stCondLst>
                                            <p:cond delay="499"/>
                                          </p:stCondLst>
                                        </p:cTn>
                                        <p:tgtEl>
                                          <p:spTgt spid="47"/>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51"/>
                                        </p:tgtEl>
                                      </p:cBhvr>
                                    </p:animEffect>
                                    <p:set>
                                      <p:cBhvr>
                                        <p:cTn id="52" dur="1" fill="hold">
                                          <p:stCondLst>
                                            <p:cond delay="499"/>
                                          </p:stCondLst>
                                        </p:cTn>
                                        <p:tgtEl>
                                          <p:spTgt spid="5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55"/>
                                        </p:tgtEl>
                                      </p:cBhvr>
                                    </p:animEffect>
                                    <p:set>
                                      <p:cBhvr>
                                        <p:cTn id="57" dur="1" fill="hold">
                                          <p:stCondLst>
                                            <p:cond delay="499"/>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a:latin typeface="微软雅黑" panose="020B0503020204020204" pitchFamily="34" charset="-122"/>
                <a:ea typeface="微软雅黑" panose="020B0503020204020204" pitchFamily="34" charset="-122"/>
              </a:rPr>
              <a:t>有关文件保护的系统调用</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7943" y="905404"/>
            <a:ext cx="9811657" cy="387941"/>
          </a:xfrm>
        </p:spPr>
        <p:txBody>
          <a:bodyPr/>
          <a:lstStyle/>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chmod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：最常用，用来改变保护模式</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access</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：检验实际的</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UID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和</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GID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对某文件是否拥有特定权限</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getuid,geteuid,getgid,getegid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：返回实际的和有效的</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UID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和</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GID</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00000"/>
              </a:lnSpc>
              <a:buFont typeface="Wingdings" panose="05000000000000000000" pitchFamily="2" charset="2"/>
              <a:buChar char="l"/>
            </a:pPr>
            <a:r>
              <a:rPr lang="en-US" altLang="zh-CN" sz="2400" dirty="0" err="1">
                <a:latin typeface="微软雅黑" panose="020B0503020204020204" pitchFamily="34" charset="-122"/>
                <a:ea typeface="微软雅黑" panose="020B0503020204020204" pitchFamily="34" charset="-122"/>
                <a:cs typeface="Times New Roman" panose="02020703060505090304" pitchFamily="18" charset="0"/>
              </a:rPr>
              <a:t>Chown,setuid,setgid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：只能被超级用户使用，改变文件的所有者以及进程的</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UID</a:t>
            </a:r>
            <a:r>
              <a:rPr lang="zh-CN" altLang="en-US" sz="2400" dirty="0">
                <a:latin typeface="微软雅黑" panose="020B0503020204020204" pitchFamily="34" charset="-122"/>
                <a:ea typeface="微软雅黑" panose="020B0503020204020204" pitchFamily="34" charset="-122"/>
                <a:cs typeface="Times New Roman" panose="02020703060505090304" pitchFamily="18" charset="0"/>
              </a:rPr>
              <a:t>和</a:t>
            </a:r>
            <a:r>
              <a:rPr lang="en-US" altLang="zh-CN" sz="2400" dirty="0">
                <a:latin typeface="微软雅黑" panose="020B0503020204020204" pitchFamily="34" charset="-122"/>
                <a:ea typeface="微软雅黑" panose="020B0503020204020204" pitchFamily="34" charset="-122"/>
                <a:cs typeface="Times New Roman" panose="02020703060505090304" pitchFamily="18" charset="0"/>
              </a:rPr>
              <a:t>GID</a:t>
            </a:r>
            <a:endParaRPr lang="zh-CN" altLang="en-US" sz="24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33</a:t>
            </a:r>
            <a:endParaRPr lang="zh-CN" altLang="en-US" dirty="0"/>
          </a:p>
        </p:txBody>
      </p:sp>
      <p:graphicFrame>
        <p:nvGraphicFramePr>
          <p:cNvPr id="5" name="Group 79"/>
          <p:cNvGraphicFramePr/>
          <p:nvPr/>
        </p:nvGraphicFramePr>
        <p:xfrm>
          <a:off x="3320206" y="3237075"/>
          <a:ext cx="5551588" cy="3360493"/>
        </p:xfrm>
        <a:graphic>
          <a:graphicData uri="http://schemas.openxmlformats.org/drawingml/2006/table">
            <a:tbl>
              <a:tblPr/>
              <a:tblGrid>
                <a:gridCol w="2787810"/>
                <a:gridCol w="2763778"/>
              </a:tblGrid>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系统调用</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描述</a:t>
                      </a:r>
                      <a:endParaRPr kumimoji="0" lang="zh-CN" altLang="en-US"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s=chmod(path,mode)</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改变文件的权限</a:t>
                      </a:r>
                      <a:endPar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19">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s=access(path,mode)</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检查文件的可访问性</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uid</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getuid</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取实际的</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UID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uid=geteuid()</a:t>
                      </a:r>
                      <a:endPar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取有效的</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UID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gid=getgid()</a:t>
                      </a:r>
                      <a:endPar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取实际的</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gid</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getegid</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取有效的</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s=</a:t>
                      </a: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chown</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r>
                        <a:rPr kumimoji="0" lang="en-US" altLang="zh-CN" sz="1600" b="0" i="0" u="none" strike="noStrike" cap="none" normalizeH="0" baseline="0" dirty="0" err="1">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path,owner,group</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改变文件的所有者</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s=setuid(uid)</a:t>
                      </a:r>
                      <a:endParaRPr kumimoji="0" lang="en-US" altLang="zh-CN" sz="1600" b="0" i="0" u="none" strike="noStrike" cap="none" normalizeH="0" baseline="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设置</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UID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111">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s=setgid(gid)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defRPr sz="2800">
                          <a:solidFill>
                            <a:schemeClr val="accent2"/>
                          </a:solidFill>
                          <a:latin typeface="Times New Roman" panose="02020703060505090304" pitchFamily="18" charset="0"/>
                        </a:defRPr>
                      </a:lvl1pPr>
                      <a:lvl2pPr>
                        <a:spcBef>
                          <a:spcPct val="20000"/>
                        </a:spcBef>
                        <a:buClr>
                          <a:schemeClr val="accent2"/>
                        </a:buClr>
                        <a:defRPr sz="2400">
                          <a:solidFill>
                            <a:schemeClr val="tx1"/>
                          </a:solidFill>
                          <a:latin typeface="Times New Roman" panose="02020703060505090304" pitchFamily="18" charset="0"/>
                        </a:defRPr>
                      </a:lvl2pPr>
                      <a:lvl3pPr>
                        <a:spcBef>
                          <a:spcPct val="20000"/>
                        </a:spcBef>
                        <a:buClr>
                          <a:schemeClr val="accent2"/>
                        </a:buClr>
                        <a:defRPr sz="2000">
                          <a:solidFill>
                            <a:schemeClr val="tx1"/>
                          </a:solidFill>
                          <a:latin typeface="Times New Roman" panose="02020703060505090304" pitchFamily="18" charset="0"/>
                        </a:defRPr>
                      </a:lvl3pPr>
                      <a:lvl4pPr>
                        <a:spcBef>
                          <a:spcPct val="20000"/>
                        </a:spcBef>
                        <a:buClr>
                          <a:schemeClr val="accent2"/>
                        </a:buClr>
                        <a:defRPr>
                          <a:solidFill>
                            <a:schemeClr val="tx1"/>
                          </a:solidFill>
                          <a:latin typeface="Times New Roman" panose="02020703060505090304" pitchFamily="18" charset="0"/>
                        </a:defRPr>
                      </a:lvl4pPr>
                      <a:lvl5pPr>
                        <a:spcBef>
                          <a:spcPct val="20000"/>
                        </a:spcBef>
                        <a:buClr>
                          <a:schemeClr val="accent2"/>
                        </a:buClr>
                        <a:defRPr>
                          <a:solidFill>
                            <a:schemeClr val="tx1"/>
                          </a:solidFill>
                          <a:latin typeface="Times New Roman" panose="02020703060505090304" pitchFamily="18" charset="0"/>
                        </a:defRPr>
                      </a:lvl5pPr>
                      <a:lvl6pPr fontAlgn="base">
                        <a:spcBef>
                          <a:spcPct val="20000"/>
                        </a:spcBef>
                        <a:spcAft>
                          <a:spcPct val="0"/>
                        </a:spcAft>
                        <a:buClr>
                          <a:schemeClr val="accent2"/>
                        </a:buClr>
                        <a:defRPr>
                          <a:solidFill>
                            <a:schemeClr val="tx1"/>
                          </a:solidFill>
                          <a:latin typeface="Times New Roman" panose="02020703060505090304" pitchFamily="18" charset="0"/>
                        </a:defRPr>
                      </a:lvl6pPr>
                      <a:lvl7pPr fontAlgn="base">
                        <a:spcBef>
                          <a:spcPct val="20000"/>
                        </a:spcBef>
                        <a:spcAft>
                          <a:spcPct val="0"/>
                        </a:spcAft>
                        <a:buClr>
                          <a:schemeClr val="accent2"/>
                        </a:buClr>
                        <a:defRPr>
                          <a:solidFill>
                            <a:schemeClr val="tx1"/>
                          </a:solidFill>
                          <a:latin typeface="Times New Roman" panose="02020703060505090304" pitchFamily="18" charset="0"/>
                        </a:defRPr>
                      </a:lvl7pPr>
                      <a:lvl8pPr fontAlgn="base">
                        <a:spcBef>
                          <a:spcPct val="20000"/>
                        </a:spcBef>
                        <a:spcAft>
                          <a:spcPct val="0"/>
                        </a:spcAft>
                        <a:buClr>
                          <a:schemeClr val="accent2"/>
                        </a:buClr>
                        <a:defRPr>
                          <a:solidFill>
                            <a:schemeClr val="tx1"/>
                          </a:solidFill>
                          <a:latin typeface="Times New Roman" panose="02020703060505090304" pitchFamily="18" charset="0"/>
                        </a:defRPr>
                      </a:lvl8pPr>
                      <a:lvl9pPr fontAlgn="base">
                        <a:spcBef>
                          <a:spcPct val="20000"/>
                        </a:spcBef>
                        <a:spcAft>
                          <a:spcPct val="0"/>
                        </a:spcAft>
                        <a:buClr>
                          <a:schemeClr val="accent2"/>
                        </a:buClr>
                        <a:defRPr>
                          <a:solidFill>
                            <a:schemeClr val="tx1"/>
                          </a:solidFill>
                          <a:latin typeface="Times New Roman" panose="0202070306050509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设置</a:t>
                      </a:r>
                      <a:r>
                        <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rPr>
                        <a:t>GID</a:t>
                      </a:r>
                      <a:endParaRPr kumimoji="0" lang="en-US" altLang="zh-CN" sz="1600" b="0" i="0" u="none" strike="noStrike" cap="none" normalizeH="0" baseline="0" dirty="0">
                        <a:ln>
                          <a:noFill/>
                        </a:ln>
                        <a:solidFill>
                          <a:schemeClr val="tx1"/>
                        </a:solidFill>
                        <a:effectLst/>
                        <a:latin typeface="Times New Roman" panose="02020703060505090304" pitchFamily="18" charset="0"/>
                        <a:ea typeface="华文中宋" panose="02010600040101010101" pitchFamily="2" charset="-122"/>
                        <a:cs typeface="Times New Roman" panose="02020703060505090304" pitchFamily="18"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Linux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在实行虚拟地址转换时，采用的是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）级页表。</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3352324" y="278606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324" y="364331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二</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324" y="450056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三</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3352324" y="535781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四</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2637869"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2637869"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2637869"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2637869"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9145588" cy="635000"/>
            <a:chOff x="-1523206" y="0"/>
            <a:chExt cx="9145588" cy="635000"/>
          </a:xfrm>
        </p:grpSpPr>
        <p:sp>
          <p:nvSpPr>
            <p:cNvPr id="14" name="TitleBackground"/>
            <p:cNvSpPr/>
            <p:nvPr>
              <p:custDataLst>
                <p:tags r:id="rId12"/>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按照文件的内容，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Linux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把文件分成（）三类</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2"/>
            </p:custDataLst>
          </p:nvPr>
        </p:nvSpPr>
        <p:spPr>
          <a:xfrm>
            <a:off x="3352324" y="278606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系统文件、用户文件、设备文件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324" y="364331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普通文件、目录文件、特殊文件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324" y="450056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目录文件、流式文件、设备文件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3352324" y="5357813"/>
            <a:ext cx="6401911"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一般文件、流式文件、记录文件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2637869"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2637869"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2637869"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2637869"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p:cNvSpPr/>
          <p:nvPr>
            <p:custDataLst>
              <p:tags r:id="rId10"/>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1"/>
            </p:custDataLst>
          </p:nvPr>
        </p:nvGrpSpPr>
        <p:grpSpPr>
          <a:xfrm>
            <a:off x="0" y="0"/>
            <a:ext cx="9145588" cy="635000"/>
            <a:chOff x="-1523206" y="0"/>
            <a:chExt cx="9145588" cy="635000"/>
          </a:xfrm>
        </p:grpSpPr>
        <p:sp>
          <p:nvSpPr>
            <p:cNvPr id="14" name="TitleBackground"/>
            <p:cNvSpPr/>
            <p:nvPr>
              <p:custDataLst>
                <p:tags r:id="rId12"/>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514124" y="1098995"/>
            <a:ext cx="731647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假设页面的尺寸为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4KB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，一个页表项用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。若要求用页表来管理地址结构为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位的虚拟地址空间，并且每个页表只占用一页。那么，采用多级页表结构时，需要几级才能达到管理的要求？</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p:cNvSpPr/>
          <p:nvPr>
            <p:custDataLst>
              <p:tags r:id="rId2"/>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3"/>
            </p:custDataLst>
          </p:nvPr>
        </p:nvSpPr>
        <p:spPr>
          <a:xfrm>
            <a:off x="1523206"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4"/>
            </p:custDataLst>
          </p:nvPr>
        </p:nvGrpSpPr>
        <p:grpSpPr>
          <a:xfrm>
            <a:off x="0" y="0"/>
            <a:ext cx="9145588" cy="635000"/>
            <a:chOff x="-1523206" y="0"/>
            <a:chExt cx="9145588" cy="635000"/>
          </a:xfrm>
        </p:grpSpPr>
        <p:sp>
          <p:nvSpPr>
            <p:cNvPr id="6" name="TitleBackground"/>
            <p:cNvSpPr/>
            <p:nvPr>
              <p:custDataLst>
                <p:tags r:id="rId5"/>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8"/>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2514124" y="1098994"/>
            <a:ext cx="7744520" cy="4854334"/>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假设页面的尺寸为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4KB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，一个页表项用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。若要求用页表来管理地址结构为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位的虚拟地址空间，并且每个页表只占用一页。那么，采用多级页表结构时，需要几级才能达到管理的要求？</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解答：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4KB/4B = 1K,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每个页面存放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1K</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个项；</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36</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位地址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12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位页内地址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24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 </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每个页表占一页，故能放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1K</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个项 即地址中的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个位；</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每一级最多占</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个位，故至少需要三级才能满足管理要求。</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437765" y="635001"/>
            <a:ext cx="7316470" cy="2143125"/>
          </a:xfrm>
          <a:prstGeom prst="rect">
            <a:avLst/>
          </a:prstGeom>
          <a:noFill/>
        </p:spPr>
        <p:txBody>
          <a:bodyPr vert="horz" wrap="square" rtlCol="0" anchor="ctr" anchorCtr="0">
            <a:noAutofit/>
          </a:bodyPr>
          <a:lstStyle/>
          <a:p>
            <a:pPr algn="just"/>
            <a:r>
              <a:rPr lang="zh-CN" altLang="zh-CN" b="1" kern="100" dirty="0">
                <a:latin typeface="Times New Roman" panose="02020703060505090304" pitchFamily="18" charset="0"/>
                <a:ea typeface="宋体" panose="02010600030101010101" pitchFamily="2" charset="-122"/>
                <a:cs typeface="Arial" panose="020B0604020202090204" pitchFamily="34" charset="0"/>
              </a:rPr>
              <a:t> </a:t>
            </a:r>
            <a:r>
              <a:rPr lang="zh-CN" altLang="zh-CN" kern="100" dirty="0">
                <a:latin typeface="Times New Roman" panose="02020703060505090304" pitchFamily="18" charset="0"/>
                <a:ea typeface="宋体" panose="02010600030101010101" pitchFamily="2" charset="-122"/>
                <a:cs typeface="Arial" panose="020B0604020202090204" pitchFamily="34" charset="0"/>
              </a:rPr>
              <a:t>某计算机系统按字节编址，采用二级页表的分页存储</a:t>
            </a:r>
            <a:endParaRPr lang="zh-CN" altLang="zh-CN" kern="100" dirty="0">
              <a:latin typeface="Times New Roman" panose="02020703060505090304" pitchFamily="18" charset="0"/>
              <a:ea typeface="宋体" panose="02010600030101010101" pitchFamily="2" charset="-122"/>
            </a:endParaRPr>
          </a:p>
          <a:p>
            <a:pPr algn="just"/>
            <a:r>
              <a:rPr lang="zh-CN" altLang="zh-CN" kern="100" dirty="0">
                <a:latin typeface="Times New Roman" panose="02020703060505090304" pitchFamily="18" charset="0"/>
                <a:ea typeface="宋体" panose="02010600030101010101" pitchFamily="2" charset="-122"/>
                <a:cs typeface="Arial" panose="020B0604020202090204" pitchFamily="34" charset="0"/>
              </a:rPr>
              <a:t>管理方式，虚拟地址格式如下所示：</a:t>
            </a:r>
            <a:endParaRPr lang="zh-CN" altLang="zh-CN" kern="100" dirty="0">
              <a:latin typeface="Times New Roman" panose="02020703060505090304" pitchFamily="18" charset="0"/>
              <a:ea typeface="宋体" panose="02010600030101010101" pitchFamily="2" charset="-122"/>
            </a:endParaRPr>
          </a:p>
        </p:txBody>
      </p:sp>
      <p:sp>
        <p:nvSpPr>
          <p:cNvPr id="5" name="矩形: 圆角 4"/>
          <p:cNvSpPr/>
          <p:nvPr>
            <p:custDataLst>
              <p:tags r:id="rId2"/>
            </p:custDataLst>
          </p:nvPr>
        </p:nvSpPr>
        <p:spPr>
          <a:xfrm>
            <a:off x="7696835"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3"/>
            </p:custDataLst>
          </p:nvPr>
        </p:nvSpPr>
        <p:spPr>
          <a:xfrm>
            <a:off x="1523206" y="5849239"/>
            <a:ext cx="9145588" cy="365824"/>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2" name="表格 11"/>
          <p:cNvGraphicFramePr>
            <a:graphicFrameLocks noGrp="1"/>
          </p:cNvGraphicFramePr>
          <p:nvPr/>
        </p:nvGraphicFramePr>
        <p:xfrm>
          <a:off x="2557936" y="2184167"/>
          <a:ext cx="4683125" cy="365760"/>
        </p:xfrm>
        <a:graphic>
          <a:graphicData uri="http://schemas.openxmlformats.org/drawingml/2006/table">
            <a:tbl>
              <a:tblPr firstRow="1" firstCol="1" bandRow="1">
                <a:tableStyleId>{5C22544A-7EE6-4342-B048-85BDC9FD1C3A}</a:tableStyleId>
              </a:tblPr>
              <a:tblGrid>
                <a:gridCol w="1530350"/>
                <a:gridCol w="1979930"/>
                <a:gridCol w="1172845"/>
              </a:tblGrid>
              <a:tr h="0">
                <a:tc>
                  <a:txBody>
                    <a:bodyPr/>
                    <a:lstStyle/>
                    <a:p>
                      <a:pPr algn="ctr">
                        <a:spcAft>
                          <a:spcPts val="0"/>
                        </a:spcAft>
                      </a:pPr>
                      <a:r>
                        <a:rPr lang="en-US" sz="1200" kern="100" dirty="0">
                          <a:effectLst/>
                        </a:rPr>
                        <a:t>10</a:t>
                      </a:r>
                      <a:r>
                        <a:rPr lang="zh-CN" sz="1200" kern="100" dirty="0">
                          <a:effectLst/>
                        </a:rPr>
                        <a:t>位</a:t>
                      </a:r>
                      <a:endParaRPr lang="zh-CN" sz="1050" kern="100" dirty="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en-US" sz="1200" kern="100">
                          <a:effectLst/>
                        </a:rPr>
                        <a:t>10</a:t>
                      </a:r>
                      <a:r>
                        <a:rPr lang="zh-CN" sz="1200" kern="100">
                          <a:effectLst/>
                        </a:rPr>
                        <a:t>位</a:t>
                      </a:r>
                      <a:endParaRPr lang="zh-CN" sz="1050" kern="10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en-US" sz="1200" kern="100">
                          <a:effectLst/>
                        </a:rPr>
                        <a:t>12</a:t>
                      </a:r>
                      <a:r>
                        <a:rPr lang="zh-CN" sz="1200" kern="100">
                          <a:effectLst/>
                        </a:rPr>
                        <a:t>位</a:t>
                      </a:r>
                      <a:endParaRPr lang="zh-CN" sz="1050" kern="100">
                        <a:effectLst/>
                        <a:latin typeface="Times New Roman" panose="02020703060505090304" pitchFamily="18" charset="0"/>
                        <a:ea typeface="宋体" panose="02010600030101010101" pitchFamily="2" charset="-122"/>
                      </a:endParaRPr>
                    </a:p>
                  </a:txBody>
                  <a:tcPr marL="68580" marR="68580" marT="0" marB="0"/>
                </a:tc>
              </a:tr>
              <a:tr h="0">
                <a:tc>
                  <a:txBody>
                    <a:bodyPr/>
                    <a:lstStyle/>
                    <a:p>
                      <a:pPr algn="ctr">
                        <a:spcAft>
                          <a:spcPts val="0"/>
                        </a:spcAft>
                      </a:pPr>
                      <a:r>
                        <a:rPr lang="zh-CN" sz="1200" kern="100">
                          <a:effectLst/>
                        </a:rPr>
                        <a:t>页目录号</a:t>
                      </a:r>
                      <a:endParaRPr lang="zh-CN" sz="1050" kern="10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zh-CN" sz="1200" kern="100">
                          <a:effectLst/>
                        </a:rPr>
                        <a:t>页表索引</a:t>
                      </a:r>
                      <a:endParaRPr lang="zh-CN" sz="1050" kern="10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zh-CN" sz="1200" kern="100" dirty="0">
                          <a:effectLst/>
                        </a:rPr>
                        <a:t>页内偏移量</a:t>
                      </a:r>
                      <a:endParaRPr lang="zh-CN" sz="1050" kern="100" dirty="0">
                        <a:effectLst/>
                        <a:latin typeface="Times New Roman" panose="02020703060505090304" pitchFamily="18" charset="0"/>
                        <a:ea typeface="宋体" panose="02010600030101010101" pitchFamily="2" charset="-122"/>
                      </a:endParaRPr>
                    </a:p>
                  </a:txBody>
                  <a:tcPr marL="68580" marR="68580" marT="0" marB="0"/>
                </a:tc>
              </a:tr>
            </a:tbl>
          </a:graphicData>
        </a:graphic>
      </p:graphicFrame>
      <p:sp>
        <p:nvSpPr>
          <p:cNvPr id="14" name="文本框 13"/>
          <p:cNvSpPr txBox="1"/>
          <p:nvPr/>
        </p:nvSpPr>
        <p:spPr>
          <a:xfrm>
            <a:off x="2557935" y="2819155"/>
            <a:ext cx="7496428" cy="1477328"/>
          </a:xfrm>
          <a:prstGeom prst="rect">
            <a:avLst/>
          </a:prstGeom>
          <a:noFill/>
        </p:spPr>
        <p:txBody>
          <a:bodyPr wrap="square">
            <a:spAutoFit/>
          </a:bodyPr>
          <a:lstStyle/>
          <a:p>
            <a:pPr algn="just"/>
            <a:r>
              <a:rPr lang="zh-CN" altLang="zh-CN" kern="100" dirty="0">
                <a:latin typeface="Times New Roman" panose="02020703060505090304" pitchFamily="18" charset="0"/>
                <a:ea typeface="宋体" panose="02010600030101010101" pitchFamily="2" charset="-122"/>
                <a:cs typeface="Arial" panose="020B0604020202090204" pitchFamily="34" charset="0"/>
              </a:rPr>
              <a:t>请回答下列问题：</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页和页框的大小各为多少字节？进程的虚拟地址空间大小为多少页？</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假定页目录项和页表</a:t>
            </a:r>
            <a:r>
              <a:rPr lang="zh-CN" altLang="en-US" kern="100" dirty="0">
                <a:latin typeface="Times New Roman" panose="02020703060505090304" pitchFamily="18" charset="0"/>
                <a:ea typeface="宋体" panose="02010600030101010101" pitchFamily="2" charset="-122"/>
                <a:cs typeface="Arial" panose="020B0604020202090204" pitchFamily="34" charset="0"/>
              </a:rPr>
              <a:t>项</a:t>
            </a:r>
            <a:r>
              <a:rPr lang="zh-CN" altLang="zh-CN" kern="100" dirty="0">
                <a:latin typeface="Times New Roman" panose="02020703060505090304" pitchFamily="18" charset="0"/>
                <a:ea typeface="宋体" panose="02010600030101010101" pitchFamily="2" charset="-122"/>
                <a:cs typeface="Arial" panose="020B0604020202090204" pitchFamily="34" charset="0"/>
              </a:rPr>
              <a:t>均占</a:t>
            </a:r>
            <a:r>
              <a:rPr lang="en-US" altLang="zh-CN" kern="100" dirty="0">
                <a:latin typeface="Times New Roman" panose="02020703060505090304" pitchFamily="18" charset="0"/>
                <a:ea typeface="宋体" panose="02010600030101010101" pitchFamily="2" charset="-122"/>
                <a:cs typeface="Arial" panose="020B0604020202090204" pitchFamily="34" charset="0"/>
              </a:rPr>
              <a:t>4B</a:t>
            </a:r>
            <a:r>
              <a:rPr lang="zh-CN" altLang="zh-CN" kern="100" dirty="0">
                <a:latin typeface="Times New Roman" panose="02020703060505090304" pitchFamily="18" charset="0"/>
                <a:ea typeface="宋体" panose="02010600030101010101" pitchFamily="2" charset="-122"/>
                <a:cs typeface="Arial" panose="020B0604020202090204" pitchFamily="34" charset="0"/>
              </a:rPr>
              <a:t>，则进程的页目录和页表各占多少页？</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若某指令周期内访问的虚拟地址为</a:t>
            </a:r>
            <a:r>
              <a:rPr lang="en-US" altLang="zh-CN" kern="100" dirty="0">
                <a:latin typeface="Times New Roman" panose="02020703060505090304" pitchFamily="18" charset="0"/>
                <a:ea typeface="宋体" panose="02010600030101010101" pitchFamily="2" charset="-122"/>
                <a:cs typeface="Arial" panose="020B0604020202090204" pitchFamily="34" charset="0"/>
              </a:rPr>
              <a:t>01000000H</a:t>
            </a:r>
            <a:r>
              <a:rPr lang="zh-CN" altLang="zh-CN" kern="100" dirty="0">
                <a:latin typeface="Times New Roman" panose="02020703060505090304" pitchFamily="18" charset="0"/>
                <a:ea typeface="宋体" panose="02010600030101010101" pitchFamily="2" charset="-122"/>
                <a:cs typeface="Arial" panose="020B0604020202090204" pitchFamily="34" charset="0"/>
              </a:rPr>
              <a:t>和</a:t>
            </a:r>
            <a:r>
              <a:rPr lang="en-US" altLang="zh-CN" kern="100" dirty="0">
                <a:latin typeface="Times New Roman" panose="02020703060505090304" pitchFamily="18" charset="0"/>
                <a:ea typeface="宋体" panose="02010600030101010101" pitchFamily="2" charset="-122"/>
                <a:cs typeface="Arial" panose="020B0604020202090204" pitchFamily="34" charset="0"/>
              </a:rPr>
              <a:t>01112948H</a:t>
            </a:r>
            <a:r>
              <a:rPr lang="zh-CN" altLang="zh-CN" kern="100" dirty="0">
                <a:latin typeface="Times New Roman" panose="02020703060505090304" pitchFamily="18" charset="0"/>
                <a:ea typeface="宋体" panose="02010600030101010101" pitchFamily="2" charset="-122"/>
                <a:cs typeface="Arial" panose="020B0604020202090204" pitchFamily="34" charset="0"/>
              </a:rPr>
              <a:t>，则进行地址转换时共访问多少个二级页表？要求说明理由</a:t>
            </a:r>
            <a:endParaRPr lang="zh-CN" altLang="zh-CN" sz="1400" kern="100" dirty="0">
              <a:latin typeface="Times New Roman" panose="02020703060505090304" pitchFamily="18" charset="0"/>
              <a:ea typeface="宋体" panose="02010600030101010101" pitchFamily="2" charset="-122"/>
            </a:endParaRPr>
          </a:p>
        </p:txBody>
      </p:sp>
      <p:grpSp>
        <p:nvGrpSpPr>
          <p:cNvPr id="10" name="组合 9"/>
          <p:cNvGrpSpPr/>
          <p:nvPr>
            <p:custDataLst>
              <p:tags r:id="rId4"/>
            </p:custDataLst>
          </p:nvPr>
        </p:nvGrpSpPr>
        <p:grpSpPr>
          <a:xfrm>
            <a:off x="0" y="0"/>
            <a:ext cx="9145588" cy="635000"/>
            <a:chOff x="-1523206" y="0"/>
            <a:chExt cx="9145588" cy="635000"/>
          </a:xfrm>
        </p:grpSpPr>
        <p:sp>
          <p:nvSpPr>
            <p:cNvPr id="6" name="TitleBackground"/>
            <p:cNvSpPr/>
            <p:nvPr>
              <p:custDataLst>
                <p:tags r:id="rId5"/>
              </p:custDataLst>
            </p:nvPr>
          </p:nvSpPr>
          <p:spPr>
            <a:xfrm>
              <a:off x="-1523206" y="0"/>
              <a:ext cx="9145588"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6"/>
              </p:custDataLst>
            </p:nvPr>
          </p:nvSpPr>
          <p:spPr>
            <a:xfrm>
              <a:off x="-1523206"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7"/>
              </p:custDataLst>
            </p:nvPr>
          </p:nvSpPr>
          <p:spPr>
            <a:xfrm>
              <a:off x="-1269206"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8"/>
              </p:custDataLst>
            </p:nvPr>
          </p:nvSpPr>
          <p:spPr>
            <a:xfrm>
              <a:off x="269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65390" y="4044404"/>
            <a:ext cx="8059366" cy="1754326"/>
          </a:xfrm>
          <a:prstGeom prst="rect">
            <a:avLst/>
          </a:prstGeom>
          <a:noFill/>
          <a:ln w="28575">
            <a:solidFill>
              <a:srgbClr val="C00000"/>
            </a:solidFill>
          </a:ln>
        </p:spPr>
        <p:txBody>
          <a:bodyPr wrap="square">
            <a:spAutoFit/>
          </a:bodyPr>
          <a:lstStyle/>
          <a:p>
            <a:pPr algn="just"/>
            <a:r>
              <a:rPr lang="zh-CN" altLang="zh-CN" b="1" kern="100" dirty="0">
                <a:latin typeface="Times New Roman" panose="02020703060505090304" pitchFamily="18" charset="0"/>
                <a:ea typeface="宋体" panose="02010600030101010101" pitchFamily="2" charset="-122"/>
                <a:cs typeface="Arial" panose="020B0604020202090204" pitchFamily="34" charset="0"/>
              </a:rPr>
              <a:t>答：</a:t>
            </a:r>
            <a:endParaRPr lang="zh-CN" altLang="zh-CN" sz="1400" b="1"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b="1" kern="100" dirty="0">
                <a:latin typeface="Times New Roman" panose="02020703060505090304" pitchFamily="18" charset="0"/>
                <a:ea typeface="宋体" panose="02010600030101010101" pitchFamily="2" charset="-122"/>
                <a:cs typeface="Arial" panose="020B0604020202090204" pitchFamily="34" charset="0"/>
              </a:rPr>
              <a:t>页和页框大小都为：</a:t>
            </a:r>
            <a:r>
              <a:rPr lang="en-US" altLang="zh-CN" b="1" kern="100" dirty="0">
                <a:latin typeface="Times New Roman" panose="02020703060505090304" pitchFamily="18" charset="0"/>
                <a:ea typeface="宋体" panose="02010600030101010101" pitchFamily="2" charset="-122"/>
                <a:cs typeface="Arial" panose="020B0604020202090204" pitchFamily="34" charset="0"/>
              </a:rPr>
              <a:t>2^12B = 4KB</a:t>
            </a:r>
            <a:r>
              <a:rPr lang="zh-CN" altLang="zh-CN" b="1" kern="100" dirty="0">
                <a:latin typeface="Times New Roman" panose="02020703060505090304" pitchFamily="18" charset="0"/>
                <a:ea typeface="宋体" panose="02010600030101010101" pitchFamily="2" charset="-122"/>
                <a:cs typeface="Arial" panose="020B0604020202090204" pitchFamily="34" charset="0"/>
              </a:rPr>
              <a:t>，虚拟地址空间为：</a:t>
            </a:r>
            <a:r>
              <a:rPr lang="en-US" altLang="zh-CN" b="1" kern="100" dirty="0">
                <a:latin typeface="Times New Roman" panose="02020703060505090304" pitchFamily="18" charset="0"/>
                <a:ea typeface="宋体" panose="02010600030101010101" pitchFamily="2" charset="-122"/>
                <a:cs typeface="Arial" panose="020B0604020202090204" pitchFamily="34" charset="0"/>
              </a:rPr>
              <a:t>2^20</a:t>
            </a:r>
            <a:r>
              <a:rPr lang="zh-CN" altLang="zh-CN" b="1" kern="100" dirty="0">
                <a:latin typeface="Times New Roman" panose="02020703060505090304" pitchFamily="18" charset="0"/>
                <a:ea typeface="宋体" panose="02010600030101010101" pitchFamily="2" charset="-122"/>
                <a:cs typeface="Arial" panose="020B0604020202090204" pitchFamily="34" charset="0"/>
              </a:rPr>
              <a:t>页； </a:t>
            </a:r>
            <a:endParaRPr lang="zh-CN" altLang="zh-CN" sz="1400" b="1"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b="1" kern="100" dirty="0">
                <a:latin typeface="Times New Roman" panose="02020703060505090304" pitchFamily="18" charset="0"/>
                <a:ea typeface="宋体" panose="02010600030101010101" pitchFamily="2" charset="-122"/>
                <a:cs typeface="Arial" panose="020B0604020202090204" pitchFamily="34" charset="0"/>
              </a:rPr>
              <a:t>页目录： </a:t>
            </a:r>
            <a:r>
              <a:rPr lang="en-US" altLang="zh-CN" b="1" kern="100" dirty="0">
                <a:latin typeface="Times New Roman" panose="02020703060505090304" pitchFamily="18" charset="0"/>
                <a:ea typeface="宋体" panose="02010600030101010101" pitchFamily="2" charset="-122"/>
                <a:cs typeface="Arial" panose="020B0604020202090204" pitchFamily="34" charset="0"/>
              </a:rPr>
              <a:t> 2^10 * 4B = 4KB = 1</a:t>
            </a:r>
            <a:r>
              <a:rPr lang="zh-CN" altLang="zh-CN" b="1" kern="100" dirty="0">
                <a:latin typeface="Times New Roman" panose="02020703060505090304" pitchFamily="18" charset="0"/>
                <a:ea typeface="宋体" panose="02010600030101010101" pitchFamily="2" charset="-122"/>
                <a:cs typeface="Arial" panose="020B0604020202090204" pitchFamily="34" charset="0"/>
              </a:rPr>
              <a:t>页； 页表</a:t>
            </a:r>
            <a:r>
              <a:rPr lang="en-US" altLang="zh-CN" b="1" kern="100" dirty="0">
                <a:latin typeface="Times New Roman" panose="02020703060505090304" pitchFamily="18" charset="0"/>
                <a:ea typeface="宋体" panose="02010600030101010101" pitchFamily="2" charset="-122"/>
                <a:cs typeface="Arial" panose="020B0604020202090204" pitchFamily="34" charset="0"/>
              </a:rPr>
              <a:t>=2^10 * 4B = 4KB =1</a:t>
            </a:r>
            <a:r>
              <a:rPr lang="zh-CN" altLang="zh-CN" b="1" kern="100" dirty="0">
                <a:latin typeface="Times New Roman" panose="02020703060505090304" pitchFamily="18" charset="0"/>
                <a:ea typeface="宋体" panose="02010600030101010101" pitchFamily="2" charset="-122"/>
                <a:cs typeface="Arial" panose="020B0604020202090204" pitchFamily="34" charset="0"/>
              </a:rPr>
              <a:t>页； </a:t>
            </a:r>
            <a:endParaRPr lang="zh-CN" altLang="zh-CN" sz="1400" b="1"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b="1" kern="100" dirty="0">
                <a:latin typeface="Times New Roman" panose="02020703060505090304" pitchFamily="18" charset="0"/>
                <a:ea typeface="宋体" panose="02010600030101010101" pitchFamily="2" charset="-122"/>
                <a:cs typeface="Arial" panose="020B0604020202090204" pitchFamily="34" charset="0"/>
              </a:rPr>
              <a:t>共需要访问一个二级页表，因为虚拟地址</a:t>
            </a:r>
            <a:r>
              <a:rPr lang="en-US" altLang="zh-CN" b="1" kern="100" dirty="0">
                <a:latin typeface="Times New Roman" panose="02020703060505090304" pitchFamily="18" charset="0"/>
                <a:ea typeface="宋体" panose="02010600030101010101" pitchFamily="2" charset="-122"/>
                <a:cs typeface="Arial" panose="020B0604020202090204" pitchFamily="34" charset="0"/>
              </a:rPr>
              <a:t>01000000H</a:t>
            </a:r>
            <a:r>
              <a:rPr lang="zh-CN" altLang="zh-CN" b="1" kern="100" dirty="0">
                <a:latin typeface="Times New Roman" panose="02020703060505090304" pitchFamily="18" charset="0"/>
                <a:ea typeface="宋体" panose="02010600030101010101" pitchFamily="2" charset="-122"/>
                <a:cs typeface="Arial" panose="020B0604020202090204" pitchFamily="34" charset="0"/>
              </a:rPr>
              <a:t>和</a:t>
            </a:r>
            <a:r>
              <a:rPr lang="en-US" altLang="zh-CN" b="1" kern="100" dirty="0">
                <a:latin typeface="Times New Roman" panose="02020703060505090304" pitchFamily="18" charset="0"/>
                <a:ea typeface="宋体" panose="02010600030101010101" pitchFamily="2" charset="-122"/>
                <a:cs typeface="Arial" panose="020B0604020202090204" pitchFamily="34" charset="0"/>
              </a:rPr>
              <a:t>01112948H</a:t>
            </a:r>
            <a:r>
              <a:rPr lang="zh-CN" altLang="zh-CN" b="1" kern="100" dirty="0">
                <a:latin typeface="Times New Roman" panose="02020703060505090304" pitchFamily="18" charset="0"/>
                <a:ea typeface="宋体" panose="02010600030101010101" pitchFamily="2" charset="-122"/>
                <a:cs typeface="Arial" panose="020B0604020202090204" pitchFamily="34" charset="0"/>
              </a:rPr>
              <a:t>的最高</a:t>
            </a:r>
            <a:r>
              <a:rPr lang="en-US" altLang="zh-CN" b="1" kern="100" dirty="0">
                <a:latin typeface="Times New Roman" panose="02020703060505090304" pitchFamily="18" charset="0"/>
                <a:ea typeface="宋体" panose="02010600030101010101" pitchFamily="2" charset="-122"/>
                <a:cs typeface="Arial" panose="020B0604020202090204" pitchFamily="34" charset="0"/>
              </a:rPr>
              <a:t>10</a:t>
            </a:r>
            <a:r>
              <a:rPr lang="zh-CN" altLang="zh-CN" b="1" kern="100" dirty="0">
                <a:latin typeface="Times New Roman" panose="02020703060505090304" pitchFamily="18" charset="0"/>
                <a:ea typeface="宋体" panose="02010600030101010101" pitchFamily="2" charset="-122"/>
                <a:cs typeface="Arial" panose="020B0604020202090204" pitchFamily="34" charset="0"/>
              </a:rPr>
              <a:t>位的值都是</a:t>
            </a:r>
            <a:r>
              <a:rPr lang="en-US" altLang="zh-CN" b="1" kern="100" dirty="0">
                <a:latin typeface="Times New Roman" panose="02020703060505090304" pitchFamily="18" charset="0"/>
                <a:ea typeface="宋体" panose="02010600030101010101" pitchFamily="2" charset="-122"/>
                <a:cs typeface="Arial" panose="020B0604020202090204" pitchFamily="34" charset="0"/>
              </a:rPr>
              <a:t>4</a:t>
            </a:r>
            <a:r>
              <a:rPr lang="zh-CN" altLang="zh-CN" b="1" kern="100" dirty="0">
                <a:latin typeface="Times New Roman" panose="02020703060505090304" pitchFamily="18" charset="0"/>
                <a:ea typeface="宋体" panose="02010600030101010101" pitchFamily="2" charset="-122"/>
                <a:cs typeface="Arial" panose="020B0604020202090204" pitchFamily="34" charset="0"/>
              </a:rPr>
              <a:t>，访问的是同一个二级页表。</a:t>
            </a:r>
            <a:r>
              <a:rPr lang="en-US" altLang="zh-CN" b="1" kern="100" dirty="0">
                <a:latin typeface="Times New Roman" panose="02020703060505090304" pitchFamily="18" charset="0"/>
                <a:ea typeface="宋体" panose="02010600030101010101" pitchFamily="2" charset="-122"/>
                <a:cs typeface="Arial" panose="020B0604020202090204" pitchFamily="34" charset="0"/>
              </a:rPr>
              <a:t>		</a:t>
            </a:r>
            <a:endParaRPr lang="zh-CN" altLang="zh-CN" sz="1400" b="1" kern="100" dirty="0">
              <a:latin typeface="Times New Roman" panose="02020703060505090304" pitchFamily="18" charset="0"/>
              <a:ea typeface="宋体" panose="02010600030101010101" pitchFamily="2" charset="-122"/>
            </a:endParaRPr>
          </a:p>
          <a:p>
            <a:pPr algn="just"/>
            <a:r>
              <a:rPr lang="en-US" altLang="zh-CN" b="1" kern="100" dirty="0">
                <a:solidFill>
                  <a:srgbClr val="FF0000"/>
                </a:solidFill>
                <a:latin typeface="宋体" panose="02010600030101010101" pitchFamily="2" charset="-122"/>
                <a:ea typeface="宋体" panose="02010600030101010101" pitchFamily="2" charset="-122"/>
                <a:cs typeface="Arial" panose="020B0604020202090204" pitchFamily="34" charset="0"/>
              </a:rPr>
              <a:t> </a:t>
            </a:r>
            <a:endParaRPr lang="zh-CN" altLang="zh-CN" sz="1400" b="1" kern="100" dirty="0">
              <a:latin typeface="Times New Roman" panose="02020703060505090304" pitchFamily="18" charset="0"/>
              <a:ea typeface="宋体" panose="02010600030101010101" pitchFamily="2" charset="-122"/>
            </a:endParaRPr>
          </a:p>
        </p:txBody>
      </p:sp>
      <p:sp>
        <p:nvSpPr>
          <p:cNvPr id="4" name="文本框 3"/>
          <p:cNvSpPr txBox="1"/>
          <p:nvPr>
            <p:custDataLst>
              <p:tags r:id="rId1"/>
            </p:custDataLst>
          </p:nvPr>
        </p:nvSpPr>
        <p:spPr>
          <a:xfrm>
            <a:off x="2165390" y="1"/>
            <a:ext cx="7316470" cy="2143125"/>
          </a:xfrm>
          <a:prstGeom prst="rect">
            <a:avLst/>
          </a:prstGeom>
          <a:noFill/>
        </p:spPr>
        <p:txBody>
          <a:bodyPr vert="horz" wrap="square" rtlCol="0" anchor="ctr" anchorCtr="0">
            <a:noAutofit/>
          </a:bodyPr>
          <a:lstStyle/>
          <a:p>
            <a:pPr algn="just"/>
            <a:r>
              <a:rPr lang="zh-CN" altLang="zh-CN" b="1" kern="100" dirty="0">
                <a:latin typeface="Times New Roman" panose="02020703060505090304" pitchFamily="18" charset="0"/>
                <a:ea typeface="宋体" panose="02010600030101010101" pitchFamily="2" charset="-122"/>
                <a:cs typeface="Arial" panose="020B0604020202090204" pitchFamily="34" charset="0"/>
              </a:rPr>
              <a:t> </a:t>
            </a:r>
            <a:r>
              <a:rPr lang="zh-CN" altLang="zh-CN" kern="100" dirty="0">
                <a:latin typeface="Times New Roman" panose="02020703060505090304" pitchFamily="18" charset="0"/>
                <a:ea typeface="宋体" panose="02010600030101010101" pitchFamily="2" charset="-122"/>
                <a:cs typeface="Arial" panose="020B0604020202090204" pitchFamily="34" charset="0"/>
              </a:rPr>
              <a:t>某计算机系统按字节编址，采用二级页表的分页存储</a:t>
            </a:r>
            <a:endParaRPr lang="zh-CN" altLang="zh-CN" kern="100" dirty="0">
              <a:latin typeface="Times New Roman" panose="02020703060505090304" pitchFamily="18" charset="0"/>
              <a:ea typeface="宋体" panose="02010600030101010101" pitchFamily="2" charset="-122"/>
            </a:endParaRPr>
          </a:p>
          <a:p>
            <a:pPr algn="just"/>
            <a:r>
              <a:rPr lang="zh-CN" altLang="zh-CN" kern="100" dirty="0">
                <a:latin typeface="Times New Roman" panose="02020703060505090304" pitchFamily="18" charset="0"/>
                <a:ea typeface="宋体" panose="02010600030101010101" pitchFamily="2" charset="-122"/>
                <a:cs typeface="Arial" panose="020B0604020202090204" pitchFamily="34" charset="0"/>
              </a:rPr>
              <a:t>管理方式，虚拟地址格式如下所示：</a:t>
            </a:r>
            <a:endParaRPr lang="zh-CN" altLang="zh-CN" kern="100" dirty="0">
              <a:latin typeface="Times New Roman" panose="02020703060505090304" pitchFamily="18" charset="0"/>
              <a:ea typeface="宋体" panose="02010600030101010101" pitchFamily="2" charset="-122"/>
            </a:endParaRPr>
          </a:p>
        </p:txBody>
      </p:sp>
      <p:graphicFrame>
        <p:nvGraphicFramePr>
          <p:cNvPr id="5" name="表格 4"/>
          <p:cNvGraphicFramePr>
            <a:graphicFrameLocks noGrp="1"/>
          </p:cNvGraphicFramePr>
          <p:nvPr/>
        </p:nvGraphicFramePr>
        <p:xfrm>
          <a:off x="2324472" y="1464321"/>
          <a:ext cx="4683125" cy="365760"/>
        </p:xfrm>
        <a:graphic>
          <a:graphicData uri="http://schemas.openxmlformats.org/drawingml/2006/table">
            <a:tbl>
              <a:tblPr firstRow="1" firstCol="1" bandRow="1">
                <a:tableStyleId>{5C22544A-7EE6-4342-B048-85BDC9FD1C3A}</a:tableStyleId>
              </a:tblPr>
              <a:tblGrid>
                <a:gridCol w="1530350"/>
                <a:gridCol w="1979930"/>
                <a:gridCol w="1172845"/>
              </a:tblGrid>
              <a:tr h="0">
                <a:tc>
                  <a:txBody>
                    <a:bodyPr/>
                    <a:lstStyle/>
                    <a:p>
                      <a:pPr algn="ctr">
                        <a:spcAft>
                          <a:spcPts val="0"/>
                        </a:spcAft>
                      </a:pPr>
                      <a:r>
                        <a:rPr lang="en-US" sz="1200" kern="100" dirty="0">
                          <a:effectLst/>
                        </a:rPr>
                        <a:t>10</a:t>
                      </a:r>
                      <a:r>
                        <a:rPr lang="zh-CN" sz="1200" kern="100" dirty="0">
                          <a:effectLst/>
                        </a:rPr>
                        <a:t>位</a:t>
                      </a:r>
                      <a:endParaRPr lang="zh-CN" sz="1050" kern="100" dirty="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en-US" sz="1200" kern="100">
                          <a:effectLst/>
                        </a:rPr>
                        <a:t>10</a:t>
                      </a:r>
                      <a:r>
                        <a:rPr lang="zh-CN" sz="1200" kern="100">
                          <a:effectLst/>
                        </a:rPr>
                        <a:t>位</a:t>
                      </a:r>
                      <a:endParaRPr lang="zh-CN" sz="1050" kern="10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en-US" sz="1200" kern="100">
                          <a:effectLst/>
                        </a:rPr>
                        <a:t>12</a:t>
                      </a:r>
                      <a:r>
                        <a:rPr lang="zh-CN" sz="1200" kern="100">
                          <a:effectLst/>
                        </a:rPr>
                        <a:t>位</a:t>
                      </a:r>
                      <a:endParaRPr lang="zh-CN" sz="1050" kern="100">
                        <a:effectLst/>
                        <a:latin typeface="Times New Roman" panose="02020703060505090304" pitchFamily="18" charset="0"/>
                        <a:ea typeface="宋体" panose="02010600030101010101" pitchFamily="2" charset="-122"/>
                      </a:endParaRPr>
                    </a:p>
                  </a:txBody>
                  <a:tcPr marL="68580" marR="68580" marT="0" marB="0"/>
                </a:tc>
              </a:tr>
              <a:tr h="0">
                <a:tc>
                  <a:txBody>
                    <a:bodyPr/>
                    <a:lstStyle/>
                    <a:p>
                      <a:pPr algn="ctr">
                        <a:spcAft>
                          <a:spcPts val="0"/>
                        </a:spcAft>
                      </a:pPr>
                      <a:r>
                        <a:rPr lang="zh-CN" sz="1200" kern="100" dirty="0">
                          <a:effectLst/>
                        </a:rPr>
                        <a:t>页目录号</a:t>
                      </a:r>
                      <a:endParaRPr lang="zh-CN" sz="1050" kern="100" dirty="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zh-CN" sz="1200" kern="100" dirty="0">
                          <a:effectLst/>
                        </a:rPr>
                        <a:t>页表索引</a:t>
                      </a:r>
                      <a:endParaRPr lang="zh-CN" sz="1050" kern="100" dirty="0">
                        <a:effectLst/>
                        <a:latin typeface="Times New Roman" panose="02020703060505090304" pitchFamily="18" charset="0"/>
                        <a:ea typeface="宋体" panose="02010600030101010101" pitchFamily="2" charset="-122"/>
                      </a:endParaRPr>
                    </a:p>
                  </a:txBody>
                  <a:tcPr marL="68580" marR="68580" marT="0" marB="0"/>
                </a:tc>
                <a:tc>
                  <a:txBody>
                    <a:bodyPr/>
                    <a:lstStyle/>
                    <a:p>
                      <a:pPr algn="ctr">
                        <a:spcAft>
                          <a:spcPts val="0"/>
                        </a:spcAft>
                      </a:pPr>
                      <a:r>
                        <a:rPr lang="zh-CN" sz="1200" kern="100" dirty="0">
                          <a:effectLst/>
                        </a:rPr>
                        <a:t>页内偏移量</a:t>
                      </a:r>
                      <a:endParaRPr lang="zh-CN" sz="1050" kern="100" dirty="0">
                        <a:effectLst/>
                        <a:latin typeface="Times New Roman" panose="02020703060505090304" pitchFamily="18" charset="0"/>
                        <a:ea typeface="宋体" panose="02010600030101010101" pitchFamily="2" charset="-122"/>
                      </a:endParaRPr>
                    </a:p>
                  </a:txBody>
                  <a:tcPr marL="68580" marR="68580" marT="0" marB="0"/>
                </a:tc>
              </a:tr>
            </a:tbl>
          </a:graphicData>
        </a:graphic>
      </p:graphicFrame>
      <p:sp>
        <p:nvSpPr>
          <p:cNvPr id="6" name="文本框 5"/>
          <p:cNvSpPr txBox="1"/>
          <p:nvPr/>
        </p:nvSpPr>
        <p:spPr>
          <a:xfrm>
            <a:off x="2247917" y="1901279"/>
            <a:ext cx="7097594" cy="1754326"/>
          </a:xfrm>
          <a:prstGeom prst="rect">
            <a:avLst/>
          </a:prstGeom>
          <a:noFill/>
        </p:spPr>
        <p:txBody>
          <a:bodyPr wrap="square">
            <a:spAutoFit/>
          </a:bodyPr>
          <a:lstStyle/>
          <a:p>
            <a:pPr algn="just"/>
            <a:r>
              <a:rPr lang="zh-CN" altLang="zh-CN" kern="100" dirty="0">
                <a:latin typeface="Times New Roman" panose="02020703060505090304" pitchFamily="18" charset="0"/>
                <a:ea typeface="宋体" panose="02010600030101010101" pitchFamily="2" charset="-122"/>
                <a:cs typeface="Arial" panose="020B0604020202090204" pitchFamily="34" charset="0"/>
              </a:rPr>
              <a:t>请回答下列问题：</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页和页框的大小各为多少字节？进程的虚拟地址空间大小为多少页？</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假定页目录项和页表均占</a:t>
            </a:r>
            <a:r>
              <a:rPr lang="en-US" altLang="zh-CN" kern="100" dirty="0">
                <a:latin typeface="Times New Roman" panose="02020703060505090304" pitchFamily="18" charset="0"/>
                <a:ea typeface="宋体" panose="02010600030101010101" pitchFamily="2" charset="-122"/>
                <a:cs typeface="Arial" panose="020B0604020202090204" pitchFamily="34" charset="0"/>
              </a:rPr>
              <a:t>4B</a:t>
            </a:r>
            <a:r>
              <a:rPr lang="zh-CN" altLang="zh-CN" kern="100" dirty="0">
                <a:latin typeface="Times New Roman" panose="02020703060505090304" pitchFamily="18" charset="0"/>
                <a:ea typeface="宋体" panose="02010600030101010101" pitchFamily="2" charset="-122"/>
                <a:cs typeface="Arial" panose="020B0604020202090204" pitchFamily="34" charset="0"/>
              </a:rPr>
              <a:t>，则进程的页目录和页表各占多少页？</a:t>
            </a:r>
            <a:endParaRPr lang="zh-CN" altLang="zh-CN" sz="1400" kern="100" dirty="0">
              <a:latin typeface="Times New Roman" panose="02020703060505090304" pitchFamily="18" charset="0"/>
              <a:ea typeface="宋体" panose="02010600030101010101" pitchFamily="2" charset="-122"/>
            </a:endParaRPr>
          </a:p>
          <a:p>
            <a:pPr marL="342900" indent="-342900" algn="just">
              <a:buFont typeface="+mj-lt"/>
              <a:buAutoNum type="arabicPeriod"/>
            </a:pPr>
            <a:r>
              <a:rPr lang="zh-CN" altLang="zh-CN" kern="100" dirty="0">
                <a:latin typeface="Times New Roman" panose="02020703060505090304" pitchFamily="18" charset="0"/>
                <a:ea typeface="宋体" panose="02010600030101010101" pitchFamily="2" charset="-122"/>
                <a:cs typeface="Arial" panose="020B0604020202090204" pitchFamily="34" charset="0"/>
              </a:rPr>
              <a:t>若某指令周期内访问的虚拟地址为</a:t>
            </a:r>
            <a:r>
              <a:rPr lang="en-US" altLang="zh-CN" kern="100" dirty="0">
                <a:latin typeface="Times New Roman" panose="02020703060505090304" pitchFamily="18" charset="0"/>
                <a:ea typeface="宋体" panose="02010600030101010101" pitchFamily="2" charset="-122"/>
                <a:cs typeface="Arial" panose="020B0604020202090204" pitchFamily="34" charset="0"/>
              </a:rPr>
              <a:t>01000000H</a:t>
            </a:r>
            <a:r>
              <a:rPr lang="zh-CN" altLang="zh-CN" kern="100" dirty="0">
                <a:latin typeface="Times New Roman" panose="02020703060505090304" pitchFamily="18" charset="0"/>
                <a:ea typeface="宋体" panose="02010600030101010101" pitchFamily="2" charset="-122"/>
                <a:cs typeface="Arial" panose="020B0604020202090204" pitchFamily="34" charset="0"/>
              </a:rPr>
              <a:t>和</a:t>
            </a:r>
            <a:r>
              <a:rPr lang="en-US" altLang="zh-CN" kern="100" dirty="0">
                <a:latin typeface="Times New Roman" panose="02020703060505090304" pitchFamily="18" charset="0"/>
                <a:ea typeface="宋体" panose="02010600030101010101" pitchFamily="2" charset="-122"/>
                <a:cs typeface="Arial" panose="020B0604020202090204" pitchFamily="34" charset="0"/>
              </a:rPr>
              <a:t>01112948H</a:t>
            </a:r>
            <a:r>
              <a:rPr lang="zh-CN" altLang="zh-CN" kern="100" dirty="0">
                <a:latin typeface="Times New Roman" panose="02020703060505090304" pitchFamily="18" charset="0"/>
                <a:ea typeface="宋体" panose="02010600030101010101" pitchFamily="2" charset="-122"/>
                <a:cs typeface="Arial" panose="020B0604020202090204" pitchFamily="34" charset="0"/>
              </a:rPr>
              <a:t>，则进行地址转换时共访问多少个二级页表？要求说明理由</a:t>
            </a:r>
            <a:endParaRPr lang="zh-CN" altLang="zh-CN" sz="1400" kern="100" dirty="0">
              <a:latin typeface="Times New Roman" panose="02020703060505090304" pitchFamily="18"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txBox="1">
            <a:spLocks noGrp="1" noChangeArrowheads="1"/>
          </p:cNvSpPr>
          <p:nvPr/>
        </p:nvSpPr>
        <p:spPr bwMode="auto">
          <a:xfrm>
            <a:off x="10083800" y="6489700"/>
            <a:ext cx="495300" cy="368300"/>
          </a:xfrm>
          <a:prstGeom prst="rect">
            <a:avLst/>
          </a:prstGeom>
          <a:noFill/>
          <a:ln>
            <a:noFill/>
          </a:ln>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95A854EA-DAC1-4D7F-926B-DDA72CD57A56}" type="slidenum">
              <a:rPr lang="zh-CN" altLang="en-US" sz="1400">
                <a:latin typeface="微软雅黑" panose="020B0503020204020204" pitchFamily="34" charset="-122"/>
                <a:ea typeface="微软雅黑" panose="020B0503020204020204" pitchFamily="34" charset="-122"/>
              </a:rPr>
            </a:fld>
            <a:endParaRPr lang="en-US" sz="140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2357438" y="198438"/>
            <a:ext cx="7772400" cy="84455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pPr algn="ctr"/>
            <a:r>
              <a:rPr lang="zh-CN" altLang="en-US" sz="3800" b="1" dirty="0">
                <a:latin typeface="微软雅黑" panose="020B0503020204020204" pitchFamily="34" charset="-122"/>
                <a:ea typeface="微软雅黑" panose="020B0503020204020204" pitchFamily="34" charset="-122"/>
              </a:rPr>
              <a:t>关于期末总分计算方式</a:t>
            </a:r>
            <a:endParaRPr lang="en-US" altLang="zh-CN" sz="3800" b="1" dirty="0">
              <a:latin typeface="微软雅黑" panose="020B0503020204020204" pitchFamily="34" charset="-122"/>
              <a:ea typeface="微软雅黑" panose="020B0503020204020204" pitchFamily="34" charset="-122"/>
            </a:endParaRPr>
          </a:p>
        </p:txBody>
      </p:sp>
      <p:sp>
        <p:nvSpPr>
          <p:cNvPr id="5" name="TextBox 2"/>
          <p:cNvSpPr txBox="1"/>
          <p:nvPr/>
        </p:nvSpPr>
        <p:spPr>
          <a:xfrm>
            <a:off x="2509253" y="3875914"/>
            <a:ext cx="184666" cy="369332"/>
          </a:xfrm>
          <a:prstGeom prst="rect">
            <a:avLst/>
          </a:prstGeom>
          <a:noFill/>
        </p:spPr>
        <p:txBody>
          <a:bodyPr wrap="none" rtlCol="0">
            <a:spAutoFit/>
          </a:bodyPr>
          <a:lstStyle/>
          <a:p>
            <a:endParaRPr lang="en-US" dirty="0">
              <a:latin typeface="微软雅黑" panose="020B0503020204020204" pitchFamily="34" charset="-122"/>
              <a:ea typeface="微软雅黑" panose="020B0503020204020204" pitchFamily="34" charset="-122"/>
            </a:endParaRPr>
          </a:p>
        </p:txBody>
      </p:sp>
      <p:sp>
        <p:nvSpPr>
          <p:cNvPr id="2" name="矩形 1"/>
          <p:cNvSpPr/>
          <p:nvPr/>
        </p:nvSpPr>
        <p:spPr>
          <a:xfrm>
            <a:off x="2357439" y="1411162"/>
            <a:ext cx="7977259" cy="5135701"/>
          </a:xfrm>
          <a:prstGeom prst="rect">
            <a:avLst/>
          </a:prstGeom>
        </p:spPr>
        <p:txBody>
          <a:bodyPr wrap="square">
            <a:spAutoFit/>
          </a:bodyPr>
          <a:lstStyle/>
          <a:p>
            <a:pPr>
              <a:lnSpc>
                <a:spcPct val="115000"/>
              </a:lnSpc>
              <a:spcAft>
                <a:spcPts val="800"/>
              </a:spcAft>
            </a:pP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1</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）期末：</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40%</a:t>
            </a: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15000"/>
              </a:lnSpc>
              <a:spcAft>
                <a:spcPts val="800"/>
              </a:spcAft>
            </a:pP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）平时：</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60%</a:t>
            </a: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lvl="2">
              <a:lnSpc>
                <a:spcPct val="115000"/>
              </a:lnSpc>
              <a:spcAft>
                <a:spcPts val="800"/>
              </a:spcAft>
            </a:pP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2.1</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）三次测试：</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20%</a:t>
            </a: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lvl="2">
              <a:lnSpc>
                <a:spcPct val="115000"/>
              </a:lnSpc>
              <a:spcAft>
                <a:spcPts val="800"/>
              </a:spcAft>
            </a:pP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2.2</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）实验：</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20%</a:t>
            </a: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lvl="2">
              <a:lnSpc>
                <a:spcPct val="115000"/>
              </a:lnSpc>
              <a:spcAft>
                <a:spcPts val="800"/>
              </a:spcAft>
            </a:pP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2.3</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）平时</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a:t>
            </a:r>
            <a:r>
              <a:rPr lang="zh-CN" altLang="en-US" sz="2800" b="1" kern="100" dirty="0">
                <a:latin typeface="微软雅黑" panose="020B0503020204020204" pitchFamily="34" charset="-122"/>
                <a:ea typeface="微软雅黑" panose="020B0503020204020204" pitchFamily="34" charset="-122"/>
                <a:cs typeface="Times New Roman" panose="02020703060505090304" pitchFamily="18" charset="0"/>
              </a:rPr>
              <a:t>作业：</a:t>
            </a:r>
            <a:r>
              <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rPr>
              <a:t>20%</a:t>
            </a: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lvl="2">
              <a:lnSpc>
                <a:spcPct val="115000"/>
              </a:lnSpc>
              <a:spcAft>
                <a:spcPts val="800"/>
              </a:spcAft>
            </a:pPr>
            <a:endParaRPr lang="en-US" altLang="zh-CN" sz="2800"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15000"/>
              </a:lnSpc>
              <a:spcAft>
                <a:spcPts val="800"/>
              </a:spcAft>
            </a:pPr>
            <a:r>
              <a:rPr lang="zh-CN" altLang="en-US" b="1" kern="100" dirty="0">
                <a:latin typeface="微软雅黑" panose="020B0503020204020204" pitchFamily="34" charset="-122"/>
                <a:ea typeface="微软雅黑" panose="020B0503020204020204" pitchFamily="34" charset="-122"/>
                <a:cs typeface="Times New Roman" panose="02020703060505090304" pitchFamily="18" charset="0"/>
              </a:rPr>
              <a:t>思维导图</a:t>
            </a:r>
            <a:r>
              <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rPr>
              <a:t>PPT </a:t>
            </a:r>
            <a:r>
              <a:rPr lang="zh-CN" altLang="en-US" b="1" kern="100" dirty="0">
                <a:latin typeface="微软雅黑" panose="020B0503020204020204" pitchFamily="34" charset="-122"/>
                <a:ea typeface="微软雅黑" panose="020B0503020204020204" pitchFamily="34" charset="-122"/>
                <a:cs typeface="Times New Roman" panose="02020703060505090304" pitchFamily="18" charset="0"/>
              </a:rPr>
              <a:t>上传链接：</a:t>
            </a:r>
            <a:r>
              <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hlinkClick r:id="rId1"/>
              </a:rPr>
              <a:t>https://send2me.cn/K9J1x44Z/R1m1_y92CMyM_A</a:t>
            </a:r>
            <a:endPar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15000"/>
              </a:lnSpc>
              <a:spcAft>
                <a:spcPts val="800"/>
              </a:spcAft>
            </a:pPr>
            <a:r>
              <a:rPr lang="zh-CN" altLang="en-US" b="1" kern="100" dirty="0">
                <a:latin typeface="微软雅黑" panose="020B0503020204020204" pitchFamily="34" charset="-122"/>
                <a:ea typeface="微软雅黑" panose="020B0503020204020204" pitchFamily="34" charset="-122"/>
                <a:cs typeface="Times New Roman" panose="02020703060505090304" pitchFamily="18" charset="0"/>
              </a:rPr>
              <a:t>实验报告上传链接：</a:t>
            </a:r>
            <a:endPar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15000"/>
              </a:lnSpc>
              <a:spcAft>
                <a:spcPts val="800"/>
              </a:spcAft>
            </a:pPr>
            <a:r>
              <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rPr>
              <a:t>https://send2me.cn/9IaDWlj8/QWWspAr9jEiHTQ</a:t>
            </a:r>
            <a:endParaRPr lang="en-US" altLang="zh-CN" b="1" kern="100" dirty="0">
              <a:latin typeface="微软雅黑" panose="020B0503020204020204" pitchFamily="34" charset="-122"/>
              <a:ea typeface="微软雅黑" panose="020B0503020204020204" pitchFamily="34" charset="-122"/>
              <a:cs typeface="Times New Roman" panose="0202070306050509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txBox="1">
            <a:spLocks noGrp="1" noChangeArrowheads="1"/>
          </p:cNvSpPr>
          <p:nvPr/>
        </p:nvSpPr>
        <p:spPr bwMode="auto">
          <a:xfrm>
            <a:off x="10083800" y="6489700"/>
            <a:ext cx="495300" cy="368300"/>
          </a:xfrm>
          <a:prstGeom prst="rect">
            <a:avLst/>
          </a:prstGeom>
          <a:noFill/>
          <a:ln>
            <a:noFill/>
          </a:ln>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95A854EA-DAC1-4D7F-926B-DDA72CD57A56}" type="slidenum">
              <a:rPr lang="zh-CN" altLang="en-US" sz="1400">
                <a:latin typeface="微软雅黑" panose="020B0503020204020204" pitchFamily="34" charset="-122"/>
                <a:ea typeface="微软雅黑" panose="020B0503020204020204" pitchFamily="34" charset="-122"/>
              </a:rPr>
            </a:fld>
            <a:endParaRPr lang="en-US" sz="140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2357438" y="198438"/>
            <a:ext cx="7772400" cy="84455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Times New Roman" panose="02020703060505090304" pitchFamily="18" charset="0"/>
                <a:ea typeface="华文中宋" panose="02010600040101010101" pitchFamily="2" charset="-122"/>
                <a:cs typeface="Times New Roman" panose="02020703060505090304" pitchFamily="18" charset="0"/>
              </a:defRPr>
            </a:lvl1pPr>
          </a:lstStyle>
          <a:p>
            <a:pPr algn="ctr"/>
            <a:r>
              <a:rPr lang="zh-CN" altLang="en-US" sz="3800" b="1" dirty="0">
                <a:latin typeface="微软雅黑" panose="020B0503020204020204" pitchFamily="34" charset="-122"/>
                <a:ea typeface="微软雅黑" panose="020B0503020204020204" pitchFamily="34" charset="-122"/>
              </a:rPr>
              <a:t>实验二 线程同步与互斥</a:t>
            </a:r>
            <a:endParaRPr lang="en-US" altLang="zh-CN" sz="3800" b="1" dirty="0">
              <a:latin typeface="微软雅黑" panose="020B0503020204020204" pitchFamily="34" charset="-122"/>
              <a:ea typeface="微软雅黑" panose="020B0503020204020204" pitchFamily="34" charset="-122"/>
            </a:endParaRPr>
          </a:p>
        </p:txBody>
      </p:sp>
      <p:sp>
        <p:nvSpPr>
          <p:cNvPr id="5" name="TextBox 2"/>
          <p:cNvSpPr txBox="1"/>
          <p:nvPr/>
        </p:nvSpPr>
        <p:spPr>
          <a:xfrm>
            <a:off x="2509253" y="3875914"/>
            <a:ext cx="184666" cy="369332"/>
          </a:xfrm>
          <a:prstGeom prst="rect">
            <a:avLst/>
          </a:prstGeom>
          <a:noFill/>
        </p:spPr>
        <p:txBody>
          <a:bodyPr wrap="none" rtlCol="0">
            <a:spAutoFit/>
          </a:bodyPr>
          <a:lstStyle/>
          <a:p>
            <a:endParaRPr lang="en-US" dirty="0">
              <a:latin typeface="微软雅黑" panose="020B0503020204020204" pitchFamily="34" charset="-122"/>
              <a:ea typeface="微软雅黑" panose="020B0503020204020204" pitchFamily="34" charset="-122"/>
            </a:endParaRPr>
          </a:p>
        </p:txBody>
      </p:sp>
      <p:sp>
        <p:nvSpPr>
          <p:cNvPr id="2" name="矩形 1"/>
          <p:cNvSpPr/>
          <p:nvPr/>
        </p:nvSpPr>
        <p:spPr>
          <a:xfrm>
            <a:off x="2357439" y="1411162"/>
            <a:ext cx="7977259" cy="4636013"/>
          </a:xfrm>
          <a:prstGeom prst="rect">
            <a:avLst/>
          </a:prstGeom>
        </p:spPr>
        <p:txBody>
          <a:bodyPr wrap="square">
            <a:spAutoFit/>
          </a:bodyPr>
          <a:lstStyle/>
          <a:p>
            <a:pPr>
              <a:lnSpc>
                <a:spcPct val="115000"/>
              </a:lnSpc>
              <a:spcAft>
                <a:spcPts val="800"/>
              </a:spcAft>
            </a:pPr>
            <a:r>
              <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rPr>
              <a:t>实验目的： </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15000"/>
              </a:lnSpc>
              <a:spcAft>
                <a:spcPts val="800"/>
              </a:spcAft>
              <a:buFont typeface="+mj-lt"/>
              <a:buAutoNum type="arabicPeriod"/>
            </a:pP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线程的同步互斥</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a:p>
            <a:pPr marL="342900" indent="-342900">
              <a:lnSpc>
                <a:spcPct val="115000"/>
              </a:lnSpc>
              <a:spcAft>
                <a:spcPts val="800"/>
              </a:spcAft>
              <a:buFont typeface="+mj-lt"/>
              <a:buAutoNum type="arabicPeriod"/>
            </a:pP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利用</a:t>
            </a:r>
            <a:r>
              <a:rPr lang="en-US"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Linux</a:t>
            </a: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的库函数实现睡觉理发师问题和写者优先的读写问题。</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15000"/>
              </a:lnSpc>
              <a:spcAft>
                <a:spcPts val="800"/>
              </a:spcAft>
            </a:pP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实验要求：</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7000"/>
              </a:lnSpc>
              <a:spcAft>
                <a:spcPts val="800"/>
              </a:spcAft>
            </a:pPr>
            <a:r>
              <a:rPr lang="en-US"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1</a:t>
            </a: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．用线程实现睡觉的理发师问题。（同步互斥采用信号量）理发 师问题的描述：一个理发店接待室有</a:t>
            </a:r>
            <a:r>
              <a:rPr lang="en-US"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n</a:t>
            </a: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张椅子，工作室有</a:t>
            </a:r>
            <a:r>
              <a:rPr lang="en-US"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1</a:t>
            </a: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张椅子；没有顾客时，理发师睡觉；第一个顾客来到时，必须将理发师唤醒；顾客来时如果还有空座的话，他就坐在一个座位上等待；如果顾客来时没有空座位了，他就离开，不理发了；当理发师处理完所有顾客而又没有新顾客来时，他又开始睡觉。</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a:p>
            <a:pPr>
              <a:lnSpc>
                <a:spcPct val="107000"/>
              </a:lnSpc>
              <a:spcAft>
                <a:spcPts val="800"/>
              </a:spcAft>
            </a:pPr>
            <a:r>
              <a:rPr lang="en-US"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2. </a:t>
            </a:r>
            <a:r>
              <a:rPr lang="zh-CN" altLang="zh-CN" sz="2000" b="1"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用线程实现读者写者问题。编写一个写者优先解决读者写者问题的程序，其中读者和写者均是多个线程，用信号量作为同步互斥机制。</a:t>
            </a:r>
            <a:endParaRPr lang="zh-CN" altLang="zh-CN" sz="2000" b="1" kern="100" dirty="0">
              <a:latin typeface="微软雅黑" panose="020B0503020204020204" pitchFamily="34" charset="-122"/>
              <a:ea typeface="微软雅黑" panose="020B0503020204020204" pitchFamily="34" charset="-122"/>
              <a:cs typeface="Times New Roman" panose="0202070306050509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5"/>
          <p:cNvSpPr txBox="1">
            <a:spLocks noGrp="1" noChangeArrowheads="1"/>
          </p:cNvSpPr>
          <p:nvPr/>
        </p:nvSpPr>
        <p:spPr bwMode="auto">
          <a:xfrm>
            <a:off x="10083800"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9A794E94-7645-4C5E-B14F-FCB41966E550}" type="slidenum">
              <a:rPr lang="zh-CN" altLang="en-US" sz="1400">
                <a:latin typeface="Arial" panose="020B0604020202090204" pitchFamily="34" charset="0"/>
                <a:ea typeface="宋体" panose="02010600030101010101" pitchFamily="2" charset="-122"/>
                <a:cs typeface="Arial" panose="020B0604020202090204" pitchFamily="34" charset="0"/>
              </a:rPr>
            </a:fld>
            <a:endParaRPr lang="en-US" sz="1400">
              <a:latin typeface="Arial" panose="020B0604020202090204" pitchFamily="34" charset="0"/>
              <a:ea typeface="宋体" panose="02010600030101010101" pitchFamily="2" charset="-122"/>
              <a:cs typeface="Arial" panose="020B0604020202090204" pitchFamily="34" charset="0"/>
            </a:endParaRPr>
          </a:p>
        </p:txBody>
      </p:sp>
      <p:sp>
        <p:nvSpPr>
          <p:cNvPr id="5" name="矩形 4"/>
          <p:cNvSpPr/>
          <p:nvPr/>
        </p:nvSpPr>
        <p:spPr>
          <a:xfrm>
            <a:off x="1728232" y="1309255"/>
            <a:ext cx="3863256" cy="518044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cs typeface="Arial" panose="020B0604020202090204" pitchFamily="34" charset="0"/>
            </a:endParaRPr>
          </a:p>
        </p:txBody>
      </p:sp>
      <p:sp>
        <p:nvSpPr>
          <p:cNvPr id="8" name="文本框 7"/>
          <p:cNvSpPr txBox="1"/>
          <p:nvPr/>
        </p:nvSpPr>
        <p:spPr>
          <a:xfrm>
            <a:off x="2001716" y="1821929"/>
            <a:ext cx="3589772" cy="3785652"/>
          </a:xfrm>
          <a:prstGeom prst="rect">
            <a:avLst/>
          </a:prstGeom>
          <a:noFill/>
        </p:spPr>
        <p:txBody>
          <a:bodyPr wrap="square" rtlCol="0">
            <a:spAutoFit/>
          </a:bodyPr>
          <a:lstStyle/>
          <a:p>
            <a:r>
              <a:rPr lang="en-US" altLang="zh-CN" sz="3000" dirty="0">
                <a:latin typeface="Arial" panose="020B0604020202090204" pitchFamily="34" charset="0"/>
                <a:cs typeface="Arial" panose="020B0604020202090204" pitchFamily="34" charset="0"/>
              </a:rPr>
              <a:t>While (True) do {</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Down(</a:t>
            </a:r>
            <a:r>
              <a:rPr lang="en-US" altLang="zh-CN" sz="3000" dirty="0" err="1">
                <a:latin typeface="Arial" panose="020B0604020202090204" pitchFamily="34" charset="0"/>
                <a:cs typeface="Arial" panose="020B0604020202090204" pitchFamily="34" charset="0"/>
              </a:rPr>
              <a:t>cust_ready</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Down(</a:t>
            </a:r>
            <a:r>
              <a:rPr lang="en-US" altLang="zh-CN" sz="3000" dirty="0" err="1">
                <a:latin typeface="Arial" panose="020B0604020202090204" pitchFamily="34" charset="0"/>
                <a:cs typeface="Arial" panose="020B0604020202090204" pitchFamily="34" charset="0"/>
              </a:rPr>
              <a:t>mutex</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a:t>
            </a:r>
            <a:r>
              <a:rPr lang="en-US" altLang="zh-CN" sz="3000" dirty="0" err="1">
                <a:latin typeface="Arial" panose="020B0604020202090204" pitchFamily="34" charset="0"/>
                <a:cs typeface="Arial" panose="020B0604020202090204" pitchFamily="34" charset="0"/>
              </a:rPr>
              <a:t>seat_num</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Up(</a:t>
            </a:r>
            <a:r>
              <a:rPr lang="en-US" altLang="zh-CN" sz="3000" dirty="0" err="1">
                <a:latin typeface="Arial" panose="020B0604020202090204" pitchFamily="34" charset="0"/>
                <a:cs typeface="Arial" panose="020B0604020202090204" pitchFamily="34" charset="0"/>
              </a:rPr>
              <a:t>barber_ready</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Up(</a:t>
            </a:r>
            <a:r>
              <a:rPr lang="en-US" altLang="zh-CN" sz="3000" dirty="0" err="1">
                <a:latin typeface="Arial" panose="020B0604020202090204" pitchFamily="34" charset="0"/>
                <a:cs typeface="Arial" panose="020B0604020202090204" pitchFamily="34" charset="0"/>
              </a:rPr>
              <a:t>mutex</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cut hair here</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a:t>
            </a:r>
            <a:endParaRPr lang="zh-CN" altLang="en-US" sz="3000" dirty="0">
              <a:latin typeface="Arial" panose="020B0604020202090204" pitchFamily="34" charset="0"/>
              <a:cs typeface="Arial" panose="020B0604020202090204" pitchFamily="34" charset="0"/>
            </a:endParaRPr>
          </a:p>
        </p:txBody>
      </p:sp>
      <p:sp>
        <p:nvSpPr>
          <p:cNvPr id="11" name="矩形 10"/>
          <p:cNvSpPr/>
          <p:nvPr/>
        </p:nvSpPr>
        <p:spPr>
          <a:xfrm>
            <a:off x="6220544" y="1309255"/>
            <a:ext cx="3863256" cy="518044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90204" pitchFamily="34" charset="0"/>
              <a:cs typeface="Arial" panose="020B0604020202090204" pitchFamily="34" charset="0"/>
            </a:endParaRPr>
          </a:p>
        </p:txBody>
      </p:sp>
      <p:sp>
        <p:nvSpPr>
          <p:cNvPr id="12" name="文本框 11"/>
          <p:cNvSpPr txBox="1"/>
          <p:nvPr/>
        </p:nvSpPr>
        <p:spPr>
          <a:xfrm>
            <a:off x="6220544" y="1821929"/>
            <a:ext cx="3863256" cy="3785652"/>
          </a:xfrm>
          <a:prstGeom prst="rect">
            <a:avLst/>
          </a:prstGeom>
          <a:noFill/>
        </p:spPr>
        <p:txBody>
          <a:bodyPr wrap="square" rtlCol="0">
            <a:spAutoFit/>
          </a:bodyPr>
          <a:lstStyle/>
          <a:p>
            <a:r>
              <a:rPr lang="en-US" altLang="zh-CN" sz="3000" dirty="0">
                <a:solidFill>
                  <a:srgbClr val="FF0000"/>
                </a:solidFill>
                <a:latin typeface="Arial" panose="020B0604020202090204" pitchFamily="34" charset="0"/>
                <a:cs typeface="Arial" panose="020B0604020202090204" pitchFamily="34" charset="0"/>
              </a:rPr>
              <a:t>Down</a:t>
            </a:r>
            <a:r>
              <a:rPr lang="en-US" altLang="zh-CN" sz="3000" dirty="0">
                <a:latin typeface="Arial" panose="020B0604020202090204" pitchFamily="34" charset="0"/>
                <a:cs typeface="Arial" panose="020B0604020202090204" pitchFamily="34" charset="0"/>
              </a:rPr>
              <a:t>(</a:t>
            </a:r>
            <a:r>
              <a:rPr lang="en-US" altLang="zh-CN" sz="3000" dirty="0" err="1">
                <a:latin typeface="Arial" panose="020B0604020202090204" pitchFamily="34" charset="0"/>
                <a:cs typeface="Arial" panose="020B0604020202090204" pitchFamily="34" charset="0"/>
              </a:rPr>
              <a:t>mutex</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If(</a:t>
            </a:r>
            <a:r>
              <a:rPr lang="en-US" altLang="zh-CN" sz="3000" dirty="0" err="1">
                <a:latin typeface="Arial" panose="020B0604020202090204" pitchFamily="34" charset="0"/>
                <a:cs typeface="Arial" panose="020B0604020202090204" pitchFamily="34" charset="0"/>
              </a:rPr>
              <a:t>seat_num</a:t>
            </a:r>
            <a:r>
              <a:rPr lang="en-US" altLang="zh-CN" sz="3000" dirty="0">
                <a:latin typeface="Arial" panose="020B0604020202090204" pitchFamily="34" charset="0"/>
                <a:cs typeface="Arial" panose="020B0604020202090204" pitchFamily="34" charset="0"/>
              </a:rPr>
              <a:t> &gt; 0){</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a:t>
            </a:r>
            <a:r>
              <a:rPr lang="en-US" altLang="zh-CN" sz="3000" dirty="0" err="1">
                <a:latin typeface="Arial" panose="020B0604020202090204" pitchFamily="34" charset="0"/>
                <a:cs typeface="Arial" panose="020B0604020202090204" pitchFamily="34" charset="0"/>
              </a:rPr>
              <a:t>seat_num</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a:t>
            </a:r>
            <a:r>
              <a:rPr lang="en-US" altLang="zh-CN" sz="3000" dirty="0">
                <a:solidFill>
                  <a:srgbClr val="FF0000"/>
                </a:solidFill>
                <a:latin typeface="Arial" panose="020B0604020202090204" pitchFamily="34" charset="0"/>
                <a:cs typeface="Arial" panose="020B0604020202090204" pitchFamily="34" charset="0"/>
              </a:rPr>
              <a:t>Up</a:t>
            </a:r>
            <a:r>
              <a:rPr lang="en-US" altLang="zh-CN" sz="3000" dirty="0">
                <a:latin typeface="Arial" panose="020B0604020202090204" pitchFamily="34" charset="0"/>
                <a:cs typeface="Arial" panose="020B0604020202090204" pitchFamily="34" charset="0"/>
              </a:rPr>
              <a:t>(</a:t>
            </a:r>
            <a:r>
              <a:rPr lang="en-US" altLang="zh-CN" sz="3000" dirty="0" err="1">
                <a:latin typeface="Arial" panose="020B0604020202090204" pitchFamily="34" charset="0"/>
                <a:cs typeface="Arial" panose="020B0604020202090204" pitchFamily="34" charset="0"/>
              </a:rPr>
              <a:t>cust_ready</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a:t>
            </a:r>
            <a:r>
              <a:rPr lang="en-US" altLang="zh-CN" sz="3000" dirty="0">
                <a:solidFill>
                  <a:srgbClr val="FF0000"/>
                </a:solidFill>
                <a:latin typeface="Arial" panose="020B0604020202090204" pitchFamily="34" charset="0"/>
                <a:cs typeface="Arial" panose="020B0604020202090204" pitchFamily="34" charset="0"/>
              </a:rPr>
              <a:t>Up</a:t>
            </a:r>
            <a:r>
              <a:rPr lang="en-US" altLang="zh-CN" sz="3000" dirty="0">
                <a:latin typeface="Arial" panose="020B0604020202090204" pitchFamily="34" charset="0"/>
                <a:cs typeface="Arial" panose="020B0604020202090204" pitchFamily="34" charset="0"/>
              </a:rPr>
              <a:t>(</a:t>
            </a:r>
            <a:r>
              <a:rPr lang="en-US" altLang="zh-CN" sz="3000" dirty="0" err="1">
                <a:latin typeface="Arial" panose="020B0604020202090204" pitchFamily="34" charset="0"/>
                <a:cs typeface="Arial" panose="020B0604020202090204" pitchFamily="34" charset="0"/>
              </a:rPr>
              <a:t>mutex</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a:t>
            </a:r>
            <a:r>
              <a:rPr lang="en-US" altLang="zh-CN" sz="3000" dirty="0">
                <a:solidFill>
                  <a:srgbClr val="FF0000"/>
                </a:solidFill>
                <a:latin typeface="Arial" panose="020B0604020202090204" pitchFamily="34" charset="0"/>
                <a:cs typeface="Arial" panose="020B0604020202090204" pitchFamily="34" charset="0"/>
              </a:rPr>
              <a:t>Down</a:t>
            </a:r>
            <a:r>
              <a:rPr lang="en-US" altLang="zh-CN" sz="3000" dirty="0">
                <a:latin typeface="Arial" panose="020B0604020202090204" pitchFamily="34" charset="0"/>
                <a:cs typeface="Arial" panose="020B0604020202090204" pitchFamily="34" charset="0"/>
              </a:rPr>
              <a:t>(</a:t>
            </a:r>
            <a:r>
              <a:rPr lang="en-US" altLang="zh-CN" sz="3000" dirty="0" err="1">
                <a:latin typeface="Arial" panose="020B0604020202090204" pitchFamily="34" charset="0"/>
                <a:cs typeface="Arial" panose="020B0604020202090204" pitchFamily="34" charset="0"/>
              </a:rPr>
              <a:t>barber_ready</a:t>
            </a:r>
            <a:r>
              <a:rPr lang="en-US" altLang="zh-CN" sz="3000" dirty="0">
                <a:latin typeface="Arial" panose="020B0604020202090204" pitchFamily="34" charset="0"/>
                <a:cs typeface="Arial" panose="020B0604020202090204" pitchFamily="34" charset="0"/>
              </a:rPr>
              <a:t>)</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   }else </a:t>
            </a:r>
            <a:r>
              <a:rPr lang="en-US" altLang="zh-CN" sz="3000" dirty="0">
                <a:solidFill>
                  <a:srgbClr val="FF0000"/>
                </a:solidFill>
                <a:latin typeface="Arial" panose="020B0604020202090204" pitchFamily="34" charset="0"/>
                <a:cs typeface="Arial" panose="020B0604020202090204" pitchFamily="34" charset="0"/>
              </a:rPr>
              <a:t>Up</a:t>
            </a:r>
            <a:r>
              <a:rPr lang="en-US" altLang="zh-CN" sz="3000" dirty="0">
                <a:latin typeface="Arial" panose="020B0604020202090204" pitchFamily="34" charset="0"/>
                <a:cs typeface="Arial" panose="020B0604020202090204" pitchFamily="34" charset="0"/>
              </a:rPr>
              <a:t>(mutex);</a:t>
            </a:r>
            <a:endParaRPr lang="en-US" altLang="zh-CN" sz="3000" dirty="0">
              <a:latin typeface="Arial" panose="020B0604020202090204" pitchFamily="34" charset="0"/>
              <a:cs typeface="Arial" panose="020B0604020202090204" pitchFamily="34" charset="0"/>
            </a:endParaRPr>
          </a:p>
          <a:p>
            <a:r>
              <a:rPr lang="en-US" altLang="zh-CN" sz="3000" dirty="0">
                <a:latin typeface="Arial" panose="020B0604020202090204" pitchFamily="34" charset="0"/>
                <a:cs typeface="Arial" panose="020B0604020202090204" pitchFamily="34" charset="0"/>
              </a:rPr>
              <a:t>}</a:t>
            </a:r>
            <a:endParaRPr lang="zh-CN" altLang="en-US" sz="3000" dirty="0">
              <a:latin typeface="Arial" panose="020B0604020202090204" pitchFamily="34" charset="0"/>
              <a:cs typeface="Arial" panose="020B0604020202090204" pitchFamily="34" charset="0"/>
            </a:endParaRPr>
          </a:p>
        </p:txBody>
      </p:sp>
      <p:sp>
        <p:nvSpPr>
          <p:cNvPr id="13" name="矩形 12"/>
          <p:cNvSpPr/>
          <p:nvPr/>
        </p:nvSpPr>
        <p:spPr>
          <a:xfrm>
            <a:off x="1728232" y="631065"/>
            <a:ext cx="3863256" cy="421853"/>
          </a:xfrm>
          <a:prstGeom prst="rect">
            <a:avLst/>
          </a:prstGeom>
          <a:solidFill>
            <a:schemeClr val="accent6">
              <a:lumMod val="20000"/>
              <a:lumOff val="80000"/>
            </a:schemeClr>
          </a:solidFill>
          <a:ln cap="rn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panose="020B0604020202090204" pitchFamily="34" charset="0"/>
                <a:cs typeface="Arial" panose="020B0604020202090204" pitchFamily="34" charset="0"/>
              </a:rPr>
              <a:t>Barber</a:t>
            </a:r>
            <a:endParaRPr lang="zh-CN" altLang="en-US" b="1" dirty="0">
              <a:solidFill>
                <a:schemeClr val="tx1"/>
              </a:solidFill>
              <a:latin typeface="Arial" panose="020B0604020202090204" pitchFamily="34" charset="0"/>
              <a:cs typeface="Arial" panose="020B0604020202090204" pitchFamily="34" charset="0"/>
            </a:endParaRPr>
          </a:p>
        </p:txBody>
      </p:sp>
      <p:sp>
        <p:nvSpPr>
          <p:cNvPr id="14" name="矩形 13"/>
          <p:cNvSpPr/>
          <p:nvPr/>
        </p:nvSpPr>
        <p:spPr>
          <a:xfrm>
            <a:off x="6220544" y="631064"/>
            <a:ext cx="3863256" cy="421854"/>
          </a:xfrm>
          <a:prstGeom prst="rect">
            <a:avLst/>
          </a:prstGeom>
          <a:solidFill>
            <a:schemeClr val="accent5">
              <a:lumMod val="20000"/>
              <a:lumOff val="80000"/>
            </a:schemeClr>
          </a:solidFill>
          <a:ln cap="rn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Arial" panose="020B0604020202090204" pitchFamily="34" charset="0"/>
                <a:cs typeface="Arial" panose="020B0604020202090204" pitchFamily="34" charset="0"/>
              </a:rPr>
              <a:t>Customer</a:t>
            </a:r>
            <a:endParaRPr lang="zh-CN" altLang="en-US" b="1" dirty="0">
              <a:solidFill>
                <a:schemeClr val="tx1"/>
              </a:solidFill>
              <a:latin typeface="Arial" panose="020B0604020202090204" pitchFamily="34" charset="0"/>
              <a:cs typeface="Arial" panose="020B0604020202090204" pitchFamily="34" charset="0"/>
            </a:endParaRPr>
          </a:p>
        </p:txBody>
      </p:sp>
      <p:sp>
        <p:nvSpPr>
          <p:cNvPr id="2" name="文本框 1"/>
          <p:cNvSpPr txBox="1"/>
          <p:nvPr/>
        </p:nvSpPr>
        <p:spPr>
          <a:xfrm>
            <a:off x="5396094" y="10453"/>
            <a:ext cx="2756079" cy="492443"/>
          </a:xfrm>
          <a:prstGeom prst="rect">
            <a:avLst/>
          </a:prstGeom>
          <a:noFill/>
        </p:spPr>
        <p:txBody>
          <a:bodyPr wrap="square" rtlCol="0">
            <a:spAutoFit/>
          </a:bodyPr>
          <a:lstStyle/>
          <a:p>
            <a:r>
              <a:rPr lang="en-US" altLang="zh-CN" sz="2600" b="1" dirty="0">
                <a:latin typeface="Arial" panose="020B0604020202090204" pitchFamily="34" charset="0"/>
                <a:cs typeface="Arial" panose="020B0604020202090204" pitchFamily="34" charset="0"/>
              </a:rPr>
              <a:t>Tips</a:t>
            </a:r>
            <a:endParaRPr lang="zh-CN" altLang="en-US" sz="2600" b="1" dirty="0">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5"/>
          <p:cNvSpPr txBox="1">
            <a:spLocks noGrp="1" noChangeArrowheads="1"/>
          </p:cNvSpPr>
          <p:nvPr/>
        </p:nvSpPr>
        <p:spPr bwMode="auto">
          <a:xfrm>
            <a:off x="10083800" y="6489700"/>
            <a:ext cx="495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703060505090304" pitchFamily="18" charset="0"/>
              </a:defRPr>
            </a:lvl1pPr>
            <a:lvl2pPr marL="742950" indent="-285750" eaLnBrk="0" hangingPunct="0">
              <a:defRPr sz="2400">
                <a:solidFill>
                  <a:schemeClr val="tx1"/>
                </a:solidFill>
                <a:latin typeface="Times New Roman" panose="02020703060505090304" pitchFamily="18" charset="0"/>
              </a:defRPr>
            </a:lvl2pPr>
            <a:lvl3pPr marL="1143000" indent="-228600" eaLnBrk="0" hangingPunct="0">
              <a:defRPr sz="2400">
                <a:solidFill>
                  <a:schemeClr val="tx1"/>
                </a:solidFill>
                <a:latin typeface="Times New Roman" panose="02020703060505090304" pitchFamily="18" charset="0"/>
              </a:defRPr>
            </a:lvl3pPr>
            <a:lvl4pPr marL="1600200" indent="-228600" eaLnBrk="0" hangingPunct="0">
              <a:defRPr sz="2400">
                <a:solidFill>
                  <a:schemeClr val="tx1"/>
                </a:solidFill>
                <a:latin typeface="Times New Roman" panose="02020703060505090304" pitchFamily="18" charset="0"/>
              </a:defRPr>
            </a:lvl4pPr>
            <a:lvl5pPr marL="2057400" indent="-228600" eaLnBrk="0" hangingPunct="0">
              <a:defRPr sz="2400">
                <a:solidFill>
                  <a:schemeClr val="tx1"/>
                </a:solidFill>
                <a:latin typeface="Times New Roman" panose="02020703060505090304" pitchFamily="18" charset="0"/>
              </a:defRPr>
            </a:lvl5pPr>
            <a:lvl6pPr marL="25146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6pPr>
            <a:lvl7pPr marL="29718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7pPr>
            <a:lvl8pPr marL="34290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8pPr>
            <a:lvl9pPr marL="3886200" indent="-228600" eaLnBrk="0" fontAlgn="base" hangingPunct="0">
              <a:spcBef>
                <a:spcPct val="0"/>
              </a:spcBef>
              <a:spcAft>
                <a:spcPct val="0"/>
              </a:spcAft>
              <a:buFont typeface="Arial" panose="020B0604020202090204" pitchFamily="34" charset="0"/>
              <a:defRPr sz="2400">
                <a:solidFill>
                  <a:schemeClr val="tx1"/>
                </a:solidFill>
                <a:latin typeface="Times New Roman" panose="02020703060505090304" pitchFamily="18" charset="0"/>
              </a:defRPr>
            </a:lvl9pPr>
          </a:lstStyle>
          <a:p>
            <a:pPr algn="r" eaLnBrk="1" hangingPunct="1"/>
            <a:fld id="{53AE8761-ACC0-40B8-845C-DE03FB151CB3}" type="slidenum">
              <a:rPr lang="zh-CN" altLang="en-US" sz="1400">
                <a:ea typeface="宋体" panose="02010600030101010101" pitchFamily="2" charset="-122"/>
              </a:rPr>
            </a:fld>
            <a:endParaRPr lang="en-US" sz="1400">
              <a:ea typeface="宋体" panose="02010600030101010101" pitchFamily="2" charset="-122"/>
            </a:endParaRPr>
          </a:p>
        </p:txBody>
      </p:sp>
      <p:sp>
        <p:nvSpPr>
          <p:cNvPr id="119811" name="Rectangle 2"/>
          <p:cNvSpPr>
            <a:spLocks noGrp="1" noChangeArrowheads="1"/>
          </p:cNvSpPr>
          <p:nvPr>
            <p:ph type="title" idx="4294967295"/>
          </p:nvPr>
        </p:nvSpPr>
        <p:spPr>
          <a:xfrm>
            <a:off x="2295525" y="211140"/>
            <a:ext cx="7772400" cy="790575"/>
          </a:xfrm>
        </p:spPr>
        <p:txBody>
          <a:bodyPr>
            <a:normAutofit/>
          </a:bodyPr>
          <a:lstStyle/>
          <a:p>
            <a:pPr algn="ctr" eaLnBrk="1" hangingPunct="1"/>
            <a:r>
              <a:rPr lang="zh-CN" altLang="en-US" sz="3800" b="1" dirty="0">
                <a:latin typeface="微软雅黑" panose="020B0503020204020204" pitchFamily="34" charset="-122"/>
                <a:ea typeface="微软雅黑" panose="020B0503020204020204" pitchFamily="34" charset="-122"/>
              </a:rPr>
              <a:t>原始版本：读者优先</a:t>
            </a:r>
            <a:endParaRPr lang="en-US" altLang="zh-CN" sz="3800" b="1" dirty="0">
              <a:latin typeface="微软雅黑" panose="020B0503020204020204" pitchFamily="34" charset="-122"/>
              <a:ea typeface="微软雅黑" panose="020B0503020204020204" pitchFamily="34" charset="-122"/>
            </a:endParaRPr>
          </a:p>
        </p:txBody>
      </p:sp>
      <p:sp>
        <p:nvSpPr>
          <p:cNvPr id="3" name="矩形 2"/>
          <p:cNvSpPr/>
          <p:nvPr/>
        </p:nvSpPr>
        <p:spPr>
          <a:xfrm>
            <a:off x="6726066" y="1145226"/>
            <a:ext cx="3439435" cy="500876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Times New Roman" panose="02020703060505090304" pitchFamily="18" charset="0"/>
                <a:cs typeface="Times New Roman" panose="02020703060505090304" pitchFamily="18" charset="0"/>
              </a:rPr>
              <a:t>Writer</a:t>
            </a:r>
            <a:endParaRPr lang="en-US" altLang="zh-CN" sz="2800" b="1" dirty="0">
              <a:solidFill>
                <a:schemeClr val="tx1"/>
              </a:solidFill>
              <a:latin typeface="Times New Roman" panose="02020703060505090304" pitchFamily="18" charset="0"/>
              <a:cs typeface="Times New Roman" panose="02020703060505090304" pitchFamily="18" charset="0"/>
            </a:endParaRPr>
          </a:p>
          <a:p>
            <a:pPr algn="ctr"/>
            <a:endParaRPr lang="en-US" altLang="zh-CN" sz="2800" b="1" dirty="0">
              <a:solidFill>
                <a:schemeClr val="tx1"/>
              </a:solidFill>
              <a:latin typeface="Times New Roman" panose="02020703060505090304" pitchFamily="18" charset="0"/>
              <a:cs typeface="Times New Roman" panose="02020703060505090304" pitchFamily="18" charset="0"/>
            </a:endParaRPr>
          </a:p>
          <a:p>
            <a:pPr algn="ctr"/>
            <a:r>
              <a:rPr lang="en-US" altLang="zh-CN" sz="2800" dirty="0">
                <a:solidFill>
                  <a:srgbClr val="FF0000"/>
                </a:solidFill>
                <a:latin typeface="Times New Roman" panose="02020703060505090304" pitchFamily="18" charset="0"/>
                <a:cs typeface="Times New Roman" panose="02020703060505090304" pitchFamily="18" charset="0"/>
              </a:rPr>
              <a:t>Down</a:t>
            </a:r>
            <a:r>
              <a:rPr lang="en-US" altLang="zh-CN" sz="2800" dirty="0">
                <a:solidFill>
                  <a:schemeClr val="tx1"/>
                </a:solidFill>
                <a:latin typeface="Times New Roman" panose="02020703060505090304" pitchFamily="18" charset="0"/>
                <a:cs typeface="Times New Roman" panose="02020703060505090304" pitchFamily="18" charset="0"/>
              </a:rPr>
              <a:t>(</a:t>
            </a:r>
            <a:r>
              <a:rPr lang="en-US" altLang="zh-CN" sz="2800" dirty="0" err="1">
                <a:solidFill>
                  <a:schemeClr val="tx1"/>
                </a:solidFill>
                <a:latin typeface="Times New Roman" panose="02020703060505090304" pitchFamily="18" charset="0"/>
                <a:cs typeface="Times New Roman" panose="02020703060505090304" pitchFamily="18" charset="0"/>
              </a:rPr>
              <a:t>wmutex</a:t>
            </a:r>
            <a:r>
              <a:rPr lang="en-US" altLang="zh-CN" sz="2800" dirty="0">
                <a:solidFill>
                  <a:schemeClr val="tx1"/>
                </a:solidFill>
                <a:latin typeface="Times New Roman" panose="02020703060505090304" pitchFamily="18" charset="0"/>
                <a:cs typeface="Times New Roman" panose="02020703060505090304" pitchFamily="18" charset="0"/>
              </a:rPr>
              <a:t>)</a:t>
            </a:r>
            <a:endParaRPr lang="en-US" altLang="zh-CN" sz="2800" dirty="0">
              <a:solidFill>
                <a:schemeClr val="tx1"/>
              </a:solidFill>
              <a:latin typeface="Times New Roman" panose="02020703060505090304" pitchFamily="18" charset="0"/>
              <a:cs typeface="Times New Roman" panose="02020703060505090304" pitchFamily="18" charset="0"/>
            </a:endParaRPr>
          </a:p>
          <a:p>
            <a:pPr algn="ctr"/>
            <a:r>
              <a:rPr lang="en-US" altLang="zh-CN" sz="2800" dirty="0">
                <a:solidFill>
                  <a:schemeClr val="tx1"/>
                </a:solidFill>
                <a:latin typeface="Times New Roman" panose="02020703060505090304" pitchFamily="18" charset="0"/>
                <a:cs typeface="Times New Roman" panose="02020703060505090304" pitchFamily="18" charset="0"/>
              </a:rPr>
              <a:t>Write data</a:t>
            </a:r>
            <a:endParaRPr lang="en-US" altLang="zh-CN" sz="2800" dirty="0">
              <a:solidFill>
                <a:schemeClr val="tx1"/>
              </a:solidFill>
              <a:latin typeface="Times New Roman" panose="02020703060505090304" pitchFamily="18" charset="0"/>
              <a:cs typeface="Times New Roman" panose="02020703060505090304" pitchFamily="18" charset="0"/>
            </a:endParaRPr>
          </a:p>
          <a:p>
            <a:pPr algn="ctr"/>
            <a:r>
              <a:rPr lang="en-US" altLang="zh-CN" sz="2800" dirty="0">
                <a:solidFill>
                  <a:srgbClr val="FF0000"/>
                </a:solidFill>
                <a:latin typeface="Times New Roman" panose="02020703060505090304" pitchFamily="18" charset="0"/>
                <a:cs typeface="Times New Roman" panose="02020703060505090304" pitchFamily="18" charset="0"/>
              </a:rPr>
              <a:t>Up</a:t>
            </a:r>
            <a:r>
              <a:rPr lang="en-US" altLang="zh-CN" sz="2800" dirty="0">
                <a:solidFill>
                  <a:schemeClr val="tx1"/>
                </a:solidFill>
                <a:latin typeface="Times New Roman" panose="02020703060505090304" pitchFamily="18" charset="0"/>
                <a:cs typeface="Times New Roman" panose="02020703060505090304" pitchFamily="18" charset="0"/>
              </a:rPr>
              <a:t>(</a:t>
            </a:r>
            <a:r>
              <a:rPr lang="en-US" altLang="zh-CN" sz="2800" dirty="0" err="1">
                <a:solidFill>
                  <a:schemeClr val="tx1"/>
                </a:solidFill>
                <a:latin typeface="Times New Roman" panose="02020703060505090304" pitchFamily="18" charset="0"/>
                <a:cs typeface="Times New Roman" panose="02020703060505090304" pitchFamily="18" charset="0"/>
              </a:rPr>
              <a:t>wmutex</a:t>
            </a:r>
            <a:r>
              <a:rPr lang="en-US" altLang="zh-CN" sz="2800" dirty="0">
                <a:solidFill>
                  <a:schemeClr val="tx1"/>
                </a:solidFill>
                <a:latin typeface="Times New Roman" panose="02020703060505090304" pitchFamily="18" charset="0"/>
                <a:cs typeface="Times New Roman" panose="02020703060505090304" pitchFamily="18" charset="0"/>
              </a:rPr>
              <a:t>)</a:t>
            </a:r>
            <a:endParaRPr lang="en-US" altLang="zh-CN" sz="2800" dirty="0">
              <a:solidFill>
                <a:schemeClr val="tx1"/>
              </a:solidFill>
              <a:latin typeface="Times New Roman" panose="02020703060505090304" pitchFamily="18" charset="0"/>
              <a:cs typeface="Times New Roman" panose="02020703060505090304" pitchFamily="18" charset="0"/>
            </a:endParaRPr>
          </a:p>
          <a:p>
            <a:pPr algn="ctr"/>
            <a:endParaRPr lang="zh-CN" altLang="en-US" sz="2800" b="1" dirty="0">
              <a:solidFill>
                <a:schemeClr val="tx1"/>
              </a:solidFill>
              <a:latin typeface="Times New Roman" panose="02020703060505090304" pitchFamily="18" charset="0"/>
              <a:cs typeface="Times New Roman" panose="02020703060505090304" pitchFamily="18" charset="0"/>
            </a:endParaRPr>
          </a:p>
        </p:txBody>
      </p:sp>
      <p:sp>
        <p:nvSpPr>
          <p:cNvPr id="9" name="矩形 8"/>
          <p:cNvSpPr/>
          <p:nvPr/>
        </p:nvSpPr>
        <p:spPr>
          <a:xfrm>
            <a:off x="1996120" y="1145227"/>
            <a:ext cx="4662566" cy="500876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chemeClr val="tx1"/>
                </a:solidFill>
                <a:latin typeface="Times New Roman" panose="02020703060505090304" pitchFamily="18" charset="0"/>
                <a:cs typeface="Times New Roman" panose="02020703060505090304" pitchFamily="18" charset="0"/>
              </a:rPr>
              <a:t>Reader</a:t>
            </a:r>
            <a:endParaRPr lang="en-US" altLang="zh-CN" sz="2800" b="1" dirty="0">
              <a:solidFill>
                <a:schemeClr val="tx1"/>
              </a:solidFill>
              <a:latin typeface="Times New Roman" panose="02020703060505090304" pitchFamily="18" charset="0"/>
              <a:cs typeface="Times New Roman" panose="02020703060505090304" pitchFamily="18" charset="0"/>
            </a:endParaRPr>
          </a:p>
          <a:p>
            <a:r>
              <a:rPr lang="en-US" altLang="zh-CN" sz="2800" dirty="0">
                <a:solidFill>
                  <a:srgbClr val="FF0000"/>
                </a:solidFill>
                <a:latin typeface="Times New Roman" panose="02020703060505090304" pitchFamily="18" charset="0"/>
                <a:cs typeface="Times New Roman" panose="02020703060505090304" pitchFamily="18" charset="0"/>
              </a:rPr>
              <a:t>Down</a:t>
            </a:r>
            <a:r>
              <a:rPr lang="en-US" altLang="zh-CN" sz="2800" dirty="0">
                <a:solidFill>
                  <a:schemeClr val="tx1"/>
                </a:solidFill>
                <a:latin typeface="Times New Roman" panose="02020703060505090304" pitchFamily="18" charset="0"/>
                <a:cs typeface="Times New Roman" panose="02020703060505090304" pitchFamily="18" charset="0"/>
              </a:rPr>
              <a:t>(</a:t>
            </a:r>
            <a:r>
              <a:rPr lang="en-US" altLang="zh-CN" sz="2800" dirty="0" err="1">
                <a:solidFill>
                  <a:schemeClr val="tx1"/>
                </a:solidFill>
                <a:latin typeface="Times New Roman" panose="02020703060505090304" pitchFamily="18" charset="0"/>
                <a:cs typeface="Times New Roman" panose="02020703060505090304" pitchFamily="18" charset="0"/>
              </a:rPr>
              <a:t>mutex</a:t>
            </a:r>
            <a:r>
              <a:rPr lang="en-US" altLang="zh-CN" sz="2800" dirty="0">
                <a:solidFill>
                  <a:schemeClr val="tx1"/>
                </a:solidFill>
                <a:latin typeface="Times New Roman" panose="02020703060505090304" pitchFamily="18" charset="0"/>
                <a:cs typeface="Times New Roman" panose="02020703060505090304" pitchFamily="18" charset="0"/>
              </a:rPr>
              <a:t>);</a:t>
            </a:r>
            <a:endParaRPr lang="en-US" altLang="zh-CN" sz="2800" dirty="0">
              <a:solidFill>
                <a:schemeClr val="tx1"/>
              </a:solidFill>
              <a:latin typeface="Times New Roman" panose="02020703060505090304" pitchFamily="18" charset="0"/>
              <a:cs typeface="Times New Roman" panose="02020703060505090304" pitchFamily="18" charset="0"/>
            </a:endParaRPr>
          </a:p>
          <a:p>
            <a:r>
              <a:rPr lang="en-US" altLang="zh-CN" sz="2800" dirty="0">
                <a:solidFill>
                  <a:schemeClr val="tx1"/>
                </a:solidFill>
                <a:latin typeface="Times New Roman" panose="02020703060505090304" pitchFamily="18" charset="0"/>
                <a:cs typeface="Times New Roman" panose="02020703060505090304" pitchFamily="18" charset="0"/>
              </a:rPr>
              <a:t>reader ++;</a:t>
            </a:r>
            <a:endParaRPr lang="en-US" altLang="zh-CN" sz="2800" dirty="0">
              <a:solidFill>
                <a:schemeClr val="tx1"/>
              </a:solidFill>
              <a:latin typeface="Times New Roman" panose="02020703060505090304" pitchFamily="18" charset="0"/>
              <a:cs typeface="Times New Roman" panose="02020703060505090304" pitchFamily="18" charset="0"/>
            </a:endParaRPr>
          </a:p>
          <a:p>
            <a:r>
              <a:rPr lang="en-US" altLang="zh-CN" sz="2800" dirty="0">
                <a:solidFill>
                  <a:schemeClr val="tx1"/>
                </a:solidFill>
                <a:latin typeface="Times New Roman" panose="02020703060505090304" pitchFamily="18" charset="0"/>
                <a:cs typeface="Times New Roman" panose="02020703060505090304" pitchFamily="18" charset="0"/>
              </a:rPr>
              <a:t>If(reader == 1) </a:t>
            </a:r>
            <a:r>
              <a:rPr lang="en-US" altLang="zh-CN" sz="2600" dirty="0">
                <a:solidFill>
                  <a:srgbClr val="FF0000"/>
                </a:solidFill>
                <a:latin typeface="Times New Roman" panose="02020703060505090304" pitchFamily="18" charset="0"/>
                <a:cs typeface="Times New Roman" panose="02020703060505090304" pitchFamily="18" charset="0"/>
              </a:rPr>
              <a:t>Down</a:t>
            </a:r>
            <a:r>
              <a:rPr lang="en-US" altLang="zh-CN" sz="2600" dirty="0">
                <a:solidFill>
                  <a:schemeClr val="tx1"/>
                </a:solidFill>
                <a:latin typeface="Times New Roman" panose="02020703060505090304" pitchFamily="18" charset="0"/>
                <a:cs typeface="Times New Roman" panose="02020703060505090304" pitchFamily="18" charset="0"/>
              </a:rPr>
              <a:t>(</a:t>
            </a:r>
            <a:r>
              <a:rPr lang="en-US" altLang="zh-CN" sz="2600" dirty="0" err="1">
                <a:solidFill>
                  <a:schemeClr val="tx1"/>
                </a:solidFill>
                <a:latin typeface="Times New Roman" panose="02020703060505090304" pitchFamily="18" charset="0"/>
                <a:cs typeface="Times New Roman" panose="02020703060505090304" pitchFamily="18" charset="0"/>
              </a:rPr>
              <a:t>wmutex</a:t>
            </a:r>
            <a:r>
              <a:rPr lang="en-US" altLang="zh-CN" sz="2600" dirty="0">
                <a:solidFill>
                  <a:schemeClr val="tx1"/>
                </a:solidFill>
                <a:latin typeface="Times New Roman" panose="02020703060505090304" pitchFamily="18" charset="0"/>
                <a:cs typeface="Times New Roman" panose="02020703060505090304" pitchFamily="18" charset="0"/>
              </a:rPr>
              <a:t>);</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600" dirty="0">
                <a:solidFill>
                  <a:srgbClr val="FF0000"/>
                </a:solidFill>
                <a:latin typeface="Times New Roman" panose="02020703060505090304" pitchFamily="18" charset="0"/>
                <a:cs typeface="Times New Roman" panose="02020703060505090304" pitchFamily="18" charset="0"/>
              </a:rPr>
              <a:t>Up</a:t>
            </a:r>
            <a:r>
              <a:rPr lang="en-US" altLang="zh-CN" sz="2600" dirty="0">
                <a:solidFill>
                  <a:schemeClr val="tx1"/>
                </a:solidFill>
                <a:latin typeface="Times New Roman" panose="02020703060505090304" pitchFamily="18" charset="0"/>
                <a:cs typeface="Times New Roman" panose="02020703060505090304" pitchFamily="18" charset="0"/>
              </a:rPr>
              <a:t>(</a:t>
            </a:r>
            <a:r>
              <a:rPr lang="en-US" altLang="zh-CN" sz="2600" dirty="0" err="1">
                <a:solidFill>
                  <a:schemeClr val="tx1"/>
                </a:solidFill>
                <a:latin typeface="Times New Roman" panose="02020703060505090304" pitchFamily="18" charset="0"/>
                <a:cs typeface="Times New Roman" panose="02020703060505090304" pitchFamily="18" charset="0"/>
              </a:rPr>
              <a:t>mutex</a:t>
            </a:r>
            <a:r>
              <a:rPr lang="en-US" altLang="zh-CN" sz="2600" dirty="0">
                <a:solidFill>
                  <a:schemeClr val="tx1"/>
                </a:solidFill>
                <a:latin typeface="Times New Roman" panose="02020703060505090304" pitchFamily="18" charset="0"/>
                <a:cs typeface="Times New Roman" panose="02020703060505090304" pitchFamily="18" charset="0"/>
              </a:rPr>
              <a:t>);</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600" dirty="0">
                <a:solidFill>
                  <a:schemeClr val="tx1"/>
                </a:solidFill>
                <a:latin typeface="Times New Roman" panose="02020703060505090304" pitchFamily="18" charset="0"/>
                <a:cs typeface="Times New Roman" panose="02020703060505090304" pitchFamily="18" charset="0"/>
              </a:rPr>
              <a:t>Read data</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400" dirty="0">
                <a:solidFill>
                  <a:srgbClr val="FF0000"/>
                </a:solidFill>
                <a:latin typeface="Times New Roman" panose="02020703060505090304" pitchFamily="18" charset="0"/>
                <a:cs typeface="Times New Roman" panose="02020703060505090304" pitchFamily="18" charset="0"/>
              </a:rPr>
              <a:t>Down</a:t>
            </a:r>
            <a:r>
              <a:rPr lang="en-US" altLang="zh-CN" sz="2400" dirty="0">
                <a:solidFill>
                  <a:schemeClr val="tx1"/>
                </a:solidFill>
                <a:latin typeface="Times New Roman" panose="02020703060505090304" pitchFamily="18" charset="0"/>
                <a:cs typeface="Times New Roman" panose="02020703060505090304" pitchFamily="18" charset="0"/>
              </a:rPr>
              <a:t>(</a:t>
            </a:r>
            <a:r>
              <a:rPr lang="en-US" altLang="zh-CN" sz="2400" dirty="0" err="1">
                <a:solidFill>
                  <a:schemeClr val="tx1"/>
                </a:solidFill>
                <a:latin typeface="Times New Roman" panose="02020703060505090304" pitchFamily="18" charset="0"/>
                <a:cs typeface="Times New Roman" panose="02020703060505090304" pitchFamily="18" charset="0"/>
              </a:rPr>
              <a:t>mutex</a:t>
            </a:r>
            <a:r>
              <a:rPr lang="en-US" altLang="zh-CN" sz="2400" dirty="0">
                <a:solidFill>
                  <a:schemeClr val="tx1"/>
                </a:solidFill>
                <a:latin typeface="Times New Roman" panose="02020703060505090304" pitchFamily="18" charset="0"/>
                <a:cs typeface="Times New Roman" panose="02020703060505090304" pitchFamily="18" charset="0"/>
              </a:rPr>
              <a:t>);</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600" dirty="0">
                <a:solidFill>
                  <a:schemeClr val="tx1"/>
                </a:solidFill>
                <a:latin typeface="Times New Roman" panose="02020703060505090304" pitchFamily="18" charset="0"/>
                <a:cs typeface="Times New Roman" panose="02020703060505090304" pitchFamily="18" charset="0"/>
              </a:rPr>
              <a:t>reader--;</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600" dirty="0">
                <a:solidFill>
                  <a:schemeClr val="tx1"/>
                </a:solidFill>
                <a:latin typeface="Times New Roman" panose="02020703060505090304" pitchFamily="18" charset="0"/>
                <a:cs typeface="Times New Roman" panose="02020703060505090304" pitchFamily="18" charset="0"/>
              </a:rPr>
              <a:t>If(reader == 0) </a:t>
            </a:r>
            <a:r>
              <a:rPr lang="en-US" altLang="zh-CN" sz="2600" dirty="0">
                <a:solidFill>
                  <a:srgbClr val="FF0000"/>
                </a:solidFill>
                <a:latin typeface="Times New Roman" panose="02020703060505090304" pitchFamily="18" charset="0"/>
                <a:cs typeface="Times New Roman" panose="02020703060505090304" pitchFamily="18" charset="0"/>
              </a:rPr>
              <a:t>Up</a:t>
            </a:r>
            <a:r>
              <a:rPr lang="en-US" altLang="zh-CN" sz="2600" dirty="0">
                <a:solidFill>
                  <a:schemeClr val="tx1"/>
                </a:solidFill>
                <a:latin typeface="Times New Roman" panose="02020703060505090304" pitchFamily="18" charset="0"/>
                <a:cs typeface="Times New Roman" panose="02020703060505090304" pitchFamily="18" charset="0"/>
              </a:rPr>
              <a:t>(</a:t>
            </a:r>
            <a:r>
              <a:rPr lang="en-US" altLang="zh-CN" sz="2600" dirty="0" err="1">
                <a:solidFill>
                  <a:schemeClr val="tx1"/>
                </a:solidFill>
                <a:latin typeface="Times New Roman" panose="02020703060505090304" pitchFamily="18" charset="0"/>
                <a:cs typeface="Times New Roman" panose="02020703060505090304" pitchFamily="18" charset="0"/>
              </a:rPr>
              <a:t>wmutex</a:t>
            </a:r>
            <a:r>
              <a:rPr lang="en-US" altLang="zh-CN" sz="2600" dirty="0">
                <a:solidFill>
                  <a:schemeClr val="tx1"/>
                </a:solidFill>
                <a:latin typeface="Times New Roman" panose="02020703060505090304" pitchFamily="18" charset="0"/>
                <a:cs typeface="Times New Roman" panose="02020703060505090304" pitchFamily="18" charset="0"/>
              </a:rPr>
              <a:t>);</a:t>
            </a:r>
            <a:endParaRPr lang="en-US" altLang="zh-CN" sz="2600" dirty="0">
              <a:solidFill>
                <a:schemeClr val="tx1"/>
              </a:solidFill>
              <a:latin typeface="Times New Roman" panose="02020703060505090304" pitchFamily="18" charset="0"/>
              <a:cs typeface="Times New Roman" panose="02020703060505090304" pitchFamily="18" charset="0"/>
            </a:endParaRPr>
          </a:p>
          <a:p>
            <a:r>
              <a:rPr lang="en-US" altLang="zh-CN" sz="2600" dirty="0">
                <a:solidFill>
                  <a:srgbClr val="FF0000"/>
                </a:solidFill>
                <a:latin typeface="Times New Roman" panose="02020703060505090304" pitchFamily="18" charset="0"/>
                <a:cs typeface="Times New Roman" panose="02020703060505090304" pitchFamily="18" charset="0"/>
              </a:rPr>
              <a:t>Up</a:t>
            </a:r>
            <a:r>
              <a:rPr lang="en-US" altLang="zh-CN" sz="2600" dirty="0">
                <a:solidFill>
                  <a:schemeClr val="tx1"/>
                </a:solidFill>
                <a:latin typeface="Times New Roman" panose="02020703060505090304" pitchFamily="18" charset="0"/>
                <a:cs typeface="Times New Roman" panose="02020703060505090304" pitchFamily="18" charset="0"/>
              </a:rPr>
              <a:t>(</a:t>
            </a:r>
            <a:r>
              <a:rPr lang="en-US" altLang="zh-CN" sz="2600" dirty="0" err="1">
                <a:solidFill>
                  <a:schemeClr val="tx1"/>
                </a:solidFill>
                <a:latin typeface="Times New Roman" panose="02020703060505090304" pitchFamily="18" charset="0"/>
                <a:cs typeface="Times New Roman" panose="02020703060505090304" pitchFamily="18" charset="0"/>
              </a:rPr>
              <a:t>mutex</a:t>
            </a:r>
            <a:r>
              <a:rPr lang="en-US" altLang="zh-CN" sz="2600" dirty="0">
                <a:solidFill>
                  <a:schemeClr val="tx1"/>
                </a:solidFill>
                <a:latin typeface="Times New Roman" panose="02020703060505090304" pitchFamily="18" charset="0"/>
                <a:cs typeface="Times New Roman" panose="02020703060505090304" pitchFamily="18" charset="0"/>
              </a:rPr>
              <a:t>);</a:t>
            </a:r>
            <a:endParaRPr lang="zh-CN" altLang="en-US" b="1" dirty="0">
              <a:solidFill>
                <a:schemeClr val="tx1"/>
              </a:solidFill>
              <a:latin typeface="Times New Roman" panose="02020703060505090304" pitchFamily="18" charset="0"/>
              <a:cs typeface="Times New Roman" panose="0202070306050509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23206" y="12879"/>
            <a:ext cx="9145588" cy="907941"/>
          </a:xfrm>
          <a:prstGeom prst="rect">
            <a:avLst/>
          </a:prstGeom>
          <a:noFill/>
        </p:spPr>
        <p:txBody>
          <a:bodyPr wrap="square" rtlCol="0">
            <a:spAutoFit/>
          </a:bodyPr>
          <a:lstStyle/>
          <a:p>
            <a:pPr algn="ctr"/>
            <a:r>
              <a:rPr lang="zh-CN" altLang="en-US" sz="2600" b="1" dirty="0">
                <a:latin typeface="Arial" panose="020B0604020202090204" pitchFamily="34" charset="0"/>
                <a:cs typeface="Arial" panose="020B0604020202090204" pitchFamily="34" charset="0"/>
              </a:rPr>
              <a:t>写者优先</a:t>
            </a:r>
            <a:endParaRPr lang="en-US" altLang="zh-CN" sz="2800" b="1" dirty="0">
              <a:latin typeface="Arial" panose="020B0604020202090204" pitchFamily="34" charset="0"/>
              <a:cs typeface="Arial" panose="020B0604020202090204" pitchFamily="34" charset="0"/>
            </a:endParaRPr>
          </a:p>
          <a:p>
            <a:endParaRPr lang="en-US" altLang="zh-CN" sz="2500" dirty="0">
              <a:solidFill>
                <a:srgbClr val="FF0000"/>
              </a:solidFill>
              <a:latin typeface="Arial" panose="020B0604020202090204" pitchFamily="34" charset="0"/>
              <a:cs typeface="Arial" panose="020B0604020202090204" pitchFamily="34" charset="0"/>
            </a:endParaRPr>
          </a:p>
        </p:txBody>
      </p:sp>
      <p:sp>
        <p:nvSpPr>
          <p:cNvPr id="4" name="矩形 3"/>
          <p:cNvSpPr/>
          <p:nvPr/>
        </p:nvSpPr>
        <p:spPr>
          <a:xfrm>
            <a:off x="6096001" y="797452"/>
            <a:ext cx="4218709" cy="555884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90204" pitchFamily="34" charset="0"/>
                <a:cs typeface="Arial" panose="020B0604020202090204" pitchFamily="34" charset="0"/>
              </a:rPr>
              <a:t>Writer</a:t>
            </a:r>
            <a:endParaRPr lang="en-US" altLang="zh-CN" sz="2800" b="1" dirty="0">
              <a:solidFill>
                <a:schemeClr val="tx1"/>
              </a:solidFill>
              <a:latin typeface="Arial" panose="020B0604020202090204" pitchFamily="34" charset="0"/>
              <a:cs typeface="Arial" panose="020B0604020202090204" pitchFamily="34" charset="0"/>
            </a:endParaRPr>
          </a:p>
          <a:p>
            <a:r>
              <a:rPr lang="en-US" altLang="zh-CN" sz="2800" dirty="0">
                <a:solidFill>
                  <a:srgbClr val="FF0000"/>
                </a:solidFill>
                <a:latin typeface="Arial" panose="020B0604020202090204" pitchFamily="34" charset="0"/>
                <a:cs typeface="Arial" panose="020B0604020202090204" pitchFamily="34" charset="0"/>
              </a:rPr>
              <a:t>Down(y)</a:t>
            </a:r>
            <a:endParaRPr lang="en-US" altLang="zh-CN" sz="2800" dirty="0">
              <a:solidFill>
                <a:srgbClr val="FF0000"/>
              </a:solidFill>
              <a:latin typeface="Arial" panose="020B0604020202090204" pitchFamily="34" charset="0"/>
              <a:cs typeface="Arial" panose="020B0604020202090204" pitchFamily="34" charset="0"/>
            </a:endParaRPr>
          </a:p>
          <a:p>
            <a:r>
              <a:rPr lang="en-US" altLang="zh-CN" sz="2800" dirty="0" err="1">
                <a:solidFill>
                  <a:srgbClr val="FF0000"/>
                </a:solidFill>
                <a:latin typeface="Arial" panose="020B0604020202090204" pitchFamily="34" charset="0"/>
                <a:cs typeface="Arial" panose="020B0604020202090204" pitchFamily="34" charset="0"/>
              </a:rPr>
              <a:t>wc</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a:p>
            <a:r>
              <a:rPr lang="en-US" altLang="zh-CN" sz="2800" dirty="0">
                <a:solidFill>
                  <a:srgbClr val="FF0000"/>
                </a:solidFill>
                <a:latin typeface="Arial" panose="020B0604020202090204" pitchFamily="34" charset="0"/>
                <a:cs typeface="Arial" panose="020B0604020202090204" pitchFamily="34" charset="0"/>
              </a:rPr>
              <a:t>If( </a:t>
            </a:r>
            <a:r>
              <a:rPr lang="en-US" altLang="zh-CN" sz="2800" dirty="0" err="1">
                <a:solidFill>
                  <a:srgbClr val="FF0000"/>
                </a:solidFill>
                <a:latin typeface="Arial" panose="020B0604020202090204" pitchFamily="34" charset="0"/>
                <a:cs typeface="Arial" panose="020B0604020202090204" pitchFamily="34" charset="0"/>
              </a:rPr>
              <a:t>wc</a:t>
            </a:r>
            <a:r>
              <a:rPr lang="en-US" altLang="zh-CN" sz="2800" dirty="0">
                <a:solidFill>
                  <a:srgbClr val="FF0000"/>
                </a:solidFill>
                <a:latin typeface="Arial" panose="020B0604020202090204" pitchFamily="34" charset="0"/>
                <a:cs typeface="Arial" panose="020B0604020202090204" pitchFamily="34" charset="0"/>
              </a:rPr>
              <a:t> == 1) Down(</a:t>
            </a:r>
            <a:r>
              <a:rPr lang="en-US" altLang="zh-CN" sz="2800" dirty="0" err="1">
                <a:solidFill>
                  <a:srgbClr val="FF0000"/>
                </a:solidFill>
                <a:latin typeface="Arial" panose="020B0604020202090204" pitchFamily="34" charset="0"/>
                <a:cs typeface="Arial" panose="020B0604020202090204" pitchFamily="34" charset="0"/>
              </a:rPr>
              <a:t>rsem</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a:p>
            <a:r>
              <a:rPr lang="en-US" altLang="zh-CN" sz="2800" dirty="0">
                <a:solidFill>
                  <a:srgbClr val="FF0000"/>
                </a:solidFill>
                <a:latin typeface="Arial" panose="020B0604020202090204" pitchFamily="34" charset="0"/>
                <a:cs typeface="Arial" panose="020B0604020202090204" pitchFamily="34" charset="0"/>
              </a:rPr>
              <a:t>Up(y); </a:t>
            </a:r>
            <a:endParaRPr lang="en-US" altLang="zh-CN" sz="2800" dirty="0">
              <a:solidFill>
                <a:srgbClr val="FF0000"/>
              </a:solidFill>
              <a:latin typeface="Arial" panose="020B0604020202090204" pitchFamily="34" charset="0"/>
              <a:cs typeface="Arial" panose="020B0604020202090204" pitchFamily="34" charset="0"/>
            </a:endParaRPr>
          </a:p>
          <a:p>
            <a:r>
              <a:rPr lang="en-US" altLang="zh-CN" sz="2800" dirty="0">
                <a:solidFill>
                  <a:schemeClr val="tx1"/>
                </a:solidFill>
                <a:latin typeface="Arial" panose="020B0604020202090204" pitchFamily="34" charset="0"/>
                <a:cs typeface="Arial" panose="020B0604020202090204" pitchFamily="34" charset="0"/>
              </a:rPr>
              <a:t>Down(</a:t>
            </a:r>
            <a:r>
              <a:rPr lang="en-US" altLang="zh-CN" sz="2800" dirty="0" err="1">
                <a:solidFill>
                  <a:schemeClr val="tx1"/>
                </a:solidFill>
                <a:latin typeface="Arial" panose="020B0604020202090204" pitchFamily="34" charset="0"/>
                <a:cs typeface="Arial" panose="020B0604020202090204" pitchFamily="34" charset="0"/>
              </a:rPr>
              <a:t>wsem</a:t>
            </a:r>
            <a:r>
              <a:rPr lang="en-US" altLang="zh-CN" sz="2800" dirty="0">
                <a:solidFill>
                  <a:schemeClr val="tx1"/>
                </a:solidFill>
                <a:latin typeface="Arial" panose="020B0604020202090204" pitchFamily="34" charset="0"/>
                <a:cs typeface="Arial" panose="020B0604020202090204" pitchFamily="34" charset="0"/>
              </a:rPr>
              <a:t>);</a:t>
            </a:r>
            <a:endParaRPr lang="en-US" altLang="zh-CN" sz="2800" dirty="0">
              <a:solidFill>
                <a:schemeClr val="tx1"/>
              </a:solidFill>
              <a:latin typeface="Arial" panose="020B0604020202090204" pitchFamily="34" charset="0"/>
              <a:cs typeface="Arial" panose="020B0604020202090204" pitchFamily="34" charset="0"/>
            </a:endParaRPr>
          </a:p>
          <a:p>
            <a:r>
              <a:rPr lang="en-US" altLang="zh-CN" sz="2800" dirty="0">
                <a:solidFill>
                  <a:schemeClr val="tx1"/>
                </a:solidFill>
                <a:latin typeface="Arial" panose="020B0604020202090204" pitchFamily="34" charset="0"/>
                <a:cs typeface="Arial" panose="020B0604020202090204" pitchFamily="34" charset="0"/>
              </a:rPr>
              <a:t>Write data</a:t>
            </a:r>
            <a:endParaRPr lang="en-US" altLang="zh-CN" sz="2800" dirty="0">
              <a:solidFill>
                <a:schemeClr val="tx1"/>
              </a:solidFill>
              <a:latin typeface="Arial" panose="020B0604020202090204" pitchFamily="34" charset="0"/>
              <a:cs typeface="Arial" panose="020B0604020202090204" pitchFamily="34" charset="0"/>
            </a:endParaRPr>
          </a:p>
          <a:p>
            <a:r>
              <a:rPr lang="en-US" altLang="zh-CN" sz="2800" dirty="0" err="1">
                <a:solidFill>
                  <a:srgbClr val="FF0000"/>
                </a:solidFill>
                <a:latin typeface="Arial" panose="020B0604020202090204" pitchFamily="34" charset="0"/>
                <a:cs typeface="Arial" panose="020B0604020202090204" pitchFamily="34" charset="0"/>
              </a:rPr>
              <a:t>wc</a:t>
            </a:r>
            <a:r>
              <a:rPr lang="en-US" altLang="zh-CN" sz="2800" dirty="0">
                <a:solidFill>
                  <a:srgbClr val="FF0000"/>
                </a:solidFill>
                <a:latin typeface="Arial" panose="020B0604020202090204" pitchFamily="34" charset="0"/>
                <a:cs typeface="Arial" panose="020B0604020202090204" pitchFamily="34" charset="0"/>
              </a:rPr>
              <a:t>--; if(</a:t>
            </a:r>
            <a:r>
              <a:rPr lang="en-US" altLang="zh-CN" sz="2800" dirty="0" err="1">
                <a:solidFill>
                  <a:srgbClr val="FF0000"/>
                </a:solidFill>
                <a:latin typeface="Arial" panose="020B0604020202090204" pitchFamily="34" charset="0"/>
                <a:cs typeface="Arial" panose="020B0604020202090204" pitchFamily="34" charset="0"/>
              </a:rPr>
              <a:t>wc</a:t>
            </a:r>
            <a:r>
              <a:rPr lang="en-US" altLang="zh-CN" sz="2800" dirty="0">
                <a:solidFill>
                  <a:srgbClr val="FF0000"/>
                </a:solidFill>
                <a:latin typeface="Arial" panose="020B0604020202090204" pitchFamily="34" charset="0"/>
                <a:cs typeface="Arial" panose="020B0604020202090204" pitchFamily="34" charset="0"/>
              </a:rPr>
              <a:t> == 0) Up(</a:t>
            </a:r>
            <a:r>
              <a:rPr lang="en-US" altLang="zh-CN" sz="2800" dirty="0" err="1">
                <a:solidFill>
                  <a:srgbClr val="FF0000"/>
                </a:solidFill>
                <a:latin typeface="Arial" panose="020B0604020202090204" pitchFamily="34" charset="0"/>
                <a:cs typeface="Arial" panose="020B0604020202090204" pitchFamily="34" charset="0"/>
              </a:rPr>
              <a:t>rsem</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chemeClr val="tx1"/>
              </a:solidFill>
              <a:latin typeface="Arial" panose="020B0604020202090204" pitchFamily="34" charset="0"/>
              <a:cs typeface="Arial" panose="020B0604020202090204" pitchFamily="34" charset="0"/>
            </a:endParaRPr>
          </a:p>
          <a:p>
            <a:r>
              <a:rPr lang="en-US" altLang="zh-CN" sz="2800" dirty="0">
                <a:solidFill>
                  <a:schemeClr val="tx1"/>
                </a:solidFill>
                <a:latin typeface="Arial" panose="020B0604020202090204" pitchFamily="34" charset="0"/>
                <a:cs typeface="Arial" panose="020B0604020202090204" pitchFamily="34" charset="0"/>
              </a:rPr>
              <a:t>Up(</a:t>
            </a:r>
            <a:r>
              <a:rPr lang="en-US" altLang="zh-CN" sz="2800" dirty="0" err="1">
                <a:solidFill>
                  <a:schemeClr val="tx1"/>
                </a:solidFill>
                <a:latin typeface="Arial" panose="020B0604020202090204" pitchFamily="34" charset="0"/>
                <a:cs typeface="Arial" panose="020B0604020202090204" pitchFamily="34" charset="0"/>
              </a:rPr>
              <a:t>wsem</a:t>
            </a:r>
            <a:r>
              <a:rPr lang="en-US" altLang="zh-CN" sz="2800" dirty="0">
                <a:solidFill>
                  <a:schemeClr val="tx1"/>
                </a:solidFill>
                <a:latin typeface="Arial" panose="020B0604020202090204" pitchFamily="34" charset="0"/>
                <a:cs typeface="Arial" panose="020B0604020202090204" pitchFamily="34" charset="0"/>
              </a:rPr>
              <a:t>);</a:t>
            </a:r>
            <a:endParaRPr lang="en-US" altLang="zh-CN" sz="2800" dirty="0">
              <a:solidFill>
                <a:schemeClr val="tx1"/>
              </a:solidFill>
              <a:latin typeface="Arial" panose="020B0604020202090204" pitchFamily="34" charset="0"/>
              <a:cs typeface="Arial" panose="020B0604020202090204" pitchFamily="34" charset="0"/>
            </a:endParaRPr>
          </a:p>
          <a:p>
            <a:pPr algn="ctr"/>
            <a:endParaRPr lang="zh-CN" altLang="en-US" sz="2800" b="1" dirty="0">
              <a:solidFill>
                <a:schemeClr val="tx1"/>
              </a:solidFill>
              <a:latin typeface="Arial" panose="020B0604020202090204" pitchFamily="34" charset="0"/>
              <a:cs typeface="Arial" panose="020B0604020202090204" pitchFamily="34" charset="0"/>
            </a:endParaRPr>
          </a:p>
        </p:txBody>
      </p:sp>
      <p:sp>
        <p:nvSpPr>
          <p:cNvPr id="5" name="矩形 4"/>
          <p:cNvSpPr/>
          <p:nvPr/>
        </p:nvSpPr>
        <p:spPr>
          <a:xfrm>
            <a:off x="2026155" y="797452"/>
            <a:ext cx="4069845" cy="555884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chemeClr val="tx1"/>
                </a:solidFill>
                <a:latin typeface="Arial" panose="020B0604020202090204" pitchFamily="34" charset="0"/>
                <a:cs typeface="Arial" panose="020B0604020202090204" pitchFamily="34" charset="0"/>
              </a:rPr>
              <a:t>Reader</a:t>
            </a:r>
            <a:endParaRPr lang="en-US" altLang="zh-CN" sz="2800" b="1" dirty="0">
              <a:solidFill>
                <a:schemeClr val="tx1"/>
              </a:solidFill>
              <a:latin typeface="Arial" panose="020B0604020202090204" pitchFamily="34" charset="0"/>
              <a:cs typeface="Arial" panose="020B0604020202090204" pitchFamily="34" charset="0"/>
            </a:endParaRPr>
          </a:p>
          <a:p>
            <a:r>
              <a:rPr lang="en-US" altLang="zh-CN" sz="2800" dirty="0">
                <a:solidFill>
                  <a:srgbClr val="FF0000"/>
                </a:solidFill>
                <a:latin typeface="Arial" panose="020B0604020202090204" pitchFamily="34" charset="0"/>
                <a:cs typeface="Arial" panose="020B0604020202090204" pitchFamily="34" charset="0"/>
              </a:rPr>
              <a:t>Down(z);  Down(</a:t>
            </a:r>
            <a:r>
              <a:rPr lang="en-US" altLang="zh-CN" sz="2800" dirty="0" err="1">
                <a:solidFill>
                  <a:srgbClr val="FF0000"/>
                </a:solidFill>
                <a:latin typeface="Arial" panose="020B0604020202090204" pitchFamily="34" charset="0"/>
                <a:cs typeface="Arial" panose="020B0604020202090204" pitchFamily="34" charset="0"/>
              </a:rPr>
              <a:t>rsem</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b="1" dirty="0">
              <a:solidFill>
                <a:srgbClr val="FF0000"/>
              </a:solidFill>
              <a:latin typeface="Arial" panose="020B0604020202090204" pitchFamily="34" charset="0"/>
              <a:cs typeface="Arial" panose="020B0604020202090204" pitchFamily="34" charset="0"/>
            </a:endParaRPr>
          </a:p>
          <a:p>
            <a:r>
              <a:rPr lang="en-US" altLang="zh-CN" sz="2800" dirty="0">
                <a:solidFill>
                  <a:schemeClr val="tx1"/>
                </a:solidFill>
                <a:latin typeface="Arial" panose="020B0604020202090204" pitchFamily="34" charset="0"/>
                <a:cs typeface="Arial" panose="020B0604020202090204" pitchFamily="34" charset="0"/>
              </a:rPr>
              <a:t>Down(x);</a:t>
            </a:r>
            <a:endParaRPr lang="en-US" altLang="zh-CN" sz="2800" dirty="0">
              <a:solidFill>
                <a:schemeClr val="tx1"/>
              </a:solidFill>
              <a:latin typeface="Arial" panose="020B0604020202090204" pitchFamily="34" charset="0"/>
              <a:cs typeface="Arial" panose="020B0604020202090204" pitchFamily="34" charset="0"/>
            </a:endParaRPr>
          </a:p>
          <a:p>
            <a:r>
              <a:rPr lang="en-US" altLang="zh-CN" sz="2800" dirty="0" err="1">
                <a:solidFill>
                  <a:schemeClr val="tx1"/>
                </a:solidFill>
                <a:latin typeface="Arial" panose="020B0604020202090204" pitchFamily="34" charset="0"/>
                <a:cs typeface="Arial" panose="020B0604020202090204" pitchFamily="34" charset="0"/>
              </a:rPr>
              <a:t>rc</a:t>
            </a:r>
            <a:r>
              <a:rPr lang="en-US" altLang="zh-CN" sz="2800" dirty="0">
                <a:solidFill>
                  <a:schemeClr val="tx1"/>
                </a:solidFill>
                <a:latin typeface="Arial" panose="020B0604020202090204" pitchFamily="34" charset="0"/>
                <a:cs typeface="Arial" panose="020B0604020202090204" pitchFamily="34" charset="0"/>
              </a:rPr>
              <a:t> ++;</a:t>
            </a:r>
            <a:endParaRPr lang="en-US" altLang="zh-CN" sz="2800" dirty="0">
              <a:solidFill>
                <a:schemeClr val="tx1"/>
              </a:solidFill>
              <a:latin typeface="Arial" panose="020B0604020202090204" pitchFamily="34" charset="0"/>
              <a:cs typeface="Arial" panose="020B0604020202090204" pitchFamily="34" charset="0"/>
            </a:endParaRPr>
          </a:p>
          <a:p>
            <a:r>
              <a:rPr lang="en-US" altLang="zh-CN" sz="2800" dirty="0">
                <a:solidFill>
                  <a:schemeClr val="tx1"/>
                </a:solidFill>
                <a:latin typeface="Arial" panose="020B0604020202090204" pitchFamily="34" charset="0"/>
                <a:cs typeface="Arial" panose="020B0604020202090204" pitchFamily="34" charset="0"/>
              </a:rPr>
              <a:t>If(</a:t>
            </a:r>
            <a:r>
              <a:rPr lang="en-US" altLang="zh-CN" sz="2800" dirty="0" err="1">
                <a:solidFill>
                  <a:schemeClr val="tx1"/>
                </a:solidFill>
                <a:latin typeface="Arial" panose="020B0604020202090204" pitchFamily="34" charset="0"/>
                <a:cs typeface="Arial" panose="020B0604020202090204" pitchFamily="34" charset="0"/>
              </a:rPr>
              <a:t>rc</a:t>
            </a:r>
            <a:r>
              <a:rPr lang="en-US" altLang="zh-CN" sz="2800" dirty="0">
                <a:solidFill>
                  <a:schemeClr val="tx1"/>
                </a:solidFill>
                <a:latin typeface="Arial" panose="020B0604020202090204" pitchFamily="34" charset="0"/>
                <a:cs typeface="Arial" panose="020B0604020202090204" pitchFamily="34" charset="0"/>
              </a:rPr>
              <a:t> == 1) </a:t>
            </a:r>
            <a:r>
              <a:rPr lang="en-US" altLang="zh-CN" sz="2600" dirty="0">
                <a:solidFill>
                  <a:schemeClr val="tx1"/>
                </a:solidFill>
                <a:latin typeface="Arial" panose="020B0604020202090204" pitchFamily="34" charset="0"/>
                <a:cs typeface="Arial" panose="020B0604020202090204" pitchFamily="34" charset="0"/>
              </a:rPr>
              <a:t>Down(</a:t>
            </a:r>
            <a:r>
              <a:rPr lang="en-US" altLang="zh-CN" sz="2600" dirty="0" err="1">
                <a:solidFill>
                  <a:schemeClr val="tx1"/>
                </a:solidFill>
                <a:latin typeface="Arial" panose="020B0604020202090204" pitchFamily="34" charset="0"/>
                <a:cs typeface="Arial" panose="020B0604020202090204" pitchFamily="34" charset="0"/>
              </a:rPr>
              <a:t>wsem</a:t>
            </a:r>
            <a:r>
              <a:rPr lang="en-US" altLang="zh-CN" sz="2600" dirty="0">
                <a:solidFill>
                  <a:schemeClr val="tx1"/>
                </a:solidFill>
                <a:latin typeface="Arial" panose="020B0604020202090204" pitchFamily="34" charset="0"/>
                <a:cs typeface="Arial" panose="020B0604020202090204" pitchFamily="34" charset="0"/>
              </a:rPr>
              <a:t>);</a:t>
            </a:r>
            <a:endParaRPr lang="en-US" altLang="zh-CN" sz="2600" dirty="0">
              <a:solidFill>
                <a:schemeClr val="tx1"/>
              </a:solidFill>
              <a:latin typeface="Arial" panose="020B0604020202090204" pitchFamily="34" charset="0"/>
              <a:cs typeface="Arial" panose="020B0604020202090204" pitchFamily="34" charset="0"/>
            </a:endParaRPr>
          </a:p>
          <a:p>
            <a:r>
              <a:rPr lang="en-US" altLang="zh-CN" sz="2600" dirty="0">
                <a:solidFill>
                  <a:schemeClr val="tx1"/>
                </a:solidFill>
                <a:latin typeface="Arial" panose="020B0604020202090204" pitchFamily="34" charset="0"/>
                <a:cs typeface="Arial" panose="020B0604020202090204" pitchFamily="34" charset="0"/>
              </a:rPr>
              <a:t>Up(x); </a:t>
            </a:r>
            <a:r>
              <a:rPr lang="en-US" altLang="zh-CN" sz="2600" dirty="0">
                <a:solidFill>
                  <a:srgbClr val="FF0000"/>
                </a:solidFill>
                <a:latin typeface="Arial" panose="020B0604020202090204" pitchFamily="34" charset="0"/>
                <a:cs typeface="Arial" panose="020B0604020202090204" pitchFamily="34" charset="0"/>
              </a:rPr>
              <a:t>Up(</a:t>
            </a:r>
            <a:r>
              <a:rPr lang="en-US" altLang="zh-CN" sz="2600" dirty="0" err="1">
                <a:solidFill>
                  <a:srgbClr val="FF0000"/>
                </a:solidFill>
                <a:latin typeface="Arial" panose="020B0604020202090204" pitchFamily="34" charset="0"/>
                <a:cs typeface="Arial" panose="020B0604020202090204" pitchFamily="34" charset="0"/>
              </a:rPr>
              <a:t>rsem</a:t>
            </a:r>
            <a:r>
              <a:rPr lang="en-US" altLang="zh-CN" sz="2600" dirty="0">
                <a:solidFill>
                  <a:srgbClr val="FF0000"/>
                </a:solidFill>
                <a:latin typeface="Arial" panose="020B0604020202090204" pitchFamily="34" charset="0"/>
                <a:cs typeface="Arial" panose="020B0604020202090204" pitchFamily="34" charset="0"/>
              </a:rPr>
              <a:t>); Up(z);</a:t>
            </a:r>
            <a:endParaRPr lang="en-US" altLang="zh-CN" sz="2600" dirty="0">
              <a:solidFill>
                <a:srgbClr val="FF0000"/>
              </a:solidFill>
              <a:latin typeface="Arial" panose="020B0604020202090204" pitchFamily="34" charset="0"/>
              <a:cs typeface="Arial" panose="020B0604020202090204" pitchFamily="34" charset="0"/>
            </a:endParaRPr>
          </a:p>
          <a:p>
            <a:r>
              <a:rPr lang="en-US" altLang="zh-CN" sz="2600" dirty="0">
                <a:solidFill>
                  <a:schemeClr val="tx1"/>
                </a:solidFill>
                <a:latin typeface="Arial" panose="020B0604020202090204" pitchFamily="34" charset="0"/>
                <a:cs typeface="Arial" panose="020B0604020202090204" pitchFamily="34" charset="0"/>
              </a:rPr>
              <a:t>Read data</a:t>
            </a:r>
            <a:endParaRPr lang="en-US" altLang="zh-CN" sz="2600" dirty="0">
              <a:solidFill>
                <a:schemeClr val="tx1"/>
              </a:solidFill>
              <a:latin typeface="Arial" panose="020B0604020202090204" pitchFamily="34" charset="0"/>
              <a:cs typeface="Arial" panose="020B0604020202090204" pitchFamily="34" charset="0"/>
            </a:endParaRPr>
          </a:p>
          <a:p>
            <a:r>
              <a:rPr lang="en-US" altLang="zh-CN" sz="2400" dirty="0">
                <a:solidFill>
                  <a:schemeClr val="tx1"/>
                </a:solidFill>
                <a:latin typeface="Arial" panose="020B0604020202090204" pitchFamily="34" charset="0"/>
                <a:cs typeface="Arial" panose="020B0604020202090204" pitchFamily="34" charset="0"/>
              </a:rPr>
              <a:t>Down(x);</a:t>
            </a:r>
            <a:endParaRPr lang="en-US" altLang="zh-CN" sz="2600" dirty="0">
              <a:solidFill>
                <a:schemeClr val="tx1"/>
              </a:solidFill>
              <a:latin typeface="Arial" panose="020B0604020202090204" pitchFamily="34" charset="0"/>
              <a:cs typeface="Arial" panose="020B0604020202090204" pitchFamily="34" charset="0"/>
            </a:endParaRPr>
          </a:p>
          <a:p>
            <a:r>
              <a:rPr lang="en-US" altLang="zh-CN" sz="2600" dirty="0" err="1">
                <a:solidFill>
                  <a:schemeClr val="tx1"/>
                </a:solidFill>
                <a:latin typeface="Arial" panose="020B0604020202090204" pitchFamily="34" charset="0"/>
                <a:cs typeface="Arial" panose="020B0604020202090204" pitchFamily="34" charset="0"/>
              </a:rPr>
              <a:t>rc</a:t>
            </a:r>
            <a:r>
              <a:rPr lang="en-US" altLang="zh-CN" sz="2600" dirty="0">
                <a:solidFill>
                  <a:schemeClr val="tx1"/>
                </a:solidFill>
                <a:latin typeface="Arial" panose="020B0604020202090204" pitchFamily="34" charset="0"/>
                <a:cs typeface="Arial" panose="020B0604020202090204" pitchFamily="34" charset="0"/>
              </a:rPr>
              <a:t>--;</a:t>
            </a:r>
            <a:endParaRPr lang="en-US" altLang="zh-CN" sz="2600" dirty="0">
              <a:solidFill>
                <a:schemeClr val="tx1"/>
              </a:solidFill>
              <a:latin typeface="Arial" panose="020B0604020202090204" pitchFamily="34" charset="0"/>
              <a:cs typeface="Arial" panose="020B0604020202090204" pitchFamily="34" charset="0"/>
            </a:endParaRPr>
          </a:p>
          <a:p>
            <a:r>
              <a:rPr lang="en-US" altLang="zh-CN" sz="2600" dirty="0">
                <a:solidFill>
                  <a:schemeClr val="tx1"/>
                </a:solidFill>
                <a:latin typeface="Arial" panose="020B0604020202090204" pitchFamily="34" charset="0"/>
                <a:cs typeface="Arial" panose="020B0604020202090204" pitchFamily="34" charset="0"/>
              </a:rPr>
              <a:t>If(</a:t>
            </a:r>
            <a:r>
              <a:rPr lang="en-US" altLang="zh-CN" sz="2600" dirty="0" err="1">
                <a:solidFill>
                  <a:schemeClr val="tx1"/>
                </a:solidFill>
                <a:latin typeface="Arial" panose="020B0604020202090204" pitchFamily="34" charset="0"/>
                <a:cs typeface="Arial" panose="020B0604020202090204" pitchFamily="34" charset="0"/>
              </a:rPr>
              <a:t>rc</a:t>
            </a:r>
            <a:r>
              <a:rPr lang="en-US" altLang="zh-CN" sz="2600" dirty="0">
                <a:solidFill>
                  <a:schemeClr val="tx1"/>
                </a:solidFill>
                <a:latin typeface="Arial" panose="020B0604020202090204" pitchFamily="34" charset="0"/>
                <a:cs typeface="Arial" panose="020B0604020202090204" pitchFamily="34" charset="0"/>
              </a:rPr>
              <a:t> == 0) Up(</a:t>
            </a:r>
            <a:r>
              <a:rPr lang="en-US" altLang="zh-CN" sz="2600" dirty="0" err="1">
                <a:solidFill>
                  <a:schemeClr val="tx1"/>
                </a:solidFill>
                <a:latin typeface="Arial" panose="020B0604020202090204" pitchFamily="34" charset="0"/>
                <a:cs typeface="Arial" panose="020B0604020202090204" pitchFamily="34" charset="0"/>
              </a:rPr>
              <a:t>wsem</a:t>
            </a:r>
            <a:r>
              <a:rPr lang="en-US" altLang="zh-CN" sz="2600" dirty="0">
                <a:solidFill>
                  <a:schemeClr val="tx1"/>
                </a:solidFill>
                <a:latin typeface="Arial" panose="020B0604020202090204" pitchFamily="34" charset="0"/>
                <a:cs typeface="Arial" panose="020B0604020202090204" pitchFamily="34" charset="0"/>
              </a:rPr>
              <a:t>);</a:t>
            </a:r>
            <a:endParaRPr lang="en-US" altLang="zh-CN" sz="2600" dirty="0">
              <a:solidFill>
                <a:schemeClr val="tx1"/>
              </a:solidFill>
              <a:latin typeface="Arial" panose="020B0604020202090204" pitchFamily="34" charset="0"/>
              <a:cs typeface="Arial" panose="020B0604020202090204" pitchFamily="34" charset="0"/>
            </a:endParaRPr>
          </a:p>
          <a:p>
            <a:r>
              <a:rPr lang="en-US" altLang="zh-CN" sz="2600" dirty="0">
                <a:solidFill>
                  <a:schemeClr val="tx1"/>
                </a:solidFill>
                <a:latin typeface="Arial" panose="020B0604020202090204" pitchFamily="34" charset="0"/>
                <a:cs typeface="Arial" panose="020B0604020202090204" pitchFamily="34" charset="0"/>
              </a:rPr>
              <a:t>Up(x);</a:t>
            </a:r>
            <a:endParaRPr lang="zh-CN" altLang="en-US" b="1" dirty="0">
              <a:solidFill>
                <a:schemeClr val="tx1"/>
              </a:solidFill>
              <a:latin typeface="Arial" panose="020B0604020202090204" pitchFamily="34" charset="0"/>
              <a:cs typeface="Arial" panose="020B060402020209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信号量测试">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523206" y="384176"/>
            <a:ext cx="9145588" cy="60880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88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ProblemWarning"/>
</p:tagLst>
</file>

<file path=ppt/tags/tag18.xml><?xml version="1.0" encoding="utf-8"?>
<p:tagLst xmlns:p="http://schemas.openxmlformats.org/presentationml/2006/main">
  <p:tag name="RAINPROBLEM" val="MultipleChoice"/>
  <p:tag name="PROBLEMSCORE" val="1.0"/>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Submit"/>
  <p:tag name="RAINPROBLEMTYPE" val="MultipleChoice"/>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
</p:tagLst>
</file>

<file path=ppt/tags/tag35.xml><?xml version="1.0" encoding="utf-8"?>
<p:tagLst xmlns:p="http://schemas.openxmlformats.org/presentationml/2006/main">
  <p:tag name="RAINPROBLEM" val="ProblemWarning"/>
</p:tagLst>
</file>

<file path=ppt/tags/tag36.xml><?xml version="1.0" encoding="utf-8"?>
<p:tagLst xmlns:p="http://schemas.openxmlformats.org/presentationml/2006/main">
  <p:tag name="RAINPROBLEM" val="MultipleChoice"/>
  <p:tag name="PROBLEMSCORE" val="1.0"/>
</p:tagLst>
</file>

<file path=ppt/tags/tag37.xml><?xml version="1.0" encoding="utf-8"?>
<p:tagLst xmlns:p="http://schemas.openxmlformats.org/presentationml/2006/main">
  <p:tag name="RAINPROBLEM" val="ProblemBody"/>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Bullet"/>
  <p:tag name="RAINPROBLEMTYPE" val="Polling"/>
  <p:tag name="RAINBULLET" val="Wrong"/>
</p:tagLst>
</file>

<file path=ppt/tags/tag41.xml><?xml version="1.0" encoding="utf-8"?>
<p:tagLst xmlns:p="http://schemas.openxmlformats.org/presentationml/2006/main">
  <p:tag name="RAINPROBLEM" val="ProblemBullet"/>
  <p:tag name="RAINPROBLEMTYPE" val="Polling"/>
  <p:tag name="RAINBULLET" val="Wrong"/>
</p:tagLst>
</file>

<file path=ppt/tags/tag42.xml><?xml version="1.0" encoding="utf-8"?>
<p:tagLst xmlns:p="http://schemas.openxmlformats.org/presentationml/2006/main">
  <p:tag name="RAINPROBLEM" val="ProblemSubmit"/>
  <p:tag name="RAINPROBLEMTYPE" val="Polling"/>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 name="RAINPROBLEM" val="PollingAnswer"/>
</p:tagLst>
</file>

<file path=ppt/tags/tag48.xml><?xml version="1.0" encoding="utf-8"?>
<p:tagLst xmlns:p="http://schemas.openxmlformats.org/presentationml/2006/main">
  <p:tag name="RAINPROBLEM" val="ProblemSetting"/>
  <p:tag name="RAINPROBLEMTYPE" val="Polling"/>
</p:tagLst>
</file>

<file path=ppt/tags/tag49.xml><?xml version="1.0" encoding="utf-8"?>
<p:tagLst xmlns:p="http://schemas.openxmlformats.org/presentationml/2006/main">
  <p:tag name="RAINPROBLEM" val="Polling"/>
  <p:tag name="ANONYMOUSPOLLING" val="False"/>
  <p:tag name="PROBLEMSCORE" val="0.0"/>
</p:tagLst>
</file>

<file path=ppt/tags/tag50.xml><?xml version="1.0" encoding="utf-8"?>
<p:tagLst xmlns:p="http://schemas.openxmlformats.org/presentationml/2006/main">
  <p:tag name="RAINPROBLEM" val="ProblemBody"/>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Bullet"/>
  <p:tag name="RAINPROBLEMTYPE" val="MultipleChoice"/>
  <p:tag name="RAINBULLET" val="Correct"/>
</p:tagLst>
</file>

<file path=ppt/tags/tag56.xml><?xml version="1.0" encoding="utf-8"?>
<p:tagLst xmlns:p="http://schemas.openxmlformats.org/presentationml/2006/main">
  <p:tag name="RAINPROBLEM" val="ProblemBullet"/>
  <p:tag name="RAINPROBLEMTYPE" val="MultipleChoice"/>
  <p:tag name="RAINBULLET" val="Wrong"/>
</p:tagLst>
</file>

<file path=ppt/tags/tag57.xml><?xml version="1.0" encoding="utf-8"?>
<p:tagLst xmlns:p="http://schemas.openxmlformats.org/presentationml/2006/main">
  <p:tag name="RAINPROBLEM" val="ProblemBullet"/>
  <p:tag name="RAINPROBLEMTYPE" val="MultipleChoice"/>
  <p:tag name="RAINBULLET" val="Wrong"/>
</p:tagLst>
</file>

<file path=ppt/tags/tag58.xml><?xml version="1.0" encoding="utf-8"?>
<p:tagLst xmlns:p="http://schemas.openxmlformats.org/presentationml/2006/main">
  <p:tag name="RAINPROBLEM" val="ProblemBullet"/>
  <p:tag name="RAINPROBLEMTYPE" val="MultipleChoice"/>
  <p:tag name="RAINBULLET" val="Wrong"/>
</p:tagLst>
</file>

<file path=ppt/tags/tag59.xml><?xml version="1.0" encoding="utf-8"?>
<p:tagLst xmlns:p="http://schemas.openxmlformats.org/presentationml/2006/main">
  <p:tag name="RAINPROBLEM" val="ProblemSubmit"/>
  <p:tag name="RAINPROBLEMTYPE" val="MultipleChoice"/>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TYPE" val="ProblemTypeMarker"/>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 val="ProblemSetting"/>
  <p:tag name="RAINPROBLEMTYPE" val="MultipleChoice"/>
</p:tagLst>
</file>

<file path=ppt/tags/tag66.xml><?xml version="1.0" encoding="utf-8"?>
<p:tagLst xmlns:p="http://schemas.openxmlformats.org/presentationml/2006/main">
  <p:tag name="RAINPROBLEM" val="MultipleChoice"/>
  <p:tag name="PROBLEMSCORE" val="1.0"/>
</p:tagLst>
</file>

<file path=ppt/tags/tag67.xml><?xml version="1.0" encoding="utf-8"?>
<p:tagLst xmlns:p="http://schemas.openxmlformats.org/presentationml/2006/main">
  <p:tag name="RAINPROBLEM" val="ProblemBody"/>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Item"/>
</p:tagLst>
</file>

<file path=ppt/tags/tag71.xml><?xml version="1.0" encoding="utf-8"?>
<p:tagLst xmlns:p="http://schemas.openxmlformats.org/presentationml/2006/main">
  <p:tag name="RAINPROBLEM" val="ProblemItem"/>
</p:tagLst>
</file>

<file path=ppt/tags/tag72.xml><?xml version="1.0" encoding="utf-8"?>
<p:tagLst xmlns:p="http://schemas.openxmlformats.org/presentationml/2006/main">
  <p:tag name="RAINPROBLEM" val="ProblemBullet"/>
  <p:tag name="RAINPROBLEMTYPE" val="MultipleChoice"/>
  <p:tag name="RAINBULLET" val="Correct"/>
</p:tagLst>
</file>

<file path=ppt/tags/tag73.xml><?xml version="1.0" encoding="utf-8"?>
<p:tagLst xmlns:p="http://schemas.openxmlformats.org/presentationml/2006/main">
  <p:tag name="RAINPROBLEM" val="ProblemBullet"/>
  <p:tag name="RAINPROBLEMTYPE" val="MultipleChoice"/>
  <p:tag name="RAINBULLET" val="Wrong"/>
</p:tagLst>
</file>

<file path=ppt/tags/tag74.xml><?xml version="1.0" encoding="utf-8"?>
<p:tagLst xmlns:p="http://schemas.openxmlformats.org/presentationml/2006/main">
  <p:tag name="RAINPROBLEM" val="ProblemBullet"/>
  <p:tag name="RAINPROBLEMTYPE" val="MultipleChoice"/>
  <p:tag name="RAINBULLET" val="Wrong"/>
</p:tagLst>
</file>

<file path=ppt/tags/tag75.xml><?xml version="1.0" encoding="utf-8"?>
<p:tagLst xmlns:p="http://schemas.openxmlformats.org/presentationml/2006/main">
  <p:tag name="RAINPROBLEM" val="ProblemBullet"/>
  <p:tag name="RAINPROBLEMTYPE" val="MultipleChoice"/>
  <p:tag name="RAINBULLET" val="Wrong"/>
</p:tagLst>
</file>

<file path=ppt/tags/tag76.xml><?xml version="1.0" encoding="utf-8"?>
<p:tagLst xmlns:p="http://schemas.openxmlformats.org/presentationml/2006/main">
  <p:tag name="RAINPROBLEM" val="ProblemSubmit"/>
  <p:tag name="RAINPROBLEMTYPE" val="MultipleChoice"/>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TYPE" val="ProblemTypeMarker"/>
</p:tagLst>
</file>

<file path=ppt/tags/tag80.xml><?xml version="1.0" encoding="utf-8"?>
<p:tagLst xmlns:p="http://schemas.openxmlformats.org/presentationml/2006/main">
  <p:tag name="RAINPROBLEMTYPE" val="ProblemTypeMarker"/>
</p:tagLst>
</file>

<file path=ppt/tags/tag81.xml><?xml version="1.0" encoding="utf-8"?>
<p:tagLst xmlns:p="http://schemas.openxmlformats.org/presentationml/2006/main">
  <p:tag name="RAINPROBLEMTYPE" val="ProblemTypeMarker"/>
</p:tagLst>
</file>

<file path=ppt/tags/tag82.xml><?xml version="1.0" encoding="utf-8"?>
<p:tagLst xmlns:p="http://schemas.openxmlformats.org/presentationml/2006/main">
  <p:tag name="RAINPROBLEM" val="ProblemSetting"/>
  <p:tag name="RAINPROBLEMTYPE" val="MultipleChoice"/>
</p:tagLst>
</file>

<file path=ppt/tags/tag83.xml><?xml version="1.0" encoding="utf-8"?>
<p:tagLst xmlns:p="http://schemas.openxmlformats.org/presentationml/2006/main">
  <p:tag name="RAINPROBLEM" val="MultipleChoice"/>
  <p:tag name="PROBLEMSCORE" val="1.0"/>
</p:tagLst>
</file>

<file path=ppt/tags/tag84.xml><?xml version="1.0" encoding="utf-8"?>
<p:tagLst xmlns:p="http://schemas.openxmlformats.org/presentationml/2006/main">
  <p:tag name="RAINPROBLEM" val="ProblemBody"/>
</p:tagLst>
</file>

<file path=ppt/tags/tag85.xml><?xml version="1.0" encoding="utf-8"?>
<p:tagLst xmlns:p="http://schemas.openxmlformats.org/presentationml/2006/main">
  <p:tag name="RAINPROBLEM" val="ProblemItem"/>
</p:tagLst>
</file>

<file path=ppt/tags/tag86.xml><?xml version="1.0" encoding="utf-8"?>
<p:tagLst xmlns:p="http://schemas.openxmlformats.org/presentationml/2006/main">
  <p:tag name="RAINPROBLEM" val="ProblemItem"/>
</p:tagLst>
</file>

<file path=ppt/tags/tag87.xml><?xml version="1.0" encoding="utf-8"?>
<p:tagLst xmlns:p="http://schemas.openxmlformats.org/presentationml/2006/main">
  <p:tag name="RAINPROBLEM" val="ProblemItem"/>
</p:tagLst>
</file>

<file path=ppt/tags/tag88.xml><?xml version="1.0" encoding="utf-8"?>
<p:tagLst xmlns:p="http://schemas.openxmlformats.org/presentationml/2006/main">
  <p:tag name="RAINPROBLEM" val="ProblemItem"/>
</p:tagLst>
</file>

<file path=ppt/tags/tag89.xml><?xml version="1.0" encoding="utf-8"?>
<p:tagLst xmlns:p="http://schemas.openxmlformats.org/presentationml/2006/main">
  <p:tag name="RAINPROBLEM" val="ProblemBullet"/>
  <p:tag name="RAINPROBLEMTYPE" val="MultipleChoice"/>
  <p:tag name="RAINBULLET" val="Wrong"/>
</p:tagLst>
</file>

<file path=ppt/tags/tag90.xml><?xml version="1.0" encoding="utf-8"?>
<p:tagLst xmlns:p="http://schemas.openxmlformats.org/presentationml/2006/main">
  <p:tag name="RAINPROBLEM" val="ProblemBullet"/>
  <p:tag name="RAINPROBLEMTYPE" val="MultipleChoice"/>
  <p:tag name="RAINBULLET" val="Correct"/>
</p:tagLst>
</file>

<file path=ppt/tags/tag91.xml><?xml version="1.0" encoding="utf-8"?>
<p:tagLst xmlns:p="http://schemas.openxmlformats.org/presentationml/2006/main">
  <p:tag name="RAINPROBLEM" val="ProblemBullet"/>
  <p:tag name="RAINPROBLEMTYPE" val="MultipleChoice"/>
  <p:tag name="RAINBULLET" val="Wrong"/>
</p:tagLst>
</file>

<file path=ppt/tags/tag92.xml><?xml version="1.0" encoding="utf-8"?>
<p:tagLst xmlns:p="http://schemas.openxmlformats.org/presentationml/2006/main">
  <p:tag name="RAINPROBLEM" val="ProblemBullet"/>
  <p:tag name="RAINPROBLEMTYPE" val="MultipleChoice"/>
  <p:tag name="RAINBULLET" val="Wrong"/>
</p:tagLst>
</file>

<file path=ppt/tags/tag93.xml><?xml version="1.0" encoding="utf-8"?>
<p:tagLst xmlns:p="http://schemas.openxmlformats.org/presentationml/2006/main">
  <p:tag name="RAINPROBLEM" val="ProblemSubmit"/>
  <p:tag name="RAINPROBLEMTYPE" val="MultipleChoice"/>
</p:tagLst>
</file>

<file path=ppt/tags/tag94.xml><?xml version="1.0" encoding="utf-8"?>
<p:tagLst xmlns:p="http://schemas.openxmlformats.org/presentationml/2006/main">
  <p:tag name="RAINPROBLEMTYPE" val="ProblemTypeMarker"/>
</p:tagLst>
</file>

<file path=ppt/tags/tag95.xml><?xml version="1.0" encoding="utf-8"?>
<p:tagLst xmlns:p="http://schemas.openxmlformats.org/presentationml/2006/main">
  <p:tag name="RAINPROBLEMTYPE" val="ProblemTypeMarker"/>
</p:tagLst>
</file>

<file path=ppt/tags/tag96.xml><?xml version="1.0" encoding="utf-8"?>
<p:tagLst xmlns:p="http://schemas.openxmlformats.org/presentationml/2006/main">
  <p:tag name="RAINPROBLEMTYPE" val="ProblemTypeMarker"/>
</p:tagLst>
</file>

<file path=ppt/tags/tag97.xml><?xml version="1.0" encoding="utf-8"?>
<p:tagLst xmlns:p="http://schemas.openxmlformats.org/presentationml/2006/main">
  <p:tag name="RAINPROBLEMTYPE" val="ProblemTypeMarker"/>
</p:tagLst>
</file>

<file path=ppt/tags/tag98.xml><?xml version="1.0" encoding="utf-8"?>
<p:tagLst xmlns:p="http://schemas.openxmlformats.org/presentationml/2006/main">
  <p:tag name="RAINPROBLEMTYPE" val="ProblemTypeMarker"/>
</p:tagLst>
</file>

<file path=ppt/tags/tag99.xml><?xml version="1.0" encoding="utf-8"?>
<p:tagLst xmlns:p="http://schemas.openxmlformats.org/presentationml/2006/main">
  <p:tag name="RAINPROBLEM" val="ProblemSetting"/>
  <p:tag name="RAINPROBLEMTYPE" val="MultipleChoice"/>
</p:tagLst>
</file>

<file path=ppt/tags/tag100.xml><?xml version="1.0" encoding="utf-8"?>
<p:tagLst xmlns:p="http://schemas.openxmlformats.org/presentationml/2006/main">
  <p:tag name="RAINPROBLEM" val="MultipleChoice"/>
  <p:tag name="PROBLEMSCORE" val="1.0"/>
</p:tagLst>
</file>

<file path=ppt/tags/tag101.xml><?xml version="1.0" encoding="utf-8"?>
<p:tagLst xmlns:p="http://schemas.openxmlformats.org/presentationml/2006/main">
  <p:tag name="RAINPROBLEM" val="ProblemBody"/>
</p:tagLst>
</file>

<file path=ppt/tags/tag102.xml><?xml version="1.0" encoding="utf-8"?>
<p:tagLst xmlns:p="http://schemas.openxmlformats.org/presentationml/2006/main">
  <p:tag name="RAINPROBLEM" val="ProblemItem"/>
</p:tagLst>
</file>

<file path=ppt/tags/tag103.xml><?xml version="1.0" encoding="utf-8"?>
<p:tagLst xmlns:p="http://schemas.openxmlformats.org/presentationml/2006/main">
  <p:tag name="RAINPROBLEM" val="ProblemItem"/>
</p:tagLst>
</file>

<file path=ppt/tags/tag104.xml><?xml version="1.0" encoding="utf-8"?>
<p:tagLst xmlns:p="http://schemas.openxmlformats.org/presentationml/2006/main">
  <p:tag name="RAINPROBLEM" val="ProblemItem"/>
</p:tagLst>
</file>

<file path=ppt/tags/tag105.xml><?xml version="1.0" encoding="utf-8"?>
<p:tagLst xmlns:p="http://schemas.openxmlformats.org/presentationml/2006/main">
  <p:tag name="RAINPROBLEM" val="ProblemItem"/>
</p:tagLst>
</file>

<file path=ppt/tags/tag106.xml><?xml version="1.0" encoding="utf-8"?>
<p:tagLst xmlns:p="http://schemas.openxmlformats.org/presentationml/2006/main">
  <p:tag name="RAINPROBLEM" val="ProblemBullet"/>
  <p:tag name="RAINPROBLEMTYPE" val="MultipleChoice"/>
  <p:tag name="RAINBULLET" val="Correct"/>
</p:tagLst>
</file>

<file path=ppt/tags/tag107.xml><?xml version="1.0" encoding="utf-8"?>
<p:tagLst xmlns:p="http://schemas.openxmlformats.org/presentationml/2006/main">
  <p:tag name="RAINPROBLEM" val="ProblemBullet"/>
  <p:tag name="RAINPROBLEMTYPE" val="MultipleChoice"/>
  <p:tag name="RAINBULLET" val="Wrong"/>
</p:tagLst>
</file>

<file path=ppt/tags/tag108.xml><?xml version="1.0" encoding="utf-8"?>
<p:tagLst xmlns:p="http://schemas.openxmlformats.org/presentationml/2006/main">
  <p:tag name="RAINPROBLEM" val="ProblemBullet"/>
  <p:tag name="RAINPROBLEMTYPE" val="MultipleChoice"/>
  <p:tag name="RAINBULLET" val="Wrong"/>
</p:tagLst>
</file>

<file path=ppt/tags/tag109.xml><?xml version="1.0" encoding="utf-8"?>
<p:tagLst xmlns:p="http://schemas.openxmlformats.org/presentationml/2006/main">
  <p:tag name="RAINPROBLEM" val="ProblemBullet"/>
  <p:tag name="RAINPROBLEMTYPE" val="MultipleChoice"/>
  <p:tag name="RAINBULLET" val="Wrong"/>
</p:tagLst>
</file>

<file path=ppt/tags/tag110.xml><?xml version="1.0" encoding="utf-8"?>
<p:tagLst xmlns:p="http://schemas.openxmlformats.org/presentationml/2006/main">
  <p:tag name="RAINPROBLEM" val="ProblemSubmit"/>
  <p:tag name="RAINPROBLEMTYPE" val="MultipleChoice"/>
</p:tagLst>
</file>

<file path=ppt/tags/tag111.xml><?xml version="1.0" encoding="utf-8"?>
<p:tagLst xmlns:p="http://schemas.openxmlformats.org/presentationml/2006/main">
  <p:tag name="RAINPROBLEMTYPE" val="ProblemTypeMarker"/>
</p:tagLst>
</file>

<file path=ppt/tags/tag112.xml><?xml version="1.0" encoding="utf-8"?>
<p:tagLst xmlns:p="http://schemas.openxmlformats.org/presentationml/2006/main">
  <p:tag name="RAINPROBLEMTYPE" val="ProblemTypeMarker"/>
</p:tagLst>
</file>

<file path=ppt/tags/tag113.xml><?xml version="1.0" encoding="utf-8"?>
<p:tagLst xmlns:p="http://schemas.openxmlformats.org/presentationml/2006/main">
  <p:tag name="RAINPROBLEMTYPE" val="ProblemTypeMarker"/>
</p:tagLst>
</file>

<file path=ppt/tags/tag114.xml><?xml version="1.0" encoding="utf-8"?>
<p:tagLst xmlns:p="http://schemas.openxmlformats.org/presentationml/2006/main">
  <p:tag name="RAINPROBLEMTYPE" val="ProblemTypeMarker"/>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 val="ProblemSetting"/>
  <p:tag name="RAINPROBLEMTYPE" val="MultipleChoice"/>
</p:tagLst>
</file>

<file path=ppt/tags/tag117.xml><?xml version="1.0" encoding="utf-8"?>
<p:tagLst xmlns:p="http://schemas.openxmlformats.org/presentationml/2006/main">
  <p:tag name="RAINPROBLEM" val="MultipleChoice"/>
  <p:tag name="PROBLEMSCORE" val="1.0"/>
</p:tagLst>
</file>

<file path=ppt/tags/tag118.xml><?xml version="1.0" encoding="utf-8"?>
<p:tagLst xmlns:p="http://schemas.openxmlformats.org/presentationml/2006/main">
  <p:tag name="RAINPROBLEM" val="ProblemBody"/>
</p:tagLst>
</file>

<file path=ppt/tags/tag119.xml><?xml version="1.0" encoding="utf-8"?>
<p:tagLst xmlns:p="http://schemas.openxmlformats.org/presentationml/2006/main">
  <p:tag name="RAINPROBLEM" val="ProblemItem"/>
</p:tagLst>
</file>

<file path=ppt/tags/tag120.xml><?xml version="1.0" encoding="utf-8"?>
<p:tagLst xmlns:p="http://schemas.openxmlformats.org/presentationml/2006/main">
  <p:tag name="RAINPROBLEM" val="ProblemItem"/>
</p:tagLst>
</file>

<file path=ppt/tags/tag121.xml><?xml version="1.0" encoding="utf-8"?>
<p:tagLst xmlns:p="http://schemas.openxmlformats.org/presentationml/2006/main">
  <p:tag name="RAINPROBLEM" val="ProblemItem"/>
</p:tagLst>
</file>

<file path=ppt/tags/tag122.xml><?xml version="1.0" encoding="utf-8"?>
<p:tagLst xmlns:p="http://schemas.openxmlformats.org/presentationml/2006/main">
  <p:tag name="RAINPROBLEM" val="ProblemItem"/>
</p:tagLst>
</file>

<file path=ppt/tags/tag123.xml><?xml version="1.0" encoding="utf-8"?>
<p:tagLst xmlns:p="http://schemas.openxmlformats.org/presentationml/2006/main">
  <p:tag name="RAINPROBLEM" val="ProblemBullet"/>
  <p:tag name="RAINPROBLEMTYPE" val="MultipleChoice"/>
  <p:tag name="RAINBULLET" val="Wrong"/>
</p:tagLst>
</file>

<file path=ppt/tags/tag124.xml><?xml version="1.0" encoding="utf-8"?>
<p:tagLst xmlns:p="http://schemas.openxmlformats.org/presentationml/2006/main">
  <p:tag name="RAINPROBLEM" val="ProblemBullet"/>
  <p:tag name="RAINPROBLEMTYPE" val="MultipleChoice"/>
  <p:tag name="RAINBULLET" val="Wrong"/>
</p:tagLst>
</file>

<file path=ppt/tags/tag125.xml><?xml version="1.0" encoding="utf-8"?>
<p:tagLst xmlns:p="http://schemas.openxmlformats.org/presentationml/2006/main">
  <p:tag name="RAINPROBLEM" val="ProblemBullet"/>
  <p:tag name="RAINPROBLEMTYPE" val="MultipleChoice"/>
  <p:tag name="RAINBULLET" val="Wrong"/>
</p:tagLst>
</file>

<file path=ppt/tags/tag126.xml><?xml version="1.0" encoding="utf-8"?>
<p:tagLst xmlns:p="http://schemas.openxmlformats.org/presentationml/2006/main">
  <p:tag name="RAINPROBLEM" val="ProblemBullet"/>
  <p:tag name="RAINPROBLEMTYPE" val="MultipleChoice"/>
  <p:tag name="RAINBULLET" val="Correct"/>
</p:tagLst>
</file>

<file path=ppt/tags/tag127.xml><?xml version="1.0" encoding="utf-8"?>
<p:tagLst xmlns:p="http://schemas.openxmlformats.org/presentationml/2006/main">
  <p:tag name="RAINPROBLEM" val="ProblemSubmit"/>
  <p:tag name="RAINPROBLEMTYPE" val="MultipleChoice"/>
</p:tagLst>
</file>

<file path=ppt/tags/tag128.xml><?xml version="1.0" encoding="utf-8"?>
<p:tagLst xmlns:p="http://schemas.openxmlformats.org/presentationml/2006/main">
  <p:tag name="RAINPROBLEMTYPE" val="ProblemTypeMarker"/>
</p:tagLst>
</file>

<file path=ppt/tags/tag129.xml><?xml version="1.0" encoding="utf-8"?>
<p:tagLst xmlns:p="http://schemas.openxmlformats.org/presentationml/2006/main">
  <p:tag name="RAINPROBLEMTYPE" val="ProblemTypeMarker"/>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TYPE" val="ProblemTypeMarker"/>
</p:tagLst>
</file>

<file path=ppt/tags/tag132.xml><?xml version="1.0" encoding="utf-8"?>
<p:tagLst xmlns:p="http://schemas.openxmlformats.org/presentationml/2006/main">
  <p:tag name="RAINPROBLEMTYPE" val="ProblemTypeMarker"/>
</p:tagLst>
</file>

<file path=ppt/tags/tag133.xml><?xml version="1.0" encoding="utf-8"?>
<p:tagLst xmlns:p="http://schemas.openxmlformats.org/presentationml/2006/main">
  <p:tag name="RAINPROBLEM" val="ProblemSetting"/>
  <p:tag name="RAINPROBLEMTYPE" val="MultipleChoice"/>
</p:tagLst>
</file>

<file path=ppt/tags/tag134.xml><?xml version="1.0" encoding="utf-8"?>
<p:tagLst xmlns:p="http://schemas.openxmlformats.org/presentationml/2006/main">
  <p:tag name="RAINPROBLEM" val="MultipleChoice"/>
  <p:tag name="PROBLEMSCORE" val="1.0"/>
</p:tagLst>
</file>

<file path=ppt/tags/tag135.xml><?xml version="1.0" encoding="utf-8"?>
<p:tagLst xmlns:p="http://schemas.openxmlformats.org/presentationml/2006/main">
  <p:tag name="RAINPROBLEM" val="ProblemBody"/>
</p:tagLst>
</file>

<file path=ppt/tags/tag136.xml><?xml version="1.0" encoding="utf-8"?>
<p:tagLst xmlns:p="http://schemas.openxmlformats.org/presentationml/2006/main">
  <p:tag name="RAINPROBLEM" val="ProblemItem"/>
</p:tagLst>
</file>

<file path=ppt/tags/tag137.xml><?xml version="1.0" encoding="utf-8"?>
<p:tagLst xmlns:p="http://schemas.openxmlformats.org/presentationml/2006/main">
  <p:tag name="RAINPROBLEM" val="ProblemItem"/>
</p:tagLst>
</file>

<file path=ppt/tags/tag138.xml><?xml version="1.0" encoding="utf-8"?>
<p:tagLst xmlns:p="http://schemas.openxmlformats.org/presentationml/2006/main">
  <p:tag name="RAINPROBLEM" val="ProblemItem"/>
</p:tagLst>
</file>

<file path=ppt/tags/tag139.xml><?xml version="1.0" encoding="utf-8"?>
<p:tagLst xmlns:p="http://schemas.openxmlformats.org/presentationml/2006/main">
  <p:tag name="RAINPROBLEM" val="ProblemItem"/>
</p:tagLst>
</file>

<file path=ppt/tags/tag140.xml><?xml version="1.0" encoding="utf-8"?>
<p:tagLst xmlns:p="http://schemas.openxmlformats.org/presentationml/2006/main">
  <p:tag name="RAINPROBLEM" val="ProblemBullet"/>
  <p:tag name="RAINPROBLEMTYPE" val="MultipleChoice"/>
  <p:tag name="RAINBULLET" val="Wrong"/>
</p:tagLst>
</file>

<file path=ppt/tags/tag141.xml><?xml version="1.0" encoding="utf-8"?>
<p:tagLst xmlns:p="http://schemas.openxmlformats.org/presentationml/2006/main">
  <p:tag name="RAINPROBLEM" val="ProblemBullet"/>
  <p:tag name="RAINPROBLEMTYPE" val="MultipleChoice"/>
  <p:tag name="RAINBULLET" val="Correct"/>
</p:tagLst>
</file>

<file path=ppt/tags/tag142.xml><?xml version="1.0" encoding="utf-8"?>
<p:tagLst xmlns:p="http://schemas.openxmlformats.org/presentationml/2006/main">
  <p:tag name="RAINPROBLEM" val="ProblemBullet"/>
  <p:tag name="RAINPROBLEMTYPE" val="MultipleChoice"/>
  <p:tag name="RAINBULLET" val="Wrong"/>
</p:tagLst>
</file>

<file path=ppt/tags/tag143.xml><?xml version="1.0" encoding="utf-8"?>
<p:tagLst xmlns:p="http://schemas.openxmlformats.org/presentationml/2006/main">
  <p:tag name="RAINPROBLEM" val="ProblemBullet"/>
  <p:tag name="RAINPROBLEMTYPE" val="MultipleChoice"/>
  <p:tag name="RAINBULLET" val="Wrong"/>
</p:tagLst>
</file>

<file path=ppt/tags/tag144.xml><?xml version="1.0" encoding="utf-8"?>
<p:tagLst xmlns:p="http://schemas.openxmlformats.org/presentationml/2006/main">
  <p:tag name="RAINPROBLEM" val="ProblemSubmit"/>
  <p:tag name="RAINPROBLEMTYPE" val="MultipleChoice"/>
</p:tagLst>
</file>

<file path=ppt/tags/tag145.xml><?xml version="1.0" encoding="utf-8"?>
<p:tagLst xmlns:p="http://schemas.openxmlformats.org/presentationml/2006/main">
  <p:tag name="RAINPROBLEMTYPE" val="ProblemTypeMarker"/>
</p:tagLst>
</file>

<file path=ppt/tags/tag146.xml><?xml version="1.0" encoding="utf-8"?>
<p:tagLst xmlns:p="http://schemas.openxmlformats.org/presentationml/2006/main">
  <p:tag name="RAINPROBLEMTYPE" val="ProblemTypeMarker"/>
</p:tagLst>
</file>

<file path=ppt/tags/tag147.xml><?xml version="1.0" encoding="utf-8"?>
<p:tagLst xmlns:p="http://schemas.openxmlformats.org/presentationml/2006/main">
  <p:tag name="RAINPROBLEMTYPE" val="ProblemTypeMarker"/>
</p:tagLst>
</file>

<file path=ppt/tags/tag148.xml><?xml version="1.0" encoding="utf-8"?>
<p:tagLst xmlns:p="http://schemas.openxmlformats.org/presentationml/2006/main">
  <p:tag name="RAINPROBLEMTYPE" val="ProblemTypeMarker"/>
</p:tagLst>
</file>

<file path=ppt/tags/tag149.xml><?xml version="1.0" encoding="utf-8"?>
<p:tagLst xmlns:p="http://schemas.openxmlformats.org/presentationml/2006/main">
  <p:tag name="RAINPROBLEMTYPE" val="ProblemTypeMarker"/>
</p:tagLst>
</file>

<file path=ppt/tags/tag150.xml><?xml version="1.0" encoding="utf-8"?>
<p:tagLst xmlns:p="http://schemas.openxmlformats.org/presentationml/2006/main">
  <p:tag name="RAINPROBLEM" val="ProblemSetting"/>
  <p:tag name="RAINPROBLEMTYPE" val="MultipleChoice"/>
</p:tagLst>
</file>

<file path=ppt/tags/tag151.xml><?xml version="1.0" encoding="utf-8"?>
<p:tagLst xmlns:p="http://schemas.openxmlformats.org/presentationml/2006/main">
  <p:tag name="RAINPROBLEM" val="MultipleChoice"/>
  <p:tag name="PROBLEMSCORE" val="1.0"/>
</p:tagLst>
</file>

<file path=ppt/tags/tag152.xml><?xml version="1.0" encoding="utf-8"?>
<p:tagLst xmlns:p="http://schemas.openxmlformats.org/presentationml/2006/main">
  <p:tag name="RAINPROBLEM" val="ProblemBody"/>
</p:tagLst>
</file>

<file path=ppt/tags/tag153.xml><?xml version="1.0" encoding="utf-8"?>
<p:tagLst xmlns:p="http://schemas.openxmlformats.org/presentationml/2006/main">
  <p:tag name="RAINPROBLEM" val="ProblemSubmit"/>
  <p:tag name="RAINPROBLEMTYPE" val="ShortAnswer"/>
</p:tagLst>
</file>

<file path=ppt/tags/tag154.xml><?xml version="1.0" encoding="utf-8"?>
<p:tagLst xmlns:p="http://schemas.openxmlformats.org/presentationml/2006/main">
  <p:tag name="PRODUCTVERSIONTIP" val="PRODUCTVERSIONTIP"/>
</p:tagLst>
</file>

<file path=ppt/tags/tag155.xml><?xml version="1.0" encoding="utf-8"?>
<p:tagLst xmlns:p="http://schemas.openxmlformats.org/presentationml/2006/main">
  <p:tag name="RAINPROBLEMTYPE" val="ProblemTypeMarker"/>
</p:tagLst>
</file>

<file path=ppt/tags/tag156.xml><?xml version="1.0" encoding="utf-8"?>
<p:tagLst xmlns:p="http://schemas.openxmlformats.org/presentationml/2006/main">
  <p:tag name="RAINPROBLEMTYPE" val="ProblemTypeMarker"/>
</p:tagLst>
</file>

<file path=ppt/tags/tag157.xml><?xml version="1.0" encoding="utf-8"?>
<p:tagLst xmlns:p="http://schemas.openxmlformats.org/presentationml/2006/main">
  <p:tag name="RAINPROBLEMTYPE" val="ProblemTypeMarker"/>
</p:tagLst>
</file>

<file path=ppt/tags/tag158.xml><?xml version="1.0" encoding="utf-8"?>
<p:tagLst xmlns:p="http://schemas.openxmlformats.org/presentationml/2006/main">
  <p:tag name="RAINPROBLEMTYPE" val="ProblemTypeMarker"/>
</p:tagLst>
</file>

<file path=ppt/tags/tag159.xml><?xml version="1.0" encoding="utf-8"?>
<p:tagLst xmlns:p="http://schemas.openxmlformats.org/presentationml/2006/main">
  <p:tag name="RAINPROBLEMTYPE" val="ProblemTypeMarker"/>
</p:tagLst>
</file>

<file path=ppt/tags/tag160.xml><?xml version="1.0" encoding="utf-8"?>
<p:tagLst xmlns:p="http://schemas.openxmlformats.org/presentationml/2006/main">
  <p:tag name="RAINPROBLEM" val="ProblemSetting"/>
  <p:tag name="RAINPROBLEMTYPE" val="ShortAnswer"/>
</p:tagLst>
</file>

<file path=ppt/tags/tag161.xml><?xml version="1.0" encoding="utf-8"?>
<p:tagLst xmlns:p="http://schemas.openxmlformats.org/presentationml/2006/main">
  <p:tag name="RAINPROBLEM" val="ShortAnswer"/>
  <p:tag name="PROBLEMSCORE" val="1.0"/>
  <p:tag name="PROBLEMVOICEALLOWED" val="False"/>
</p:tagLst>
</file>

<file path=ppt/tags/tag162.xml><?xml version="1.0" encoding="utf-8"?>
<p:tagLst xmlns:p="http://schemas.openxmlformats.org/presentationml/2006/main">
  <p:tag name="RAINPROBLEM" val="ProblemBody"/>
</p:tagLst>
</file>

<file path=ppt/tags/tag163.xml><?xml version="1.0" encoding="utf-8"?>
<p:tagLst xmlns:p="http://schemas.openxmlformats.org/presentationml/2006/main">
  <p:tag name="RAINPROBLEM" val="ProblemBody"/>
</p:tagLst>
</file>

<file path=ppt/tags/tag164.xml><?xml version="1.0" encoding="utf-8"?>
<p:tagLst xmlns:p="http://schemas.openxmlformats.org/presentationml/2006/main">
  <p:tag name="RAINPROBLEM" val="ProblemSubmit"/>
  <p:tag name="RAINPROBLEMTYPE" val="ShortAnswer"/>
</p:tagLst>
</file>

<file path=ppt/tags/tag165.xml><?xml version="1.0" encoding="utf-8"?>
<p:tagLst xmlns:p="http://schemas.openxmlformats.org/presentationml/2006/main">
  <p:tag name="PRODUCTVERSIONTIP" val="PRODUCTVERSIONTIP"/>
</p:tagLst>
</file>

<file path=ppt/tags/tag166.xml><?xml version="1.0" encoding="utf-8"?>
<p:tagLst xmlns:p="http://schemas.openxmlformats.org/presentationml/2006/main">
  <p:tag name="RAINPROBLEMTYPE" val="ProblemTypeMarker"/>
</p:tagLst>
</file>

<file path=ppt/tags/tag167.xml><?xml version="1.0" encoding="utf-8"?>
<p:tagLst xmlns:p="http://schemas.openxmlformats.org/presentationml/2006/main">
  <p:tag name="RAINPROBLEMTYPE" val="ProblemTypeMarker"/>
</p:tagLst>
</file>

<file path=ppt/tags/tag168.xml><?xml version="1.0" encoding="utf-8"?>
<p:tagLst xmlns:p="http://schemas.openxmlformats.org/presentationml/2006/main">
  <p:tag name="RAINPROBLEMTYPE" val="ProblemTypeMarker"/>
</p:tagLst>
</file>

<file path=ppt/tags/tag169.xml><?xml version="1.0" encoding="utf-8"?>
<p:tagLst xmlns:p="http://schemas.openxmlformats.org/presentationml/2006/main">
  <p:tag name="RAINPROBLEMTYPE" val="ProblemTypeMarker"/>
</p:tagLst>
</file>

<file path=ppt/tags/tag170.xml><?xml version="1.0" encoding="utf-8"?>
<p:tagLst xmlns:p="http://schemas.openxmlformats.org/presentationml/2006/main">
  <p:tag name="RAINPROBLEMTYPE" val="ProblemTypeMarker"/>
</p:tagLst>
</file>

<file path=ppt/tags/tag171.xml><?xml version="1.0" encoding="utf-8"?>
<p:tagLst xmlns:p="http://schemas.openxmlformats.org/presentationml/2006/main">
  <p:tag name="RAINPROBLEM" val="ProblemSetting"/>
  <p:tag name="RAINPROBLEMTYPE" val="ShortAnswer"/>
</p:tagLst>
</file>

<file path=ppt/tags/tag172.xml><?xml version="1.0" encoding="utf-8"?>
<p:tagLst xmlns:p="http://schemas.openxmlformats.org/presentationml/2006/main">
  <p:tag name="RAINPROBLEM" val="ShortAnswer"/>
  <p:tag name="PROBLEMSCORE" val="10.0"/>
  <p:tag name="PROBLEMVOICEALLOWED" val="False"/>
</p:tagLst>
</file>

<file path=ppt/tags/tag173.xml><?xml version="1.0" encoding="utf-8"?>
<p:tagLst xmlns:p="http://schemas.openxmlformats.org/presentationml/2006/main">
  <p:tag name="RAINPROBLEM" val="ProblemBody"/>
</p:tagLst>
</file>

<file path=ppt/tags/tag174.xml><?xml version="1.0" encoding="utf-8"?>
<p:tagLst xmlns:p="http://schemas.openxmlformats.org/presentationml/2006/main">
  <p:tag name="commondata" val="eyJoZGlkIjoiYjU2OTU1ZWZmZDExNGRkNzljZGQyODcxMWIwNGNhNT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8887</Words>
  <Application>WPS 演示</Application>
  <PresentationFormat>宽屏</PresentationFormat>
  <Paragraphs>1149</Paragraphs>
  <Slides>50</Slides>
  <Notes>1</Notes>
  <HiddenSlides>0</HiddenSlides>
  <MMClips>1</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50</vt:i4>
      </vt:variant>
    </vt:vector>
  </HeadingPairs>
  <TitlesOfParts>
    <vt:vector size="70" baseType="lpstr">
      <vt:lpstr>Arial</vt:lpstr>
      <vt:lpstr>宋体</vt:lpstr>
      <vt:lpstr>Wingdings</vt:lpstr>
      <vt:lpstr>微软雅黑</vt:lpstr>
      <vt:lpstr>Times New Roman</vt:lpstr>
      <vt:lpstr>GeosansLight</vt:lpstr>
      <vt:lpstr>苹方-简</vt:lpstr>
      <vt:lpstr>Open Sans</vt:lpstr>
      <vt:lpstr>FontAwesome</vt:lpstr>
      <vt:lpstr>Microsoft Yahei</vt:lpstr>
      <vt:lpstr>Arial Unicode MS</vt:lpstr>
      <vt:lpstr>Calibri</vt:lpstr>
      <vt:lpstr>等线</vt:lpstr>
      <vt:lpstr>汉仪中等线KW</vt:lpstr>
      <vt:lpstr>Calibri Light</vt:lpstr>
      <vt:lpstr>等线 Light</vt:lpstr>
      <vt:lpstr>华文中宋</vt:lpstr>
      <vt:lpstr>Office 主题​​</vt:lpstr>
      <vt:lpstr>Visio.Drawing.15</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原始版本：读者优先</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jinghui</dc:creator>
  <cp:lastModifiedBy>^_^ Alex Yang 阳光灿烂的日子</cp:lastModifiedBy>
  <cp:revision>1228</cp:revision>
  <cp:lastPrinted>2025-10-28T21:57:58Z</cp:lastPrinted>
  <dcterms:created xsi:type="dcterms:W3CDTF">2025-10-28T21:57:58Z</dcterms:created>
  <dcterms:modified xsi:type="dcterms:W3CDTF">2025-10-28T21:57:58Z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B2F31A0C19276377B93A016986A2B3F3_42</vt:lpwstr>
  </property>
  <property fmtid="{D5CDD505-2E9C-101B-9397-08002B2CF9AE}" pid="3" name="KSOProductBuildVer">
    <vt:lpwstr>2052-6.11.0.8885</vt:lpwstr>
  </property>
</Properties>
</file>