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2.xml" ContentType="application/vnd.openxmlformats-officedocument.presentationml.notesSlide+xml"/>
  <Override PartName="/ppt/tags/tag20.xml" ContentType="application/vnd.openxmlformats-officedocument.presentationml.tags+xml"/>
  <Override PartName="/ppt/notesSlides/notesSlide3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4.xml" ContentType="application/vnd.openxmlformats-officedocument.presentationml.notesSlide+xml"/>
  <Override PartName="/ppt/tags/tag23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9"/>
  </p:notesMasterIdLst>
  <p:sldIdLst>
    <p:sldId id="282" r:id="rId2"/>
    <p:sldId id="256" r:id="rId3"/>
    <p:sldId id="257" r:id="rId4"/>
    <p:sldId id="258" r:id="rId5"/>
    <p:sldId id="275" r:id="rId6"/>
    <p:sldId id="276" r:id="rId7"/>
    <p:sldId id="277" r:id="rId8"/>
    <p:sldId id="259" r:id="rId9"/>
    <p:sldId id="260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61" r:id="rId18"/>
    <p:sldId id="262" r:id="rId19"/>
    <p:sldId id="267" r:id="rId20"/>
    <p:sldId id="266" r:id="rId21"/>
    <p:sldId id="278" r:id="rId22"/>
    <p:sldId id="280" r:id="rId23"/>
    <p:sldId id="281" r:id="rId24"/>
    <p:sldId id="279" r:id="rId25"/>
    <p:sldId id="263" r:id="rId26"/>
    <p:sldId id="264" r:id="rId27"/>
    <p:sldId id="283" r:id="rId28"/>
  </p:sldIdLst>
  <p:sldSz cx="9144000" cy="6858000" type="screen4x3"/>
  <p:notesSz cx="6858000" cy="9144000"/>
  <p:custDataLst>
    <p:tags r:id="rId3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03694287" name="^_^ Alex Yang 阳光灿烂的日子" initials="^" lastIdx="2" clrIdx="0"/>
  <p:cmAuthor id="1" name="jinghui" initials="j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ags" Target="tags/tag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2025/11/07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Ubuntu 24.01 Gnome </a:t>
            </a:r>
            <a:r>
              <a:rPr lang="zh-CN" altLang="en-US" dirty="0"/>
              <a:t>图形用户界面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7194D-9457-4CB1-9230-4797428E1A57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Qt 从 Qt 5.10 开始正式支持 Vulkan 渲染。</a:t>
            </a:r>
          </a:p>
          <a:p>
            <a:r>
              <a:rPr lang="zh-CN" altLang="en-US"/>
              <a:t>主要机制是通过 QVulkanInstance、QVulkanWindow 和 QVulkanDeviceFunctions 等类。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Qt 从 Qt 5.10 开始正式支持 Vulkan 渲染。</a:t>
            </a:r>
          </a:p>
          <a:p>
            <a:r>
              <a:rPr lang="zh-CN" altLang="en-US"/>
              <a:t>主要机制是通过 QVulkanInstance、QVulkanWindow 和 QVulkanDeviceFunctions 等类。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Qt 从 Qt 5.10 开始正式支持 Vulkan 渲染。</a:t>
            </a:r>
          </a:p>
          <a:p>
            <a:r>
              <a:rPr lang="zh-CN" altLang="en-US"/>
              <a:t>主要机制是通过 QVulkanInstance、QVulkanWindow 和 QVulkanDeviceFunctions 等类。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Qt 从 Qt 5.10 开始正式支持 Vulkan 渲染。</a:t>
            </a:r>
          </a:p>
          <a:p>
            <a:r>
              <a:rPr lang="zh-CN" altLang="en-US"/>
              <a:t>主要机制是通过 QVulkanInstance、QVulkanWindow 和 QVulkanDeviceFunctions 等类。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Scree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image" Target="../media/image2.jpe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hyperlink" Target="http://www.scholat.com/yangcan" TargetMode="External"/><Relationship Id="rId5" Type="http://schemas.openxmlformats.org/officeDocument/2006/relationships/tags" Target="../tags/tag6.xml"/><Relationship Id="rId10" Type="http://schemas.openxmlformats.org/officeDocument/2006/relationships/image" Target="../media/image1.png"/><Relationship Id="rId4" Type="http://schemas.openxmlformats.org/officeDocument/2006/relationships/tags" Target="../tags/tag5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ayland.freedesktop.org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4" Type="http://schemas.openxmlformats.org/officeDocument/2006/relationships/notesSlide" Target="../notesSlides/notesSlide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5" Type="http://schemas.openxmlformats.org/officeDocument/2006/relationships/image" Target="../media/image7.jpeg"/><Relationship Id="rId4" Type="http://schemas.openxmlformats.org/officeDocument/2006/relationships/notesSlide" Target="../notesSlides/notesSlide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5950585" y="880745"/>
            <a:ext cx="2785110" cy="2529840"/>
            <a:chOff x="8224" y="1175"/>
            <a:chExt cx="5220" cy="5220"/>
          </a:xfrm>
        </p:grpSpPr>
        <p:sp>
          <p:nvSpPr>
            <p:cNvPr id="59" name="任意多边形: 形状 58"/>
            <p:cNvSpPr/>
            <p:nvPr>
              <p:custDataLst>
                <p:tags r:id="rId5"/>
              </p:custDataLst>
            </p:nvPr>
          </p:nvSpPr>
          <p:spPr>
            <a:xfrm>
              <a:off x="8224" y="1175"/>
              <a:ext cx="5221" cy="5221"/>
            </a:xfrm>
            <a:custGeom>
              <a:avLst/>
              <a:gdLst>
                <a:gd name="connsiteX0" fmla="*/ 2192419 w 4384838"/>
                <a:gd name="connsiteY0" fmla="*/ 426532 h 4384838"/>
                <a:gd name="connsiteX1" fmla="*/ 426532 w 4384838"/>
                <a:gd name="connsiteY1" fmla="*/ 2192419 h 4384838"/>
                <a:gd name="connsiteX2" fmla="*/ 2192419 w 4384838"/>
                <a:gd name="connsiteY2" fmla="*/ 3958306 h 4384838"/>
                <a:gd name="connsiteX3" fmla="*/ 3958306 w 4384838"/>
                <a:gd name="connsiteY3" fmla="*/ 2192419 h 4384838"/>
                <a:gd name="connsiteX4" fmla="*/ 2192419 w 4384838"/>
                <a:gd name="connsiteY4" fmla="*/ 426532 h 4384838"/>
                <a:gd name="connsiteX5" fmla="*/ 2192419 w 4384838"/>
                <a:gd name="connsiteY5" fmla="*/ 0 h 4384838"/>
                <a:gd name="connsiteX6" fmla="*/ 4384838 w 4384838"/>
                <a:gd name="connsiteY6" fmla="*/ 2192419 h 4384838"/>
                <a:gd name="connsiteX7" fmla="*/ 2192419 w 4384838"/>
                <a:gd name="connsiteY7" fmla="*/ 4384838 h 4384838"/>
                <a:gd name="connsiteX8" fmla="*/ 0 w 4384838"/>
                <a:gd name="connsiteY8" fmla="*/ 2192419 h 4384838"/>
                <a:gd name="connsiteX9" fmla="*/ 2192419 w 4384838"/>
                <a:gd name="connsiteY9" fmla="*/ 0 h 4384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384838" h="4384838">
                  <a:moveTo>
                    <a:pt x="2192419" y="426532"/>
                  </a:moveTo>
                  <a:cubicBezTo>
                    <a:pt x="1217147" y="426532"/>
                    <a:pt x="426532" y="1217147"/>
                    <a:pt x="426532" y="2192419"/>
                  </a:cubicBezTo>
                  <a:cubicBezTo>
                    <a:pt x="426532" y="3167691"/>
                    <a:pt x="1217147" y="3958306"/>
                    <a:pt x="2192419" y="3958306"/>
                  </a:cubicBezTo>
                  <a:cubicBezTo>
                    <a:pt x="3167691" y="3958306"/>
                    <a:pt x="3958306" y="3167691"/>
                    <a:pt x="3958306" y="2192419"/>
                  </a:cubicBezTo>
                  <a:cubicBezTo>
                    <a:pt x="3958306" y="1217147"/>
                    <a:pt x="3167691" y="426532"/>
                    <a:pt x="2192419" y="426532"/>
                  </a:cubicBezTo>
                  <a:close/>
                  <a:moveTo>
                    <a:pt x="2192419" y="0"/>
                  </a:moveTo>
                  <a:cubicBezTo>
                    <a:pt x="3403259" y="0"/>
                    <a:pt x="4384838" y="981579"/>
                    <a:pt x="4384838" y="2192419"/>
                  </a:cubicBezTo>
                  <a:cubicBezTo>
                    <a:pt x="4384838" y="3403259"/>
                    <a:pt x="3403259" y="4384838"/>
                    <a:pt x="2192419" y="4384838"/>
                  </a:cubicBezTo>
                  <a:cubicBezTo>
                    <a:pt x="981579" y="4384838"/>
                    <a:pt x="0" y="3403259"/>
                    <a:pt x="0" y="2192419"/>
                  </a:cubicBezTo>
                  <a:cubicBezTo>
                    <a:pt x="0" y="981579"/>
                    <a:pt x="981579" y="0"/>
                    <a:pt x="2192419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 dirty="0"/>
            </a:p>
          </p:txBody>
        </p:sp>
        <p:sp>
          <p:nvSpPr>
            <p:cNvPr id="60" name="任意多边形: 形状 59"/>
            <p:cNvSpPr/>
            <p:nvPr>
              <p:custDataLst>
                <p:tags r:id="rId6"/>
              </p:custDataLst>
            </p:nvPr>
          </p:nvSpPr>
          <p:spPr>
            <a:xfrm>
              <a:off x="8224" y="1175"/>
              <a:ext cx="4874" cy="3878"/>
            </a:xfrm>
            <a:custGeom>
              <a:avLst/>
              <a:gdLst>
                <a:gd name="connsiteX0" fmla="*/ 2192419 w 4093225"/>
                <a:gd name="connsiteY0" fmla="*/ 0 h 3257223"/>
                <a:gd name="connsiteX1" fmla="*/ 4010407 w 4093225"/>
                <a:gd name="connsiteY1" fmla="*/ 966617 h 3257223"/>
                <a:gd name="connsiteX2" fmla="*/ 4093225 w 4093225"/>
                <a:gd name="connsiteY2" fmla="*/ 1102939 h 3257223"/>
                <a:gd name="connsiteX3" fmla="*/ 3721968 w 4093225"/>
                <a:gd name="connsiteY3" fmla="*/ 1312496 h 3257223"/>
                <a:gd name="connsiteX4" fmla="*/ 3656720 w 4093225"/>
                <a:gd name="connsiteY4" fmla="*/ 1205095 h 3257223"/>
                <a:gd name="connsiteX5" fmla="*/ 2192419 w 4093225"/>
                <a:gd name="connsiteY5" fmla="*/ 426532 h 3257223"/>
                <a:gd name="connsiteX6" fmla="*/ 426532 w 4093225"/>
                <a:gd name="connsiteY6" fmla="*/ 2192419 h 3257223"/>
                <a:gd name="connsiteX7" fmla="*/ 639665 w 4093225"/>
                <a:gd name="connsiteY7" fmla="*/ 3034146 h 3257223"/>
                <a:gd name="connsiteX8" fmla="*/ 647880 w 4093225"/>
                <a:gd name="connsiteY8" fmla="*/ 3047667 h 3257223"/>
                <a:gd name="connsiteX9" fmla="*/ 276622 w 4093225"/>
                <a:gd name="connsiteY9" fmla="*/ 3257223 h 3257223"/>
                <a:gd name="connsiteX10" fmla="*/ 264613 w 4093225"/>
                <a:gd name="connsiteY10" fmla="*/ 3237457 h 3257223"/>
                <a:gd name="connsiteX11" fmla="*/ 0 w 4093225"/>
                <a:gd name="connsiteY11" fmla="*/ 2192419 h 3257223"/>
                <a:gd name="connsiteX12" fmla="*/ 2192419 w 4093225"/>
                <a:gd name="connsiteY12" fmla="*/ 0 h 3257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93225" h="3257223">
                  <a:moveTo>
                    <a:pt x="2192419" y="0"/>
                  </a:moveTo>
                  <a:cubicBezTo>
                    <a:pt x="2949194" y="0"/>
                    <a:pt x="3616414" y="383429"/>
                    <a:pt x="4010407" y="966617"/>
                  </a:cubicBezTo>
                  <a:lnTo>
                    <a:pt x="4093225" y="1102939"/>
                  </a:lnTo>
                  <a:lnTo>
                    <a:pt x="3721968" y="1312496"/>
                  </a:lnTo>
                  <a:lnTo>
                    <a:pt x="3656720" y="1205095"/>
                  </a:lnTo>
                  <a:cubicBezTo>
                    <a:pt x="3339377" y="735366"/>
                    <a:pt x="2801964" y="426532"/>
                    <a:pt x="2192419" y="426532"/>
                  </a:cubicBezTo>
                  <a:cubicBezTo>
                    <a:pt x="1217147" y="426532"/>
                    <a:pt x="426532" y="1217147"/>
                    <a:pt x="426532" y="2192419"/>
                  </a:cubicBezTo>
                  <a:cubicBezTo>
                    <a:pt x="426532" y="2497192"/>
                    <a:pt x="503741" y="2783931"/>
                    <a:pt x="639665" y="3034146"/>
                  </a:cubicBezTo>
                  <a:lnTo>
                    <a:pt x="647880" y="3047667"/>
                  </a:lnTo>
                  <a:lnTo>
                    <a:pt x="276622" y="3257223"/>
                  </a:lnTo>
                  <a:lnTo>
                    <a:pt x="264613" y="3237457"/>
                  </a:lnTo>
                  <a:cubicBezTo>
                    <a:pt x="95858" y="2926805"/>
                    <a:pt x="0" y="2570807"/>
                    <a:pt x="0" y="2192419"/>
                  </a:cubicBezTo>
                  <a:cubicBezTo>
                    <a:pt x="0" y="981579"/>
                    <a:pt x="981579" y="0"/>
                    <a:pt x="2192419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49000">
                  <a:schemeClr val="accent1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pic>
          <p:nvPicPr>
            <p:cNvPr id="63" name="图片 62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0"/>
            <a:srcRect/>
            <a:stretch>
              <a:fillRect/>
            </a:stretch>
          </p:blipFill>
          <p:spPr>
            <a:xfrm>
              <a:off x="8729" y="1649"/>
              <a:ext cx="4274" cy="4274"/>
            </a:xfrm>
            <a:custGeom>
              <a:avLst/>
              <a:gdLst>
                <a:gd name="connsiteX0" fmla="*/ 1794661 w 3589362"/>
                <a:gd name="connsiteY0" fmla="*/ 0 h 3589361"/>
                <a:gd name="connsiteX1" fmla="*/ 1794701 w 3589362"/>
                <a:gd name="connsiteY1" fmla="*/ 0 h 3589361"/>
                <a:gd name="connsiteX2" fmla="*/ 1978177 w 3589362"/>
                <a:gd name="connsiteY2" fmla="*/ 9265 h 3589361"/>
                <a:gd name="connsiteX3" fmla="*/ 3589362 w 3589362"/>
                <a:gd name="connsiteY3" fmla="*/ 1794680 h 3589361"/>
                <a:gd name="connsiteX4" fmla="*/ 1794681 w 3589362"/>
                <a:gd name="connsiteY4" fmla="*/ 3589361 h 3589361"/>
                <a:gd name="connsiteX5" fmla="*/ 0 w 3589362"/>
                <a:gd name="connsiteY5" fmla="*/ 1794680 h 3589361"/>
                <a:gd name="connsiteX6" fmla="*/ 1611185 w 3589362"/>
                <a:gd name="connsiteY6" fmla="*/ 9265 h 3589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89362" h="3589361">
                  <a:moveTo>
                    <a:pt x="1794661" y="0"/>
                  </a:moveTo>
                  <a:lnTo>
                    <a:pt x="1794701" y="0"/>
                  </a:lnTo>
                  <a:lnTo>
                    <a:pt x="1978177" y="9265"/>
                  </a:lnTo>
                  <a:cubicBezTo>
                    <a:pt x="2883156" y="101170"/>
                    <a:pt x="3589362" y="865454"/>
                    <a:pt x="3589362" y="1794680"/>
                  </a:cubicBezTo>
                  <a:cubicBezTo>
                    <a:pt x="3589362" y="2785855"/>
                    <a:pt x="2785856" y="3589361"/>
                    <a:pt x="1794681" y="3589361"/>
                  </a:cubicBezTo>
                  <a:cubicBezTo>
                    <a:pt x="803506" y="3589361"/>
                    <a:pt x="0" y="2785855"/>
                    <a:pt x="0" y="1794680"/>
                  </a:cubicBezTo>
                  <a:cubicBezTo>
                    <a:pt x="0" y="865454"/>
                    <a:pt x="706207" y="101170"/>
                    <a:pt x="1611185" y="9265"/>
                  </a:cubicBezTo>
                  <a:close/>
                </a:path>
              </a:pathLst>
            </a:custGeom>
          </p:spPr>
        </p:pic>
      </p:grp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414308" y="-15932"/>
            <a:ext cx="4157663" cy="1211665"/>
          </a:xfrm>
          <a:prstGeom prst="rect">
            <a:avLst/>
          </a:prstGeom>
          <a:noFill/>
        </p:spPr>
        <p:txBody>
          <a:bodyPr wrap="square" lIns="47625" tIns="19050" rIns="47625" bIns="19050" rtlCol="0" anchor="b" anchorCtr="0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2550" b="1" spc="180" dirty="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操 作 系 统</a:t>
            </a:r>
            <a:r>
              <a:rPr lang="en-US" altLang="zh-CN" sz="2550" b="1" spc="180" dirty="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zh-CN" altLang="en-US" sz="2550" b="1" spc="180" dirty="0">
              <a:solidFill>
                <a:schemeClr val="accent1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0"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550" b="1" spc="180" dirty="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Operation System</a:t>
            </a:r>
          </a:p>
        </p:txBody>
      </p:sp>
      <p:sp>
        <p:nvSpPr>
          <p:cNvPr id="11" name="Title 6"/>
          <p:cNvSpPr txBox="1"/>
          <p:nvPr>
            <p:custDataLst>
              <p:tags r:id="rId3"/>
            </p:custDataLst>
          </p:nvPr>
        </p:nvSpPr>
        <p:spPr>
          <a:xfrm>
            <a:off x="311914" y="2065722"/>
            <a:ext cx="4157663" cy="2697470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47625" tIns="19050" rIns="47625" bIns="19050" anchor="t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lvl="0" indent="-28575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zh-CN" altLang="en-US" sz="1725" spc="15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杨 灿</a:t>
            </a:r>
            <a:r>
              <a:rPr altLang="zh-CN" sz="1725" spc="15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lang="zh-CN" altLang="en-US" sz="1725" spc="15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华南理工大学</a:t>
            </a:r>
          </a:p>
          <a:p>
            <a:pPr marL="0" lvl="0" indent="-28575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zh-CN" altLang="en-US" sz="1725" spc="15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计算机科学与工程学院</a:t>
            </a:r>
          </a:p>
          <a:p>
            <a:pPr marL="0" lvl="0" indent="-28575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en-US" sz="1725" spc="15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Email: cscyang@scut.edu.cn</a:t>
            </a:r>
          </a:p>
          <a:p>
            <a:pPr marL="0" lvl="0" indent="-285750" algn="l" fontAlgn="ctr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SzPct val="100000"/>
              <a:buFont typeface="Wingdings" panose="05000000000000000000" charset="0"/>
              <a:buNone/>
            </a:pPr>
            <a:r>
              <a:rPr lang="en-US" sz="1725" spc="15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1"/>
              </a:rPr>
              <a:t>http://www.scholat.com/yangcan 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413635" y="285750"/>
            <a:ext cx="5230495" cy="48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550" b="1" spc="180" dirty="0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Part 7</a:t>
            </a:r>
            <a:r>
              <a:rPr lang="zh-CN" altLang="en-US" sz="2550" b="1" spc="180" dirty="0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550" b="1" spc="180" dirty="0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GUI </a:t>
            </a:r>
            <a:r>
              <a:rPr lang="zh-CN" altLang="en-US" sz="2550" b="1" spc="180" dirty="0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图形用户界面</a:t>
            </a:r>
            <a:endParaRPr lang="zh-CN" altLang="en-US" sz="2325" b="1" spc="180" dirty="0">
              <a:solidFill>
                <a:srgbClr val="FF0000"/>
              </a:solidFill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311468" y="1424781"/>
            <a:ext cx="5231606" cy="48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550" b="1" spc="180" dirty="0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GUI</a:t>
            </a:r>
            <a:r>
              <a:rPr lang="zh-CN" altLang="en-US" sz="2550" b="1" spc="180" dirty="0">
                <a:solidFill>
                  <a:srgbClr val="FF0000"/>
                </a:solidFill>
                <a:uFillTx/>
                <a:latin typeface="微软雅黑" panose="020B0503020204020204" charset="-122"/>
                <a:ea typeface="微软雅黑" panose="020B0503020204020204" charset="-122"/>
              </a:rPr>
              <a:t>系统的若干技术问题</a:t>
            </a:r>
          </a:p>
        </p:txBody>
      </p:sp>
      <p:pic>
        <p:nvPicPr>
          <p:cNvPr id="4" name="图片 3"/>
          <p:cNvPicPr/>
          <p:nvPr/>
        </p:nvPicPr>
        <p:blipFill>
          <a:blip r:embed="rId12"/>
          <a:stretch>
            <a:fillRect/>
          </a:stretch>
        </p:blipFill>
        <p:spPr>
          <a:xfrm>
            <a:off x="1905" y="3780155"/>
            <a:ext cx="9141460" cy="307784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17"/>
            <a:ext cx="82296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buClrTx/>
              <a:buSzTx/>
              <a:buFontTx/>
            </a:pPr>
            <a:r>
              <a:rPr sz="4100">
                <a:sym typeface="+mn-ea"/>
              </a:rPr>
              <a:t>Linux的GUI技术综述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1235"/>
            <a:ext cx="8229600" cy="4525963"/>
          </a:xfrm>
        </p:spPr>
        <p:txBody>
          <a:bodyPr/>
          <a:lstStyle/>
          <a:p>
            <a:r>
              <a:t>主题：现代操作系统中的图形用户界面（GUI, Graphical User Interface）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265" y="4676775"/>
            <a:ext cx="3810000" cy="1905000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3"/>
          <a:stretch>
            <a:fillRect/>
          </a:stretch>
        </p:blipFill>
        <p:spPr>
          <a:xfrm>
            <a:off x="114935" y="2117090"/>
            <a:ext cx="4926330" cy="28098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1755" y="2301875"/>
            <a:ext cx="3589655" cy="22085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835" y="4252595"/>
            <a:ext cx="4027170" cy="25171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4922"/>
            <a:ext cx="82296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buClrTx/>
              <a:buSzTx/>
              <a:buFontTx/>
            </a:pPr>
            <a:r>
              <a:rPr sz="4100">
                <a:sym typeface="+mn-ea"/>
              </a:rPr>
              <a:t>一、GUI总体结构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04265"/>
            <a:ext cx="8229600" cy="5385435"/>
          </a:xfrm>
        </p:spPr>
        <p:txBody>
          <a:bodyPr/>
          <a:lstStyle/>
          <a:p>
            <a:r>
              <a:rPr sz="2500"/>
              <a:t>Linux的GUI是一个多层体系：应用程序 → GUI工具包 → </a:t>
            </a:r>
          </a:p>
          <a:p>
            <a:pPr marL="0" indent="0">
              <a:buNone/>
            </a:pPr>
            <a:r>
              <a:rPr lang="en-US" sz="2500"/>
              <a:t>    </a:t>
            </a:r>
            <a:r>
              <a:rPr sz="2500"/>
              <a:t>显示服务器 → 显示驱动层 → 内核 → 硬件</a:t>
            </a:r>
          </a:p>
          <a:p>
            <a:r>
              <a:rPr sz="2500"/>
              <a:t>每一层负责不同的功能，从绘图接口到屏幕显示。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116455" y="2639060"/>
            <a:ext cx="5139690" cy="3692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+-------------------------------------</a:t>
            </a:r>
            <a:r>
              <a:rPr lang="en-US" altLang="zh-CN"/>
              <a:t>----------------------------</a:t>
            </a:r>
            <a:r>
              <a:rPr lang="zh-CN" altLang="en-US"/>
              <a:t>-+</a:t>
            </a:r>
          </a:p>
          <a:p>
            <a:r>
              <a:rPr lang="zh-CN" altLang="en-US"/>
              <a:t>| 应用程序（如 Firefox、VS Code）        </a:t>
            </a:r>
            <a:r>
              <a:rPr lang="en-US" altLang="zh-CN"/>
              <a:t>		   </a:t>
            </a:r>
            <a:r>
              <a:rPr lang="zh-CN" altLang="en-US"/>
              <a:t>|</a:t>
            </a:r>
          </a:p>
          <a:p>
            <a:r>
              <a:rPr lang="zh-CN" altLang="en-US"/>
              <a:t>+--------------------------------------</a:t>
            </a:r>
            <a:r>
              <a:rPr lang="en-US" altLang="zh-CN"/>
              <a:t>----------------------------</a:t>
            </a:r>
            <a:r>
              <a:rPr lang="zh-CN" altLang="en-US"/>
              <a:t>+</a:t>
            </a:r>
          </a:p>
          <a:p>
            <a:r>
              <a:rPr lang="zh-CN" altLang="en-US"/>
              <a:t>| GUI工具包（GTK、Qt、wxWidgets）       </a:t>
            </a:r>
            <a:r>
              <a:rPr lang="en-US" altLang="zh-CN"/>
              <a:t>		   </a:t>
            </a:r>
            <a:r>
              <a:rPr lang="zh-CN" altLang="en-US"/>
              <a:t>|</a:t>
            </a:r>
          </a:p>
          <a:p>
            <a:r>
              <a:rPr lang="zh-CN" altLang="en-US"/>
              <a:t>+--------------------------------------</a:t>
            </a:r>
            <a:r>
              <a:rPr lang="en-US" altLang="zh-CN"/>
              <a:t>----------------------------</a:t>
            </a:r>
            <a:r>
              <a:rPr lang="zh-CN" altLang="en-US"/>
              <a:t>+</a:t>
            </a:r>
          </a:p>
          <a:p>
            <a:r>
              <a:rPr lang="zh-CN" altLang="en-US"/>
              <a:t>| 显示服务器（X.Org / Wayland）         </a:t>
            </a:r>
            <a:r>
              <a:rPr lang="en-US" altLang="zh-CN"/>
              <a:t>		   </a:t>
            </a:r>
            <a:r>
              <a:rPr lang="zh-CN" altLang="en-US"/>
              <a:t>|</a:t>
            </a:r>
          </a:p>
          <a:p>
            <a:r>
              <a:rPr lang="zh-CN" altLang="en-US"/>
              <a:t>+-------------------------------------</a:t>
            </a:r>
            <a:r>
              <a:rPr lang="en-US" altLang="zh-CN"/>
              <a:t>----------------------------</a:t>
            </a:r>
            <a:r>
              <a:rPr lang="zh-CN" altLang="en-US"/>
              <a:t>-+</a:t>
            </a:r>
          </a:p>
          <a:p>
            <a:r>
              <a:rPr lang="zh-CN" altLang="en-US"/>
              <a:t>| 显示驱动层（DRM、KMS、Mesa、OpenGL）  </a:t>
            </a:r>
            <a:r>
              <a:rPr lang="en-US" altLang="zh-CN"/>
              <a:t> </a:t>
            </a:r>
            <a:r>
              <a:rPr lang="zh-CN" altLang="en-US"/>
              <a:t>|</a:t>
            </a:r>
          </a:p>
          <a:p>
            <a:r>
              <a:rPr lang="zh-CN" altLang="en-US"/>
              <a:t>+--------------------------------------</a:t>
            </a:r>
            <a:r>
              <a:rPr lang="en-US" altLang="zh-CN"/>
              <a:t>----------------------------</a:t>
            </a:r>
            <a:r>
              <a:rPr lang="zh-CN" altLang="en-US"/>
              <a:t>+</a:t>
            </a:r>
          </a:p>
          <a:p>
            <a:r>
              <a:rPr lang="zh-CN" altLang="en-US"/>
              <a:t>| Linux内核（Framebuffer、GPU驱动）     </a:t>
            </a:r>
            <a:r>
              <a:rPr lang="en-US" altLang="zh-CN"/>
              <a:t>             </a:t>
            </a:r>
            <a:r>
              <a:rPr lang="zh-CN" altLang="en-US"/>
              <a:t>|</a:t>
            </a:r>
          </a:p>
          <a:p>
            <a:r>
              <a:rPr lang="zh-CN" altLang="en-US"/>
              <a:t>+-------------------------------------</a:t>
            </a:r>
            <a:r>
              <a:rPr lang="en-US" altLang="zh-CN"/>
              <a:t>----------------------------</a:t>
            </a:r>
            <a:r>
              <a:rPr lang="zh-CN" altLang="en-US"/>
              <a:t>-+</a:t>
            </a:r>
          </a:p>
          <a:p>
            <a:r>
              <a:rPr lang="zh-CN" altLang="en-US"/>
              <a:t>| 硬件（显示器、显卡、输入设备）        </a:t>
            </a:r>
            <a:r>
              <a:rPr lang="en-US" altLang="zh-CN"/>
              <a:t>              </a:t>
            </a:r>
            <a:r>
              <a:rPr lang="zh-CN" altLang="en-US"/>
              <a:t>|</a:t>
            </a:r>
          </a:p>
          <a:p>
            <a:r>
              <a:rPr lang="zh-CN" altLang="en-US"/>
              <a:t>+-------------------------------------</a:t>
            </a:r>
            <a:r>
              <a:rPr lang="en-US" altLang="zh-CN"/>
              <a:t>----------------------------</a:t>
            </a:r>
            <a:r>
              <a:rPr lang="zh-CN" altLang="en-US"/>
              <a:t>-+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17"/>
            <a:ext cx="82296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buClrTx/>
              <a:buSzTx/>
              <a:buFontTx/>
            </a:pPr>
            <a:r>
              <a:rPr sz="4100">
                <a:sym typeface="+mn-ea"/>
              </a:rPr>
              <a:t>二、底层机制</a:t>
            </a: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4275954"/>
              </p:ext>
            </p:extLst>
          </p:nvPr>
        </p:nvGraphicFramePr>
        <p:xfrm>
          <a:off x="635" y="3009900"/>
          <a:ext cx="9144000" cy="3168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6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2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06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12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89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名称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全称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主要功能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主要用途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时代背景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13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Framebuffer</a:t>
                      </a:r>
                    </a:p>
                    <a:p>
                      <a:pPr algn="ctr">
                        <a:buNone/>
                      </a:pPr>
                      <a:r>
                        <a:rPr sz="1800">
                          <a:sym typeface="+mn-ea"/>
                        </a:rPr>
                        <a:t>（帧缓冲区）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Frame Buffer Device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直接把像素写入显示缓冲区</a:t>
                      </a:r>
                      <a:r>
                        <a:rPr lang="en-US" altLang="zh-CN"/>
                        <a:t>；</a:t>
                      </a:r>
                      <a:r>
                        <a:rPr sz="1800">
                          <a:sym typeface="+mn-ea"/>
                        </a:rPr>
                        <a:t>直接写像素到显示设备</a:t>
                      </a:r>
                      <a:r>
                        <a:rPr lang="zh-CN" altLang="en-US"/>
                        <a:t>（纯CPU绘制）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嵌入式系统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1990s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20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DRM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Direct Rendering Manager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管理 GPU 资源、显存、命令队列（GPU绘制）</a:t>
                      </a:r>
                      <a:r>
                        <a:rPr lang="en-US" altLang="zh-CN"/>
                        <a:t>；</a:t>
                      </a:r>
                      <a:r>
                        <a:rPr lang="zh-CN" altLang="en-US" sz="1800">
                          <a:sym typeface="+mn-ea"/>
                        </a:rPr>
                        <a:t>GPU加速，但Xorg控制输出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桌面Linux早期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2000s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63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KMS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Kernel Mode Setting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由内核控制显示模式</a:t>
                      </a:r>
                      <a:r>
                        <a:rPr lang="en-US" altLang="zh-CN"/>
                        <a:t>：</a:t>
                      </a:r>
                      <a:r>
                        <a:rPr lang="zh-CN" altLang="en-US"/>
                        <a:t>设置分辨率、刷新率、输出端口</a:t>
                      </a:r>
                      <a:r>
                        <a:rPr lang="en-US" altLang="zh-CN"/>
                        <a:t>；</a:t>
                      </a:r>
                      <a:r>
                        <a:rPr lang="zh-CN" altLang="en-US" sz="1800">
                          <a:sym typeface="+mn-ea"/>
                        </a:rPr>
                        <a:t>内核统一管理显示，Wayland标准接口</a:t>
                      </a:r>
                      <a:endParaRPr lang="en-US" alt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/>
                        <a:t>现代桌面与嵌入式系统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dirty="0"/>
                        <a:t>2010s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0" y="1306195"/>
            <a:ext cx="9144635" cy="129159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</a:pPr>
            <a:r>
              <a:rPr lang="en-US" altLang="zh-CN" sz="2000" i="0">
                <a:solidFill>
                  <a:srgbClr val="000000"/>
                </a:solidFill>
              </a:rPr>
              <a:t>Framebuffer</a:t>
            </a:r>
            <a:r>
              <a:rPr lang="zh-CN" altLang="en-US" sz="2000" i="0">
                <a:solidFill>
                  <a:srgbClr val="000000"/>
                </a:solidFill>
              </a:rPr>
              <a:t>、</a:t>
            </a:r>
            <a:r>
              <a:rPr lang="en-US" altLang="zh-CN" sz="2000" i="0">
                <a:solidFill>
                  <a:srgbClr val="000000"/>
                </a:solidFill>
              </a:rPr>
              <a:t>DRM</a:t>
            </a:r>
            <a:r>
              <a:rPr lang="zh-CN" altLang="en-US" sz="2000" i="0">
                <a:solidFill>
                  <a:srgbClr val="000000"/>
                </a:solidFill>
              </a:rPr>
              <a:t>、</a:t>
            </a:r>
            <a:r>
              <a:rPr lang="en-US" altLang="zh-CN" sz="2000" i="0">
                <a:solidFill>
                  <a:srgbClr val="000000"/>
                </a:solidFill>
              </a:rPr>
              <a:t>KMS 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——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 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Linux 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图形栈中最底层、最接近硬件的核心组件。</a:t>
            </a:r>
          </a:p>
          <a:p>
            <a:pPr marL="0" indent="0">
              <a:lnSpc>
                <a:spcPct val="130000"/>
              </a:lnSpc>
            </a:pP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它们直接与显卡（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GPU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）交互，决定上层（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Xorg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、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Wayland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、</a:t>
            </a:r>
            <a:r>
              <a:rPr lang="en-US" altLang="zh-CN" sz="2000" b="0" i="0">
                <a:solidFill>
                  <a:srgbClr val="000000"/>
                </a:solidFill>
                <a:latin typeface="-webkit-standard"/>
                <a:ea typeface="-webkit-standard"/>
              </a:rPr>
              <a:t>OpenGL </a:t>
            </a:r>
            <a:r>
              <a:rPr lang="zh-CN" altLang="en-US" sz="2000" b="0" i="0">
                <a:solidFill>
                  <a:srgbClr val="000000"/>
                </a:solidFill>
                <a:latin typeface="-webkit-standard"/>
                <a:ea typeface="-webkit-standard"/>
              </a:rPr>
              <a:t>等）如何最终把图像“推”到屏幕上。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857"/>
            <a:ext cx="82296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buClrTx/>
              <a:buSzTx/>
              <a:buFontTx/>
            </a:pPr>
            <a:r>
              <a:rPr sz="4100">
                <a:sym typeface="+mn-ea"/>
              </a:rPr>
              <a:t>二、底层机制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35" y="1033145"/>
            <a:ext cx="9142730" cy="3154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Aft>
                <a:spcPct val="60000"/>
              </a:spcAft>
            </a:pPr>
            <a:r>
              <a:rPr lang="en-US" altLang="zh-CN" b="1" i="0">
                <a:solidFill>
                  <a:srgbClr val="000000"/>
                </a:solidFill>
              </a:rPr>
              <a:t>Framebuffer</a:t>
            </a:r>
            <a:r>
              <a:rPr lang="zh-CN" altLang="en-US" b="1" i="0">
                <a:solidFill>
                  <a:srgbClr val="000000"/>
                </a:solidFill>
              </a:rPr>
              <a:t>（</a:t>
            </a:r>
            <a:r>
              <a:rPr lang="en-US" altLang="zh-CN" b="1" i="0">
                <a:solidFill>
                  <a:srgbClr val="000000"/>
                </a:solidFill>
              </a:rPr>
              <a:t>fbdev</a:t>
            </a:r>
            <a:r>
              <a:rPr lang="zh-CN" altLang="en-US" b="1" i="0">
                <a:solidFill>
                  <a:srgbClr val="000000"/>
                </a:solidFill>
              </a:rPr>
              <a:t>）</a:t>
            </a:r>
          </a:p>
          <a:p>
            <a:pPr marL="0" indent="0">
              <a:lnSpc>
                <a:spcPct val="130000"/>
              </a:lnSpc>
              <a:spcAft>
                <a:spcPct val="60000"/>
              </a:spcAft>
            </a:pPr>
            <a:r>
              <a:rPr lang="zh-CN" altLang="en-US" b="1" i="0">
                <a:solidFill>
                  <a:srgbClr val="000000"/>
                </a:solidFill>
              </a:rPr>
              <a:t>📜 </a:t>
            </a:r>
            <a:r>
              <a:rPr lang="en-US" altLang="zh-CN" b="0" i="0">
                <a:solidFill>
                  <a:srgbClr val="000000"/>
                </a:solidFill>
              </a:rPr>
              <a:t>Framebuffer </a:t>
            </a:r>
            <a:r>
              <a:rPr lang="zh-CN" altLang="en-US" b="0" i="0">
                <a:solidFill>
                  <a:srgbClr val="000000"/>
                </a:solidFill>
              </a:rPr>
              <a:t>是最早的 </a:t>
            </a:r>
            <a:r>
              <a:rPr lang="en-US" altLang="zh-CN" b="0" i="0">
                <a:solidFill>
                  <a:srgbClr val="000000"/>
                </a:solidFill>
              </a:rPr>
              <a:t>Linux </a:t>
            </a:r>
            <a:r>
              <a:rPr lang="zh-CN" altLang="en-US" b="0" i="0">
                <a:solidFill>
                  <a:srgbClr val="000000"/>
                </a:solidFill>
              </a:rPr>
              <a:t>图形接口，它把显存（</a:t>
            </a:r>
            <a:r>
              <a:rPr lang="en-US" altLang="zh-CN" b="0" i="0">
                <a:solidFill>
                  <a:srgbClr val="000000"/>
                </a:solidFill>
              </a:rPr>
              <a:t>video RAM</a:t>
            </a:r>
            <a:r>
              <a:rPr lang="zh-CN" altLang="en-US" b="0" i="0">
                <a:solidFill>
                  <a:srgbClr val="000000"/>
                </a:solidFill>
              </a:rPr>
              <a:t>）映射为一个普通的内存缓冲区。</a:t>
            </a:r>
          </a:p>
          <a:p>
            <a:pPr indent="0" fontAlgn="auto">
              <a:spcBef>
                <a:spcPts val="1200"/>
              </a:spcBef>
              <a:spcAft>
                <a:spcPts val="1200"/>
              </a:spcAft>
            </a:pPr>
            <a:r>
              <a:rPr lang="zh-CN" altLang="en-US" b="1" i="0">
                <a:solidFill>
                  <a:srgbClr val="000000"/>
                </a:solidFill>
              </a:rPr>
              <a:t>⚙</a:t>
            </a:r>
            <a:r>
              <a:rPr lang="en-US" altLang="zh-CN" b="1" i="0">
                <a:solidFill>
                  <a:srgbClr val="000000"/>
                </a:solidFill>
              </a:rPr>
              <a:t>️ </a:t>
            </a:r>
            <a:r>
              <a:rPr lang="zh-CN" altLang="en-US" b="1" i="0">
                <a:solidFill>
                  <a:srgbClr val="000000"/>
                </a:solidFill>
              </a:rPr>
              <a:t>工作原理</a:t>
            </a:r>
            <a:r>
              <a:rPr lang="en-US" altLang="zh-CN" b="1" i="0">
                <a:solidFill>
                  <a:srgbClr val="000000"/>
                </a:solidFill>
              </a:rPr>
              <a:t>  </a:t>
            </a:r>
            <a:r>
              <a:rPr lang="zh-CN" altLang="en-US" b="0" i="0">
                <a:solidFill>
                  <a:srgbClr val="000000"/>
                </a:solidFill>
              </a:rPr>
              <a:t>应用程序（或驱动）通过</a:t>
            </a:r>
            <a:r>
              <a:rPr lang="en-US" altLang="zh-CN" b="0" i="0">
                <a:solidFill>
                  <a:srgbClr val="000000"/>
                </a:solidFill>
              </a:rPr>
              <a:t> /dev/fb0 </a:t>
            </a:r>
            <a:r>
              <a:rPr lang="zh-CN" altLang="en-US" b="0" i="0">
                <a:solidFill>
                  <a:srgbClr val="000000"/>
                </a:solidFill>
              </a:rPr>
              <a:t>这样的设备文件直接写像素：</a:t>
            </a:r>
          </a:p>
          <a:p>
            <a:pPr marL="457200" lvl="1" indent="0"/>
            <a:r>
              <a:rPr lang="en-US" altLang="zh-CN" b="0" i="0">
                <a:solidFill>
                  <a:srgbClr val="000000"/>
                </a:solidFill>
              </a:rPr>
              <a:t>int fb = open("/dev/fb0", O_RDWR);
write(fb, framebuffer_data, size);
</a:t>
            </a:r>
          </a:p>
          <a:p>
            <a:pPr marL="0" indent="0"/>
            <a:r>
              <a:rPr lang="zh-CN" altLang="en-US" b="0" i="0">
                <a:solidFill>
                  <a:srgbClr val="000000"/>
                </a:solidFill>
              </a:rPr>
              <a:t>系统会自动把这些像素传递到显示控制器，显示在屏幕上。</a:t>
            </a:r>
          </a:p>
        </p:txBody>
      </p:sp>
      <p:graphicFrame>
        <p:nvGraphicFramePr>
          <p:cNvPr id="12" name="表格 11"/>
          <p:cNvGraphicFramePr/>
          <p:nvPr>
            <p:custDataLst>
              <p:tags r:id="rId1"/>
            </p:custDataLst>
          </p:nvPr>
        </p:nvGraphicFramePr>
        <p:xfrm>
          <a:off x="241935" y="4659630"/>
          <a:ext cx="498602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6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优点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缺点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简单、易实现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仅支持单缓冲（画面闪烁）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不依赖 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无法利用硬件加速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适合嵌入式系统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不支持多屏/多显存/复合窗口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5650865" y="4679315"/>
            <a:ext cx="2976245" cy="153225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/>
              <a:t>常见文件</a:t>
            </a:r>
            <a:r>
              <a:rPr lang="en-US" altLang="zh-CN"/>
              <a:t>：</a:t>
            </a:r>
            <a:endParaRPr lang="zh-CN" altLang="en-US"/>
          </a:p>
          <a:p>
            <a:pPr>
              <a:lnSpc>
                <a:spcPct val="120000"/>
              </a:lnSpc>
            </a:pPr>
            <a:r>
              <a:rPr lang="zh-CN" altLang="en-US"/>
              <a:t>/dev/fb0</a:t>
            </a:r>
          </a:p>
          <a:p>
            <a:pPr>
              <a:lnSpc>
                <a:spcPct val="120000"/>
              </a:lnSpc>
            </a:pPr>
            <a:r>
              <a:rPr lang="zh-CN" altLang="en-US"/>
              <a:t>/sys/class/graphics/fb0/</a:t>
            </a:r>
          </a:p>
          <a:p>
            <a:pPr>
              <a:lnSpc>
                <a:spcPct val="120000"/>
              </a:lnSpc>
            </a:pPr>
            <a:r>
              <a:rPr lang="zh-CN" altLang="en-US"/>
              <a:t>/proc/fb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857"/>
            <a:ext cx="82296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buClrTx/>
              <a:buSzTx/>
              <a:buFontTx/>
            </a:pPr>
            <a:r>
              <a:rPr sz="4100">
                <a:sym typeface="+mn-ea"/>
              </a:rPr>
              <a:t>二、底层机制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00660" y="1140460"/>
            <a:ext cx="4827270" cy="5377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spcAft>
                <a:spcPct val="60000"/>
              </a:spcAft>
            </a:pPr>
            <a:r>
              <a:rPr lang="en-US" altLang="zh-CN" b="1" i="0">
                <a:solidFill>
                  <a:srgbClr val="000000"/>
                </a:solidFill>
              </a:rPr>
              <a:t>DRM</a:t>
            </a:r>
            <a:r>
              <a:rPr lang="zh-CN" altLang="en-US" b="1" i="0">
                <a:solidFill>
                  <a:srgbClr val="000000"/>
                </a:solidFill>
              </a:rPr>
              <a:t>（</a:t>
            </a:r>
            <a:r>
              <a:rPr lang="en-US" altLang="zh-CN" b="1" i="0">
                <a:solidFill>
                  <a:srgbClr val="000000"/>
                </a:solidFill>
              </a:rPr>
              <a:t>Direct Rendering Manager</a:t>
            </a:r>
            <a:r>
              <a:rPr lang="zh-CN" altLang="en-US" b="1" i="0">
                <a:solidFill>
                  <a:srgbClr val="000000"/>
                </a:solidFill>
              </a:rPr>
              <a:t>）</a:t>
            </a:r>
          </a:p>
          <a:p>
            <a:pPr marL="0" indent="0">
              <a:lnSpc>
                <a:spcPct val="120000"/>
              </a:lnSpc>
              <a:spcAft>
                <a:spcPct val="60000"/>
              </a:spcAft>
            </a:pPr>
            <a:r>
              <a:rPr lang="zh-CN" altLang="en-US" b="1" i="0">
                <a:solidFill>
                  <a:srgbClr val="000000"/>
                </a:solidFill>
              </a:rPr>
              <a:t>📜 定义</a:t>
            </a:r>
          </a:p>
          <a:p>
            <a:pPr marL="0" indent="0">
              <a:lnSpc>
                <a:spcPct val="120000"/>
              </a:lnSpc>
            </a:pPr>
            <a:r>
              <a:rPr lang="en-US" altLang="zh-CN" b="0" i="0">
                <a:solidFill>
                  <a:srgbClr val="000000"/>
                </a:solidFill>
              </a:rPr>
              <a:t>DRM </a:t>
            </a:r>
            <a:r>
              <a:rPr lang="zh-CN" altLang="en-US" b="0" i="0">
                <a:solidFill>
                  <a:srgbClr val="000000"/>
                </a:solidFill>
              </a:rPr>
              <a:t>是 </a:t>
            </a:r>
            <a:r>
              <a:rPr lang="en-US" altLang="zh-CN" b="0" i="0">
                <a:solidFill>
                  <a:srgbClr val="000000"/>
                </a:solidFill>
              </a:rPr>
              <a:t>Linux </a:t>
            </a:r>
            <a:r>
              <a:rPr lang="zh-CN" altLang="en-US" b="0" i="0">
                <a:solidFill>
                  <a:srgbClr val="000000"/>
                </a:solidFill>
              </a:rPr>
              <a:t>内核子系统，用来：</a:t>
            </a:r>
          </a:p>
          <a:p>
            <a:pPr marL="0" indent="0">
              <a:lnSpc>
                <a:spcPct val="120000"/>
              </a:lnSpc>
              <a:buFont typeface="Arial" panose="020B0604020202090204"/>
              <a:buChar char="•"/>
            </a:pPr>
            <a:r>
              <a:rPr lang="zh-CN" altLang="en-US" b="0" i="0">
                <a:solidFill>
                  <a:srgbClr val="000000"/>
                </a:solidFill>
              </a:rPr>
              <a:t>管理 </a:t>
            </a:r>
            <a:r>
              <a:rPr lang="en-US" altLang="zh-CN" b="0" i="0">
                <a:solidFill>
                  <a:srgbClr val="000000"/>
                </a:solidFill>
              </a:rPr>
              <a:t>GPU</a:t>
            </a:r>
            <a:r>
              <a:rPr lang="zh-CN" altLang="en-US" b="0" i="0">
                <a:solidFill>
                  <a:srgbClr val="000000"/>
                </a:solidFill>
              </a:rPr>
              <a:t>；</a:t>
            </a:r>
          </a:p>
          <a:p>
            <a:pPr marL="0" indent="0">
              <a:lnSpc>
                <a:spcPct val="120000"/>
              </a:lnSpc>
              <a:buFont typeface="Arial" panose="020B0604020202090204"/>
              <a:buChar char="•"/>
            </a:pPr>
            <a:r>
              <a:rPr lang="zh-CN" altLang="en-US" b="0" i="0">
                <a:solidFill>
                  <a:srgbClr val="000000"/>
                </a:solidFill>
              </a:rPr>
              <a:t>分配显存；</a:t>
            </a:r>
          </a:p>
          <a:p>
            <a:pPr marL="0" indent="0">
              <a:lnSpc>
                <a:spcPct val="120000"/>
              </a:lnSpc>
              <a:buFont typeface="Arial" panose="020B0604020202090204"/>
              <a:buChar char="•"/>
            </a:pPr>
            <a:r>
              <a:rPr lang="zh-CN" altLang="en-US" b="0" i="0">
                <a:solidFill>
                  <a:srgbClr val="000000"/>
                </a:solidFill>
              </a:rPr>
              <a:t>调度渲染任务；</a:t>
            </a:r>
          </a:p>
          <a:p>
            <a:pPr marL="0" indent="0">
              <a:lnSpc>
                <a:spcPct val="120000"/>
              </a:lnSpc>
              <a:buFont typeface="Arial" panose="020B0604020202090204"/>
              <a:buChar char="•"/>
            </a:pPr>
            <a:r>
              <a:rPr lang="zh-CN" altLang="en-US" b="0" i="0">
                <a:solidFill>
                  <a:srgbClr val="000000"/>
                </a:solidFill>
              </a:rPr>
              <a:t>管理渲染缓冲区。</a:t>
            </a:r>
          </a:p>
          <a:p>
            <a:pPr indent="0" fontAlgn="auto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</a:pPr>
            <a:r>
              <a:rPr lang="zh-CN" altLang="en-US" b="1" i="0">
                <a:solidFill>
                  <a:srgbClr val="000000"/>
                </a:solidFill>
              </a:rPr>
              <a:t>⚙</a:t>
            </a:r>
            <a:r>
              <a:rPr lang="en-US" altLang="zh-CN" b="1" i="0">
                <a:solidFill>
                  <a:srgbClr val="000000"/>
                </a:solidFill>
              </a:rPr>
              <a:t>️ </a:t>
            </a:r>
            <a:r>
              <a:rPr lang="zh-CN" altLang="en-US" b="1" i="0">
                <a:solidFill>
                  <a:srgbClr val="000000"/>
                </a:solidFill>
              </a:rPr>
              <a:t>关键机制</a:t>
            </a:r>
          </a:p>
          <a:p>
            <a:pPr marL="0" indent="0">
              <a:lnSpc>
                <a:spcPct val="120000"/>
              </a:lnSpc>
            </a:pPr>
            <a:r>
              <a:rPr lang="en-US" altLang="zh-CN" b="0" i="0">
                <a:solidFill>
                  <a:srgbClr val="000000"/>
                </a:solidFill>
              </a:rPr>
              <a:t>DRM </a:t>
            </a:r>
            <a:r>
              <a:rPr lang="zh-CN" altLang="en-US" b="0" i="0">
                <a:solidFill>
                  <a:srgbClr val="000000"/>
                </a:solidFill>
              </a:rPr>
              <a:t>驱动由厂商提供</a:t>
            </a:r>
          </a:p>
          <a:p>
            <a:pPr marL="0" indent="0">
              <a:lnSpc>
                <a:spcPct val="120000"/>
              </a:lnSpc>
            </a:pPr>
            <a:r>
              <a:rPr lang="zh-CN" altLang="en-US" b="0" i="0">
                <a:solidFill>
                  <a:srgbClr val="000000"/>
                </a:solidFill>
              </a:rPr>
              <a:t>（如</a:t>
            </a:r>
            <a:r>
              <a:rPr lang="en-US" altLang="zh-CN" b="0" i="0">
                <a:solidFill>
                  <a:srgbClr val="000000"/>
                </a:solidFill>
              </a:rPr>
              <a:t> i915, amdgpu, nouveau, virtio_gpu </a:t>
            </a:r>
            <a:r>
              <a:rPr lang="zh-CN" altLang="en-US" b="0" i="0">
                <a:solidFill>
                  <a:srgbClr val="000000"/>
                </a:solidFill>
              </a:rPr>
              <a:t>等），主要提供：</a:t>
            </a:r>
          </a:p>
          <a:p>
            <a:pPr marL="0" indent="0">
              <a:lnSpc>
                <a:spcPct val="120000"/>
              </a:lnSpc>
              <a:buFont typeface="Arial" panose="020B0604020202090204"/>
              <a:buChar char="•"/>
            </a:pPr>
            <a:r>
              <a:rPr lang="en-US" altLang="zh-CN" b="0" i="0">
                <a:solidFill>
                  <a:srgbClr val="000000"/>
                </a:solidFill>
              </a:rPr>
              <a:t>/dev/dri/card0</a:t>
            </a:r>
            <a:r>
              <a:rPr lang="zh-CN" altLang="en-US" b="0" i="0">
                <a:solidFill>
                  <a:srgbClr val="000000"/>
                </a:solidFill>
              </a:rPr>
              <a:t>（主</a:t>
            </a:r>
            <a:r>
              <a:rPr lang="en-US" altLang="zh-CN" b="0" i="0">
                <a:solidFill>
                  <a:srgbClr val="000000"/>
                </a:solidFill>
              </a:rPr>
              <a:t>GPU</a:t>
            </a:r>
            <a:r>
              <a:rPr lang="zh-CN" altLang="en-US" b="0" i="0">
                <a:solidFill>
                  <a:srgbClr val="000000"/>
                </a:solidFill>
              </a:rPr>
              <a:t>接口）</a:t>
            </a:r>
          </a:p>
          <a:p>
            <a:pPr marL="0" indent="0">
              <a:lnSpc>
                <a:spcPct val="120000"/>
              </a:lnSpc>
              <a:buFont typeface="Arial" panose="020B0604020202090204"/>
              <a:buChar char="•"/>
            </a:pPr>
            <a:r>
              <a:rPr lang="en-US" altLang="zh-CN" b="0" i="0">
                <a:solidFill>
                  <a:srgbClr val="000000"/>
                </a:solidFill>
              </a:rPr>
              <a:t>/dev/dri/renderD128</a:t>
            </a:r>
            <a:r>
              <a:rPr lang="zh-CN" altLang="en-US" b="0" i="0">
                <a:solidFill>
                  <a:srgbClr val="000000"/>
                </a:solidFill>
              </a:rPr>
              <a:t>（渲染接口，无显示权限）</a:t>
            </a:r>
          </a:p>
          <a:p>
            <a:pPr marL="0" indent="0">
              <a:lnSpc>
                <a:spcPct val="120000"/>
              </a:lnSpc>
            </a:pPr>
            <a:r>
              <a:rPr lang="zh-CN" altLang="en-US" b="0" i="0">
                <a:solidFill>
                  <a:srgbClr val="000000"/>
                </a:solidFill>
              </a:rPr>
              <a:t>应用通过</a:t>
            </a:r>
            <a:r>
              <a:rPr lang="en-US" altLang="zh-CN" b="0" i="0">
                <a:solidFill>
                  <a:srgbClr val="000000"/>
                </a:solidFill>
              </a:rPr>
              <a:t> Mesa + libdrm </a:t>
            </a:r>
            <a:r>
              <a:rPr lang="zh-CN" altLang="en-US" b="0" i="0">
                <a:solidFill>
                  <a:srgbClr val="000000"/>
                </a:solidFill>
              </a:rPr>
              <a:t>与内核交</a:t>
            </a: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884930" y="2136140"/>
          <a:ext cx="5049520" cy="1888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模式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2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User Mode Setting (UMS)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用户空间（如 Xorg）控制分辨率与输出模式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2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Kernel Mode Setting (KMS)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由内核统一管理显示模式（现代系统默认）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3854450" y="1544638"/>
            <a:ext cx="5080000" cy="38354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/>
            <a:r>
              <a:rPr lang="zh-CN" altLang="en-US" sz="1900" b="1" i="0">
                <a:solidFill>
                  <a:srgbClr val="000000"/>
                </a:solidFill>
                <a:latin typeface="-webkit-standard"/>
                <a:ea typeface="-webkit-standard"/>
              </a:rPr>
              <a:t>🔧 </a:t>
            </a:r>
            <a:r>
              <a:rPr lang="en-US" altLang="zh-CN" sz="1900" b="1" i="0">
                <a:solidFill>
                  <a:srgbClr val="000000"/>
                </a:solidFill>
                <a:latin typeface="-webkit-standard"/>
                <a:ea typeface="-webkit-standard"/>
              </a:rPr>
              <a:t>DRM </a:t>
            </a:r>
            <a:r>
              <a:rPr lang="zh-CN" altLang="en-US" sz="1900" b="1" i="0">
                <a:solidFill>
                  <a:srgbClr val="000000"/>
                </a:solidFill>
                <a:latin typeface="-webkit-standard"/>
                <a:ea typeface="-webkit-standard"/>
              </a:rPr>
              <a:t>的两种模式：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587240" y="4109085"/>
            <a:ext cx="4347210" cy="13512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>
              <a:lnSpc>
                <a:spcPct val="130000"/>
              </a:lnSpc>
            </a:pPr>
            <a:r>
              <a:rPr lang="en-US" altLang="zh-CN" sz="2100" b="0" i="0">
                <a:solidFill>
                  <a:srgbClr val="000000"/>
                </a:solidFill>
                <a:latin typeface="-webkit-standard"/>
                <a:ea typeface="-webkit-standard"/>
              </a:rPr>
              <a:t>DRM </a:t>
            </a:r>
            <a:r>
              <a:rPr lang="zh-CN" altLang="en-US" sz="2100" b="0" i="0">
                <a:solidFill>
                  <a:srgbClr val="000000"/>
                </a:solidFill>
                <a:latin typeface="-webkit-standard"/>
                <a:ea typeface="-webkit-standard"/>
              </a:rPr>
              <a:t>负责 </a:t>
            </a:r>
            <a:r>
              <a:rPr lang="en-US" altLang="zh-CN" sz="2100" b="0" i="0">
                <a:solidFill>
                  <a:srgbClr val="000000"/>
                </a:solidFill>
                <a:latin typeface="-webkit-standard"/>
                <a:ea typeface="-webkit-standard"/>
              </a:rPr>
              <a:t>GPU </a:t>
            </a:r>
            <a:r>
              <a:rPr lang="zh-CN" altLang="en-US" sz="2100" b="0" i="0">
                <a:solidFill>
                  <a:srgbClr val="000000"/>
                </a:solidFill>
                <a:latin typeface="-webkit-standard"/>
                <a:ea typeface="-webkit-standard"/>
              </a:rPr>
              <a:t>与显存的资源管理，</a:t>
            </a:r>
          </a:p>
          <a:p>
            <a:pPr marL="0" indent="0">
              <a:lnSpc>
                <a:spcPct val="130000"/>
              </a:lnSpc>
            </a:pPr>
            <a:r>
              <a:rPr lang="en-US" altLang="zh-CN" sz="2100" b="0" i="0">
                <a:solidFill>
                  <a:srgbClr val="000000"/>
                </a:solidFill>
                <a:latin typeface="-webkit-standard"/>
                <a:ea typeface="-webkit-standard"/>
              </a:rPr>
              <a:t>KMS </a:t>
            </a:r>
            <a:r>
              <a:rPr lang="zh-CN" altLang="en-US" sz="2100" b="0" i="0">
                <a:solidFill>
                  <a:srgbClr val="000000"/>
                </a:solidFill>
                <a:latin typeface="-webkit-standard"/>
                <a:ea typeface="-webkit-standard"/>
              </a:rPr>
              <a:t>则是 </a:t>
            </a:r>
            <a:r>
              <a:rPr lang="en-US" altLang="zh-CN" sz="2100" b="0" i="0">
                <a:solidFill>
                  <a:srgbClr val="000000"/>
                </a:solidFill>
                <a:latin typeface="-webkit-standard"/>
                <a:ea typeface="-webkit-standard"/>
              </a:rPr>
              <a:t>DRM </a:t>
            </a:r>
            <a:r>
              <a:rPr lang="zh-CN" altLang="en-US" sz="2100" b="0" i="0">
                <a:solidFill>
                  <a:srgbClr val="000000"/>
                </a:solidFill>
                <a:latin typeface="-webkit-standard"/>
                <a:ea typeface="-webkit-standard"/>
              </a:rPr>
              <a:t>的一个子模块，专管显示输出。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660" y="-2857"/>
            <a:ext cx="82296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sz="4100">
                <a:sym typeface="+mn-ea"/>
              </a:rPr>
              <a:t>二、底层机制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50495" y="861060"/>
            <a:ext cx="4587240" cy="2778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spcAft>
                <a:spcPct val="60000"/>
              </a:spcAft>
            </a:pPr>
            <a:r>
              <a:rPr lang="en-US" altLang="zh-CN" sz="2000" b="1" i="0">
                <a:solidFill>
                  <a:srgbClr val="000000"/>
                </a:solidFill>
              </a:rPr>
              <a:t>KMS</a:t>
            </a:r>
            <a:r>
              <a:rPr lang="zh-CN" altLang="en-US" sz="2000" b="1" i="0">
                <a:solidFill>
                  <a:srgbClr val="000000"/>
                </a:solidFill>
              </a:rPr>
              <a:t>（</a:t>
            </a:r>
            <a:r>
              <a:rPr lang="en-US" altLang="zh-CN" sz="2000" b="1" i="0">
                <a:solidFill>
                  <a:srgbClr val="000000"/>
                </a:solidFill>
              </a:rPr>
              <a:t>Kernel Mode Setting</a:t>
            </a:r>
            <a:r>
              <a:rPr lang="zh-CN" altLang="en-US" sz="2000" b="1" i="0">
                <a:solidFill>
                  <a:srgbClr val="000000"/>
                </a:solidFill>
              </a:rPr>
              <a:t>）</a:t>
            </a:r>
          </a:p>
          <a:p>
            <a:pPr indent="0" fontAlgn="auto">
              <a:lnSpc>
                <a:spcPct val="100000"/>
              </a:lnSpc>
              <a:spcAft>
                <a:spcPts val="0"/>
              </a:spcAft>
            </a:pPr>
            <a:r>
              <a:rPr lang="zh-CN" altLang="en-US" sz="2000" b="1" i="0">
                <a:solidFill>
                  <a:srgbClr val="000000"/>
                </a:solidFill>
              </a:rPr>
              <a:t>📜 定义</a:t>
            </a:r>
            <a:r>
              <a:rPr lang="en-US" altLang="zh-CN" sz="2000" b="1" i="0">
                <a:solidFill>
                  <a:srgbClr val="000000"/>
                </a:solidFill>
              </a:rPr>
              <a:t>   </a:t>
            </a:r>
            <a:r>
              <a:rPr lang="en-US" altLang="zh-CN" sz="2000" b="0" i="0">
                <a:solidFill>
                  <a:srgbClr val="000000"/>
                </a:solidFill>
              </a:rPr>
              <a:t>KMS </a:t>
            </a:r>
            <a:r>
              <a:rPr lang="zh-CN" altLang="en-US" sz="2000" b="0" i="0">
                <a:solidFill>
                  <a:srgbClr val="000000"/>
                </a:solidFill>
              </a:rPr>
              <a:t>是</a:t>
            </a:r>
            <a:r>
              <a:rPr lang="en-US" altLang="zh-CN" sz="2000" b="0" i="0">
                <a:solidFill>
                  <a:srgbClr val="000000"/>
                </a:solidFill>
              </a:rPr>
              <a:t> DRM </a:t>
            </a:r>
            <a:r>
              <a:rPr lang="zh-CN" altLang="en-US" sz="2000" b="0" i="0">
                <a:solidFill>
                  <a:srgbClr val="000000"/>
                </a:solidFill>
              </a:rPr>
              <a:t>子系统的一部分，</a:t>
            </a:r>
          </a:p>
          <a:p>
            <a:pPr indent="0" fontAlgn="auto">
              <a:lnSpc>
                <a:spcPct val="100000"/>
              </a:lnSpc>
              <a:spcAft>
                <a:spcPts val="0"/>
              </a:spcAft>
            </a:pPr>
            <a:r>
              <a:rPr lang="zh-CN" altLang="en-US" sz="2000" b="0" i="0">
                <a:solidFill>
                  <a:srgbClr val="000000"/>
                </a:solidFill>
              </a:rPr>
              <a:t>主要负责显示输出的配置：</a:t>
            </a:r>
          </a:p>
          <a:p>
            <a:pPr marL="0" indent="0">
              <a:lnSpc>
                <a:spcPct val="120000"/>
              </a:lnSpc>
              <a:buFont typeface="Arial" panose="020B0604020202090204"/>
              <a:buChar char="•"/>
            </a:pPr>
            <a:r>
              <a:rPr lang="zh-CN" altLang="en-US" sz="2000" b="0" i="0">
                <a:solidFill>
                  <a:srgbClr val="000000"/>
                </a:solidFill>
              </a:rPr>
              <a:t>分辨率（</a:t>
            </a:r>
            <a:r>
              <a:rPr lang="en-US" altLang="zh-CN" sz="2000" b="0" i="0">
                <a:solidFill>
                  <a:srgbClr val="000000"/>
                </a:solidFill>
              </a:rPr>
              <a:t>Resolution</a:t>
            </a:r>
            <a:r>
              <a:rPr lang="zh-CN" altLang="en-US" sz="2000" b="0" i="0">
                <a:solidFill>
                  <a:srgbClr val="000000"/>
                </a:solidFill>
              </a:rPr>
              <a:t>）</a:t>
            </a:r>
          </a:p>
          <a:p>
            <a:pPr marL="0" indent="0">
              <a:lnSpc>
                <a:spcPct val="120000"/>
              </a:lnSpc>
              <a:buFont typeface="Arial" panose="020B0604020202090204"/>
              <a:buChar char="•"/>
            </a:pPr>
            <a:r>
              <a:rPr lang="zh-CN" altLang="en-US" sz="2000" b="0" i="0">
                <a:solidFill>
                  <a:srgbClr val="000000"/>
                </a:solidFill>
              </a:rPr>
              <a:t>刷新率（</a:t>
            </a:r>
            <a:r>
              <a:rPr lang="en-US" altLang="zh-CN" sz="2000" b="0" i="0">
                <a:solidFill>
                  <a:srgbClr val="000000"/>
                </a:solidFill>
              </a:rPr>
              <a:t>Refresh Rate</a:t>
            </a:r>
            <a:r>
              <a:rPr lang="zh-CN" altLang="en-US" sz="2000" b="0" i="0">
                <a:solidFill>
                  <a:srgbClr val="000000"/>
                </a:solidFill>
              </a:rPr>
              <a:t>）</a:t>
            </a:r>
          </a:p>
          <a:p>
            <a:pPr marL="0" indent="0">
              <a:lnSpc>
                <a:spcPct val="120000"/>
              </a:lnSpc>
              <a:buFont typeface="Arial" panose="020B0604020202090204"/>
              <a:buChar char="•"/>
            </a:pPr>
            <a:r>
              <a:rPr lang="zh-CN" altLang="en-US" sz="2000" b="0" i="0">
                <a:solidFill>
                  <a:srgbClr val="000000"/>
                </a:solidFill>
              </a:rPr>
              <a:t>输出接口（</a:t>
            </a:r>
            <a:r>
              <a:rPr lang="en-US" altLang="zh-CN" sz="2000" b="0" i="0">
                <a:solidFill>
                  <a:srgbClr val="000000"/>
                </a:solidFill>
              </a:rPr>
              <a:t>HDMI, eDP, DP, VGA</a:t>
            </a:r>
            <a:r>
              <a:rPr lang="zh-CN" altLang="en-US" sz="2000" b="0" i="0">
                <a:solidFill>
                  <a:srgbClr val="000000"/>
                </a:solidFill>
              </a:rPr>
              <a:t>）</a:t>
            </a:r>
          </a:p>
          <a:p>
            <a:pPr marL="0" indent="0">
              <a:lnSpc>
                <a:spcPct val="120000"/>
              </a:lnSpc>
              <a:buFont typeface="Arial" panose="020B0604020202090204"/>
              <a:buChar char="•"/>
            </a:pPr>
            <a:r>
              <a:rPr lang="zh-CN" altLang="en-US" sz="2000" b="0" i="0">
                <a:solidFill>
                  <a:srgbClr val="000000"/>
                </a:solidFill>
              </a:rPr>
              <a:t>帧缓冲绑定（</a:t>
            </a:r>
            <a:r>
              <a:rPr lang="en-US" altLang="zh-CN" sz="2000" b="0" i="0">
                <a:solidFill>
                  <a:srgbClr val="000000"/>
                </a:solidFill>
              </a:rPr>
              <a:t>Framebuffer binding</a:t>
            </a:r>
            <a:r>
              <a:rPr lang="zh-CN" altLang="en-US" sz="2000" b="0" i="0">
                <a:solidFill>
                  <a:srgbClr val="000000"/>
                </a:solidFill>
              </a:rPr>
              <a:t>）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50495" y="6036945"/>
            <a:ext cx="539623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Aft>
                <a:spcPct val="60000"/>
              </a:spcAft>
            </a:pPr>
            <a:r>
              <a:rPr lang="zh-CN" altLang="en-US" sz="2000" b="1" i="0">
                <a:solidFill>
                  <a:srgbClr val="000000"/>
                </a:solidFill>
              </a:rPr>
              <a:t>⚙</a:t>
            </a:r>
            <a:r>
              <a:rPr lang="en-US" altLang="zh-CN" sz="2000" b="1" i="0">
                <a:solidFill>
                  <a:srgbClr val="000000"/>
                </a:solidFill>
              </a:rPr>
              <a:t>️ </a:t>
            </a:r>
            <a:r>
              <a:rPr lang="zh-CN" altLang="en-US" sz="2000" b="1" i="0">
                <a:solidFill>
                  <a:srgbClr val="000000"/>
                </a:solidFill>
              </a:rPr>
              <a:t>原理</a:t>
            </a:r>
            <a:r>
              <a:rPr lang="en-US" altLang="zh-CN" sz="2000" b="1" i="0">
                <a:solidFill>
                  <a:srgbClr val="000000"/>
                </a:solidFill>
              </a:rPr>
              <a:t> : </a:t>
            </a:r>
            <a:r>
              <a:rPr lang="zh-CN" altLang="en-US" sz="1700" b="0" i="0">
                <a:solidFill>
                  <a:srgbClr val="000000"/>
                </a:solidFill>
              </a:rPr>
              <a:t>应用或显示服务器通过</a:t>
            </a:r>
            <a:r>
              <a:rPr lang="en-US" altLang="zh-CN" sz="1700" b="0" i="0">
                <a:solidFill>
                  <a:srgbClr val="000000"/>
                </a:solidFill>
              </a:rPr>
              <a:t> </a:t>
            </a:r>
            <a:r>
              <a:rPr lang="en-US" altLang="zh-CN" sz="1700" b="1" i="0">
                <a:solidFill>
                  <a:srgbClr val="000000"/>
                </a:solidFill>
                <a:latin typeface="Calibri Bold" panose="020F0702030404030204" charset="0"/>
                <a:cs typeface="Calibri Bold" panose="020F0702030404030204" charset="0"/>
              </a:rPr>
              <a:t>ioctl() </a:t>
            </a:r>
            <a:r>
              <a:rPr lang="zh-CN" altLang="en-US" sz="1700" b="0" i="0">
                <a:solidFill>
                  <a:srgbClr val="000000"/>
                </a:solidFill>
              </a:rPr>
              <a:t>调用 </a:t>
            </a:r>
            <a:r>
              <a:rPr lang="en-US" altLang="zh-CN" sz="1700" b="0" i="0">
                <a:solidFill>
                  <a:srgbClr val="000000"/>
                </a:solidFill>
              </a:rPr>
              <a:t>DRM </a:t>
            </a:r>
            <a:r>
              <a:rPr lang="zh-CN" altLang="en-US" sz="1700" b="0" i="0">
                <a:solidFill>
                  <a:srgbClr val="000000"/>
                </a:solidFill>
              </a:rPr>
              <a:t>接口：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80035" y="6435725"/>
            <a:ext cx="7179945" cy="3524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700"/>
              <a:t>drmModeSetCrtc(drm_fd, crtc_id, fb_id, x, y, connectors, 1, mode);</a:t>
            </a:r>
          </a:p>
        </p:txBody>
      </p: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150495" y="3639820"/>
          <a:ext cx="528701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7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2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Framebuffer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KMS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控制者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用户态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内核态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分辨率设置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通过 IOCTL 修改寄存器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由内核统一调度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多显示器支持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有（多个 CRTC + Connector）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性能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快（与GPU协作）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5737225" y="1178560"/>
            <a:ext cx="3291840" cy="452310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zh-CN" altLang="en-US"/>
              <a:t>用户空间：</a:t>
            </a:r>
          </a:p>
          <a:p>
            <a:r>
              <a:rPr lang="zh-CN" altLang="en-US"/>
              <a:t>+--------------</a:t>
            </a:r>
            <a:r>
              <a:rPr lang="en-US" altLang="zh-CN"/>
              <a:t>----------</a:t>
            </a:r>
            <a:r>
              <a:rPr lang="zh-CN" altLang="en-US"/>
              <a:t>------------+</a:t>
            </a:r>
          </a:p>
          <a:p>
            <a:r>
              <a:rPr lang="zh-CN" altLang="en-US"/>
              <a:t>| Xorg / Wayland / OpenGL  |</a:t>
            </a:r>
          </a:p>
          <a:p>
            <a:r>
              <a:rPr lang="zh-CN" altLang="en-US"/>
              <a:t>+------------------------</a:t>
            </a:r>
            <a:r>
              <a:rPr lang="en-US" altLang="zh-CN"/>
              <a:t>----------</a:t>
            </a:r>
            <a:r>
              <a:rPr lang="zh-CN" altLang="en-US"/>
              <a:t>--+</a:t>
            </a:r>
          </a:p>
          <a:p>
            <a:r>
              <a:rPr lang="zh-CN" altLang="en-US"/>
              <a:t>        ↓</a:t>
            </a:r>
          </a:p>
          <a:p>
            <a:r>
              <a:rPr lang="zh-CN" altLang="en-US"/>
              <a:t>内核空间：</a:t>
            </a:r>
          </a:p>
          <a:p>
            <a:r>
              <a:rPr lang="zh-CN" altLang="en-US"/>
              <a:t>+--------------------------</a:t>
            </a:r>
            <a:r>
              <a:rPr lang="en-US" altLang="zh-CN"/>
              <a:t>------------</a:t>
            </a:r>
            <a:r>
              <a:rPr lang="zh-CN" altLang="en-US"/>
              <a:t>+</a:t>
            </a:r>
          </a:p>
          <a:p>
            <a:r>
              <a:rPr lang="zh-CN" altLang="en-US"/>
              <a:t>| DRM — GPU资源管理        </a:t>
            </a:r>
            <a:r>
              <a:rPr lang="en-US" altLang="zh-CN"/>
              <a:t>  </a:t>
            </a:r>
            <a:r>
              <a:rPr lang="zh-CN" altLang="en-US"/>
              <a:t>|</a:t>
            </a:r>
          </a:p>
          <a:p>
            <a:r>
              <a:rPr lang="zh-CN" altLang="en-US"/>
              <a:t>|   ├── GEM/TTM内存分配    |</a:t>
            </a:r>
          </a:p>
          <a:p>
            <a:r>
              <a:rPr lang="zh-CN" altLang="en-US"/>
              <a:t>|   └── KMS显示配置        </a:t>
            </a:r>
            <a:r>
              <a:rPr lang="en-US" altLang="zh-CN"/>
              <a:t>       </a:t>
            </a:r>
            <a:r>
              <a:rPr lang="zh-CN" altLang="en-US"/>
              <a:t>|</a:t>
            </a:r>
          </a:p>
          <a:p>
            <a:r>
              <a:rPr lang="zh-CN" altLang="en-US"/>
              <a:t>+-------------------------</a:t>
            </a:r>
            <a:r>
              <a:rPr lang="en-US" altLang="zh-CN"/>
              <a:t>------------</a:t>
            </a:r>
            <a:r>
              <a:rPr lang="zh-CN" altLang="en-US"/>
              <a:t>-+</a:t>
            </a:r>
          </a:p>
          <a:p>
            <a:r>
              <a:rPr lang="zh-CN" altLang="en-US"/>
              <a:t>        ↓</a:t>
            </a:r>
          </a:p>
          <a:p>
            <a:r>
              <a:rPr lang="zh-CN" altLang="en-US"/>
              <a:t>硬件层：</a:t>
            </a:r>
          </a:p>
          <a:p>
            <a:r>
              <a:rPr lang="zh-CN" altLang="en-US"/>
              <a:t>+-------------------------</a:t>
            </a:r>
            <a:r>
              <a:rPr lang="en-US" altLang="zh-CN"/>
              <a:t>---------------</a:t>
            </a:r>
            <a:r>
              <a:rPr lang="zh-CN" altLang="en-US"/>
              <a:t>-+</a:t>
            </a:r>
          </a:p>
          <a:p>
            <a:r>
              <a:rPr lang="zh-CN" altLang="en-US"/>
              <a:t>| GPU + 显示控制器 + 显示器 </a:t>
            </a:r>
            <a:r>
              <a:rPr lang="en-US" altLang="zh-CN"/>
              <a:t>  </a:t>
            </a:r>
            <a:r>
              <a:rPr lang="zh-CN" altLang="en-US"/>
              <a:t>|</a:t>
            </a:r>
          </a:p>
          <a:p>
            <a:r>
              <a:rPr lang="zh-CN" altLang="en-US"/>
              <a:t>+------------------------</a:t>
            </a:r>
            <a:r>
              <a:rPr lang="en-US" altLang="zh-CN"/>
              <a:t>--------------</a:t>
            </a:r>
            <a:r>
              <a:rPr lang="zh-CN" altLang="en-US"/>
              <a:t>--</a:t>
            </a:r>
            <a:r>
              <a:rPr lang="en-US" altLang="zh-CN"/>
              <a:t>-</a:t>
            </a:r>
            <a:r>
              <a:rPr lang="zh-CN" altLang="en-US"/>
              <a:t>+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ctr">
              <a:buClrTx/>
              <a:buSzTx/>
              <a:buFontTx/>
            </a:pPr>
            <a:r>
              <a:rPr sz="4100">
                <a:sym typeface="+mn-ea"/>
              </a:rPr>
              <a:t>三、显示服务器层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t>1. X Window System（X11协议）</a:t>
            </a:r>
          </a:p>
          <a:p>
            <a:pPr marL="0" indent="0">
              <a:buNone/>
            </a:pPr>
            <a:r>
              <a:t>   - Client-Server架构，网络透明性高</a:t>
            </a:r>
          </a:p>
          <a:p>
            <a:pPr marL="0" indent="0">
              <a:buNone/>
            </a:pPr>
            <a:r>
              <a:t>   - 缺点：延迟高，渲染效率低</a:t>
            </a:r>
          </a:p>
          <a:p>
            <a:pPr marL="0" indent="0" fontAlgn="auto">
              <a:spcBef>
                <a:spcPts val="1200"/>
              </a:spcBef>
              <a:buNone/>
            </a:pPr>
            <a:r>
              <a:t>2. Wayland（现代替代方案）</a:t>
            </a:r>
          </a:p>
          <a:p>
            <a:pPr marL="0" indent="0">
              <a:buNone/>
            </a:pPr>
            <a:r>
              <a:t>   - 简化架构，减少中间通信</a:t>
            </a:r>
          </a:p>
          <a:p>
            <a:pPr marL="0" indent="0">
              <a:buNone/>
            </a:pPr>
            <a:r>
              <a:t>   - 合成器（Compositor）直接负责绘制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22630" y="5336540"/>
            <a:ext cx="6710045" cy="8915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/>
            <a:r>
              <a:rPr lang="zh-CN" altLang="en-US" sz="2600" b="0" i="0">
                <a:solidFill>
                  <a:srgbClr val="000000"/>
                </a:solidFill>
                <a:latin typeface="-webkit-standard"/>
                <a:ea typeface="-webkit-standard"/>
              </a:rPr>
              <a:t>🪟</a:t>
            </a:r>
            <a:r>
              <a:rPr lang="en-US" altLang="zh-CN" sz="2600" b="0" i="0">
                <a:solidFill>
                  <a:srgbClr val="000000"/>
                </a:solidFill>
                <a:latin typeface="-webkit-standard"/>
                <a:ea typeface="-webkit-standard"/>
              </a:rPr>
              <a:t> </a:t>
            </a:r>
            <a:r>
              <a:rPr lang="en-US" altLang="zh-CN" sz="1600" i="0">
                <a:solidFill>
                  <a:srgbClr val="000000"/>
                </a:solidFill>
              </a:rPr>
              <a:t>X11 </a:t>
            </a:r>
            <a:r>
              <a:rPr lang="zh-CN" altLang="en-US" sz="1600" i="0">
                <a:solidFill>
                  <a:srgbClr val="000000"/>
                </a:solidFill>
              </a:rPr>
              <a:t>是“</a:t>
            </a:r>
            <a:r>
              <a:rPr lang="en-US" altLang="zh-CN" sz="1600" i="0">
                <a:solidFill>
                  <a:srgbClr val="000000"/>
                </a:solidFill>
              </a:rPr>
              <a:t>1980</a:t>
            </a:r>
            <a:r>
              <a:rPr lang="zh-CN" altLang="en-US" sz="1600" i="0">
                <a:solidFill>
                  <a:srgbClr val="000000"/>
                </a:solidFill>
              </a:rPr>
              <a:t>年代的网络终端图形系统”，</a:t>
            </a:r>
          </a:p>
          <a:p>
            <a:pPr marL="0" indent="0"/>
            <a:r>
              <a:rPr lang="zh-CN" altLang="en-US" sz="2600" b="0" i="0">
                <a:solidFill>
                  <a:srgbClr val="000000"/>
                </a:solidFill>
                <a:latin typeface="-webkit-standard"/>
                <a:ea typeface="-webkit-standard"/>
              </a:rPr>
              <a:t>🌀</a:t>
            </a:r>
            <a:r>
              <a:rPr lang="en-US" altLang="zh-CN" sz="2600" b="0" i="0">
                <a:solidFill>
                  <a:srgbClr val="000000"/>
                </a:solidFill>
                <a:latin typeface="-webkit-standard"/>
                <a:ea typeface="-webkit-standard"/>
              </a:rPr>
              <a:t> </a:t>
            </a:r>
            <a:r>
              <a:rPr lang="en-US" altLang="zh-CN" sz="1600" i="0">
                <a:solidFill>
                  <a:srgbClr val="000000"/>
                </a:solidFill>
              </a:rPr>
              <a:t>Wayland </a:t>
            </a:r>
            <a:r>
              <a:rPr lang="zh-CN" altLang="en-US" sz="1600" i="0">
                <a:solidFill>
                  <a:srgbClr val="000000"/>
                </a:solidFill>
              </a:rPr>
              <a:t>是“现代</a:t>
            </a:r>
            <a:r>
              <a:rPr lang="en-US" altLang="zh-CN" sz="1600" i="0">
                <a:solidFill>
                  <a:srgbClr val="000000"/>
                </a:solidFill>
              </a:rPr>
              <a:t>GPU</a:t>
            </a:r>
            <a:r>
              <a:rPr lang="zh-CN" altLang="en-US" sz="1600" i="0">
                <a:solidFill>
                  <a:srgbClr val="000000"/>
                </a:solidFill>
              </a:rPr>
              <a:t>驱动的显示协议”，更快、更安全、更简洁。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06997"/>
            <a:ext cx="82296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buClrTx/>
              <a:buSzTx/>
              <a:buFontTx/>
            </a:pPr>
            <a:r>
              <a:rPr sz="4100">
                <a:sym typeface="+mn-ea"/>
              </a:rPr>
              <a:t>X11 vs Wayland 对比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830" y="2221230"/>
            <a:ext cx="8229600" cy="4525963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3100"/>
              <a:t>对比项 </a:t>
            </a:r>
            <a:r>
              <a:rPr lang="en-US" sz="3100"/>
              <a:t>			</a:t>
            </a:r>
            <a:r>
              <a:rPr sz="3100"/>
              <a:t>| X11 </a:t>
            </a:r>
            <a:r>
              <a:rPr lang="en-US" sz="3100"/>
              <a:t>			</a:t>
            </a:r>
            <a:r>
              <a:rPr sz="3100"/>
              <a:t>| Wayland</a:t>
            </a:r>
          </a:p>
          <a:p>
            <a:pPr marL="0" indent="0">
              <a:buNone/>
            </a:pPr>
            <a:r>
              <a:rPr sz="3100"/>
              <a:t>--</a:t>
            </a:r>
            <a:r>
              <a:rPr lang="en-US" sz="3100"/>
              <a:t>-</a:t>
            </a:r>
            <a:r>
              <a:rPr sz="3100"/>
              <a:t>-----</a:t>
            </a:r>
            <a:r>
              <a:rPr lang="en-US" sz="3100"/>
              <a:t>-----------</a:t>
            </a:r>
            <a:r>
              <a:rPr sz="3100"/>
              <a:t>|-</a:t>
            </a:r>
            <a:r>
              <a:rPr lang="en-US" sz="3100"/>
              <a:t>------------</a:t>
            </a:r>
            <a:r>
              <a:rPr sz="3100"/>
              <a:t>-----|---------</a:t>
            </a:r>
          </a:p>
          <a:p>
            <a:pPr marL="0" indent="0">
              <a:buNone/>
            </a:pPr>
            <a:r>
              <a:rPr sz="3100"/>
              <a:t>架构复杂度 </a:t>
            </a:r>
            <a:r>
              <a:rPr lang="en-US" sz="3100"/>
              <a:t>	</a:t>
            </a:r>
            <a:r>
              <a:rPr sz="3100"/>
              <a:t>| 高 </a:t>
            </a:r>
            <a:r>
              <a:rPr lang="en-US" sz="3100"/>
              <a:t>				</a:t>
            </a:r>
            <a:r>
              <a:rPr sz="3100"/>
              <a:t>| 低</a:t>
            </a:r>
          </a:p>
          <a:p>
            <a:pPr marL="0" indent="0">
              <a:buNone/>
            </a:pPr>
            <a:r>
              <a:rPr sz="3100"/>
              <a:t>延迟 </a:t>
            </a:r>
            <a:r>
              <a:rPr lang="en-US" sz="3100"/>
              <a:t>				</a:t>
            </a:r>
            <a:r>
              <a:rPr sz="3100"/>
              <a:t>| 高 </a:t>
            </a:r>
            <a:r>
              <a:rPr lang="en-US" sz="3100"/>
              <a:t>				</a:t>
            </a:r>
            <a:r>
              <a:rPr sz="3100"/>
              <a:t>| 低</a:t>
            </a:r>
          </a:p>
          <a:p>
            <a:pPr marL="0" indent="0">
              <a:buNone/>
            </a:pPr>
            <a:r>
              <a:rPr sz="3100"/>
              <a:t>安全性 </a:t>
            </a:r>
            <a:r>
              <a:rPr lang="en-US" sz="3100"/>
              <a:t>			</a:t>
            </a:r>
            <a:r>
              <a:rPr sz="3100"/>
              <a:t>| 弱 </a:t>
            </a:r>
            <a:r>
              <a:rPr lang="en-US" sz="3100"/>
              <a:t>				</a:t>
            </a:r>
            <a:r>
              <a:rPr sz="3100"/>
              <a:t>| 强</a:t>
            </a:r>
          </a:p>
          <a:p>
            <a:pPr marL="0" indent="0">
              <a:buNone/>
            </a:pPr>
            <a:r>
              <a:rPr sz="3100"/>
              <a:t>硬件加速 </a:t>
            </a:r>
            <a:r>
              <a:rPr lang="en-US" sz="3100"/>
              <a:t>		</a:t>
            </a:r>
            <a:r>
              <a:rPr sz="3100"/>
              <a:t>| 间接 </a:t>
            </a:r>
            <a:r>
              <a:rPr lang="en-US" sz="3100"/>
              <a:t>			</a:t>
            </a:r>
            <a:r>
              <a:rPr sz="3100"/>
              <a:t>| 原生支持</a:t>
            </a:r>
          </a:p>
          <a:p>
            <a:pPr marL="0" indent="0">
              <a:buNone/>
            </a:pPr>
            <a:r>
              <a:rPr sz="3100"/>
              <a:t>网络显示 </a:t>
            </a:r>
            <a:r>
              <a:rPr lang="en-US" sz="3100"/>
              <a:t>		</a:t>
            </a:r>
            <a:r>
              <a:rPr sz="3100"/>
              <a:t>| 原生支持 </a:t>
            </a:r>
            <a:r>
              <a:rPr lang="en-US" sz="3100"/>
              <a:t>	</a:t>
            </a:r>
            <a:r>
              <a:rPr sz="3100"/>
              <a:t>| 外部扩展</a:t>
            </a:r>
            <a:r>
              <a:rPr lang="en-US" sz="3100"/>
              <a:t>													</a:t>
            </a:r>
            <a:r>
              <a:rPr sz="3100"/>
              <a:t>（Waypipe）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81330" y="883920"/>
            <a:ext cx="8570595" cy="1252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100"/>
              <a:t>X11 和 Wayland 是 Linux 图形系统的最底层显示协议 ——</a:t>
            </a:r>
          </a:p>
          <a:p>
            <a:pPr>
              <a:lnSpc>
                <a:spcPct val="120000"/>
              </a:lnSpc>
            </a:pPr>
            <a:r>
              <a:rPr lang="zh-CN" altLang="en-US" sz="2100"/>
              <a:t>它们不属于桌面环境（Desktop Environment），也不属于GUI框架（如GTK、Qt），而是应用程序与显卡驱动之间的通信协议层。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17"/>
            <a:ext cx="82296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buClrTx/>
              <a:buSzTx/>
              <a:buFontTx/>
            </a:pPr>
            <a:r>
              <a:rPr sz="4100">
                <a:sym typeface="+mn-ea"/>
              </a:rPr>
              <a:t>X11 vs Wayland 对比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57835" y="1042035"/>
            <a:ext cx="8359140" cy="6042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l">
              <a:spcBef>
                <a:spcPts val="120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2200" b="1" i="0">
                <a:solidFill>
                  <a:srgbClr val="000000"/>
                </a:solidFill>
              </a:rPr>
              <a:t>X11（X Window System）</a:t>
            </a:r>
          </a:p>
          <a:p>
            <a:pPr marL="0" algn="l">
              <a:spcBef>
                <a:spcPts val="120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2200" b="1" i="0">
                <a:solidFill>
                  <a:srgbClr val="000000"/>
                </a:solidFill>
              </a:rPr>
              <a:t>📜 1. 简介</a:t>
            </a:r>
          </a:p>
          <a:p>
            <a:pPr marL="0" indent="0">
              <a:buFont typeface="Arial" panose="020B0604020202090204"/>
              <a:buChar char="•"/>
            </a:pPr>
            <a:r>
              <a:rPr lang="zh-CN" altLang="en-US" sz="1700" b="0" i="0">
                <a:solidFill>
                  <a:srgbClr val="000000"/>
                </a:solidFill>
              </a:rPr>
              <a:t>全称：</a:t>
            </a:r>
            <a:r>
              <a:rPr lang="en-US" altLang="zh-CN" sz="1700" b="0" i="0">
                <a:solidFill>
                  <a:srgbClr val="000000"/>
                </a:solidFill>
              </a:rPr>
              <a:t>X Window System, Version 11 (X11)</a:t>
            </a:r>
          </a:p>
          <a:p>
            <a:pPr marL="0" indent="0">
              <a:buFont typeface="Arial" panose="020B0604020202090204"/>
              <a:buChar char="•"/>
            </a:pPr>
            <a:r>
              <a:rPr lang="zh-CN" altLang="en-US" sz="1700" b="0" i="0">
                <a:solidFill>
                  <a:srgbClr val="000000"/>
                </a:solidFill>
              </a:rPr>
              <a:t>出生：</a:t>
            </a:r>
            <a:r>
              <a:rPr lang="en-US" altLang="zh-CN" sz="1700" b="0" i="0">
                <a:solidFill>
                  <a:srgbClr val="000000"/>
                </a:solidFill>
              </a:rPr>
              <a:t>1984</a:t>
            </a:r>
            <a:r>
              <a:rPr lang="zh-CN" altLang="en-US" sz="1700" b="0" i="0">
                <a:solidFill>
                  <a:srgbClr val="000000"/>
                </a:solidFill>
              </a:rPr>
              <a:t>年（</a:t>
            </a:r>
            <a:r>
              <a:rPr lang="en-US" altLang="zh-CN" sz="1700" b="0" i="0">
                <a:solidFill>
                  <a:srgbClr val="000000"/>
                </a:solidFill>
              </a:rPr>
              <a:t>MIT</a:t>
            </a:r>
            <a:r>
              <a:rPr lang="zh-CN" altLang="en-US" sz="1700" b="0" i="0">
                <a:solidFill>
                  <a:srgbClr val="000000"/>
                </a:solidFill>
              </a:rPr>
              <a:t>）</a:t>
            </a:r>
          </a:p>
          <a:p>
            <a:pPr marL="0" indent="0">
              <a:buFont typeface="Arial" panose="020B0604020202090204"/>
              <a:buChar char="•"/>
            </a:pPr>
            <a:r>
              <a:rPr lang="zh-CN" altLang="en-US" sz="1700" b="0" i="0">
                <a:solidFill>
                  <a:srgbClr val="000000"/>
                </a:solidFill>
              </a:rPr>
              <a:t>核心组件：</a:t>
            </a:r>
            <a:r>
              <a:rPr lang="en-US" altLang="zh-CN" sz="1700" b="0" i="0">
                <a:solidFill>
                  <a:srgbClr val="000000"/>
                </a:solidFill>
              </a:rPr>
              <a:t>X Server + X Client + X Protocol</a:t>
            </a:r>
          </a:p>
          <a:p>
            <a:pPr marL="0" indent="0">
              <a:buFont typeface="Arial" panose="020B0604020202090204"/>
              <a:buChar char="•"/>
            </a:pPr>
            <a:r>
              <a:rPr lang="zh-CN" altLang="en-US" sz="1700" b="0" i="0">
                <a:solidFill>
                  <a:srgbClr val="000000"/>
                </a:solidFill>
              </a:rPr>
              <a:t>目标：</a:t>
            </a:r>
            <a:r>
              <a:rPr lang="zh-CN" altLang="en-US" sz="1700" b="1" i="0">
                <a:solidFill>
                  <a:srgbClr val="000000"/>
                </a:solidFill>
              </a:rPr>
              <a:t>提供一个“网络透明的图形显示系统”</a:t>
            </a:r>
            <a:r>
              <a:rPr lang="zh-CN" altLang="en-US" sz="1700" b="0" i="0">
                <a:solidFill>
                  <a:srgbClr val="000000"/>
                </a:solidFill>
              </a:rPr>
              <a:t>。</a:t>
            </a:r>
          </a:p>
          <a:p>
            <a:pPr indent="0" fontAlgn="auto">
              <a:spcBef>
                <a:spcPts val="1200"/>
              </a:spcBef>
              <a:spcAft>
                <a:spcPts val="0"/>
              </a:spcAft>
            </a:pPr>
            <a:r>
              <a:rPr lang="zh-CN" altLang="en-US" sz="2200" b="1" i="0">
                <a:solidFill>
                  <a:srgbClr val="000000"/>
                </a:solidFill>
              </a:rPr>
              <a:t>⚙</a:t>
            </a:r>
            <a:r>
              <a:rPr lang="en-US" altLang="zh-CN" sz="2200" b="1" i="0">
                <a:solidFill>
                  <a:srgbClr val="000000"/>
                </a:solidFill>
              </a:rPr>
              <a:t>️ 2. </a:t>
            </a:r>
            <a:r>
              <a:rPr lang="zh-CN" altLang="en-US" sz="2200" b="1" i="0">
                <a:solidFill>
                  <a:srgbClr val="000000"/>
                </a:solidFill>
              </a:rPr>
              <a:t>工作原理</a:t>
            </a:r>
          </a:p>
          <a:p>
            <a:pPr marL="0" algn="l">
              <a:buClrTx/>
              <a:buSzTx/>
              <a:buFont typeface="Arial" panose="020B0604020202090204"/>
              <a:buChar char="•"/>
            </a:pPr>
            <a:r>
              <a:rPr lang="en-US" altLang="zh-CN" sz="1600" b="0" i="0">
                <a:solidFill>
                  <a:srgbClr val="000000"/>
                </a:solidFill>
              </a:rPr>
              <a:t>X11 </a:t>
            </a:r>
            <a:r>
              <a:rPr lang="zh-CN" altLang="en-US" sz="1600" b="0" i="0">
                <a:solidFill>
                  <a:srgbClr val="000000"/>
                </a:solidFill>
              </a:rPr>
              <a:t>的基本通信模型如下：</a:t>
            </a:r>
            <a:endParaRPr lang="zh-CN" altLang="en-US" sz="1700" b="0" i="0">
              <a:solidFill>
                <a:srgbClr val="000000"/>
              </a:solidFill>
            </a:endParaRPr>
          </a:p>
          <a:p>
            <a:pPr marL="0" indent="0"/>
            <a:r>
              <a:rPr lang="en-US" altLang="zh-CN" sz="1600" b="0" i="0">
                <a:solidFill>
                  <a:srgbClr val="000000"/>
                </a:solidFill>
              </a:rPr>
              <a:t>+---------------------------+        </a:t>
            </a:r>
            <a:r>
              <a:rPr lang="zh-CN" altLang="en-US" sz="1700" b="0" i="0">
                <a:solidFill>
                  <a:srgbClr val="000000"/>
                </a:solidFill>
              </a:rPr>
              <a:t>X Protocol (TCP/Unix Socket)   </a:t>
            </a:r>
            <a:r>
              <a:rPr lang="en-US" altLang="zh-CN" sz="1600" b="0" i="0">
                <a:solidFill>
                  <a:srgbClr val="000000"/>
                </a:solidFill>
              </a:rPr>
              <a:t>    +-----------------------------------+
| </a:t>
            </a:r>
            <a:r>
              <a:rPr lang="zh-CN" altLang="en-US" sz="1700" b="0" i="0">
                <a:solidFill>
                  <a:srgbClr val="000000"/>
                </a:solidFill>
              </a:rPr>
              <a:t> 应用程序 (Client) </a:t>
            </a:r>
            <a:r>
              <a:rPr lang="en-US" altLang="zh-CN" sz="1600" b="0" i="0">
                <a:solidFill>
                  <a:srgbClr val="000000"/>
                </a:solidFill>
              </a:rPr>
              <a:t>|  &lt;----------------------------------------------&gt;  |  </a:t>
            </a:r>
            <a:r>
              <a:rPr lang="zh-CN" altLang="en-US" sz="1700" b="0" i="0">
                <a:solidFill>
                  <a:srgbClr val="000000"/>
                </a:solidFill>
              </a:rPr>
              <a:t>X Server (显示服务器) </a:t>
            </a:r>
            <a:r>
              <a:rPr lang="en-US" altLang="zh-CN" sz="1700" b="0" i="0">
                <a:solidFill>
                  <a:srgbClr val="000000"/>
                </a:solidFill>
              </a:rPr>
              <a:t> </a:t>
            </a:r>
            <a:r>
              <a:rPr lang="en-US" altLang="zh-CN" sz="1600" b="0" i="0">
                <a:solidFill>
                  <a:srgbClr val="000000"/>
                </a:solidFill>
              </a:rPr>
              <a:t>|
+---------------------------+                                                                       +-----------------------------------+
</a:t>
            </a:r>
          </a:p>
          <a:p>
            <a:pPr marL="0" algn="l">
              <a:buClrTx/>
              <a:buSzTx/>
              <a:buFont typeface="Arial" panose="020B0604020202090204"/>
              <a:buChar char="•"/>
            </a:pPr>
            <a:r>
              <a:rPr lang="zh-CN" altLang="en-US" sz="1700" b="0" i="0">
                <a:solidFill>
                  <a:srgbClr val="000000"/>
                </a:solidFill>
              </a:rPr>
              <a:t>X Client：用户程序（如 Firefox、Gedit），通过 Xlib 或 GTK/Qt 调用 X 协议。</a:t>
            </a:r>
          </a:p>
          <a:p>
            <a:pPr marL="0" algn="l">
              <a:buClrTx/>
              <a:buSzTx/>
              <a:buFont typeface="Arial" panose="020B0604020202090204"/>
              <a:buChar char="•"/>
            </a:pPr>
            <a:r>
              <a:rPr lang="zh-CN" altLang="en-US" sz="1700" b="0" i="0">
                <a:solidFill>
                  <a:srgbClr val="000000"/>
                </a:solidFill>
              </a:rPr>
              <a:t>X Server：负责直接与显卡、鼠标、键盘通信，并将窗口绘制到屏幕。</a:t>
            </a:r>
          </a:p>
          <a:p>
            <a:pPr marL="0" algn="l">
              <a:buClrTx/>
              <a:buSzTx/>
              <a:buFont typeface="Arial" panose="020B0604020202090204"/>
              <a:buChar char="•"/>
            </a:pPr>
            <a:r>
              <a:rPr lang="zh-CN" altLang="en-US" sz="1700" b="0" i="0">
                <a:solidFill>
                  <a:srgbClr val="000000"/>
                </a:solidFill>
              </a:rPr>
              <a:t>X Server 还可以运行在远程主机上（网络透明性）。</a:t>
            </a:r>
          </a:p>
          <a:p>
            <a:pPr marL="0" algn="l">
              <a:spcBef>
                <a:spcPts val="120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2200" b="1" i="0">
                <a:solidFill>
                  <a:srgbClr val="000000"/>
                </a:solidFill>
              </a:rPr>
              <a:t>🧩 3. 优点</a:t>
            </a:r>
          </a:p>
          <a:p>
            <a:pPr marL="0" algn="l">
              <a:lnSpc>
                <a:spcPct val="120000"/>
              </a:lnSpc>
              <a:buClrTx/>
              <a:buSzTx/>
              <a:buFont typeface="Arial" panose="020B0604020202090204"/>
              <a:buChar char="•"/>
            </a:pPr>
            <a:r>
              <a:rPr lang="zh-CN" altLang="en-US" sz="1700" b="0" i="0">
                <a:solidFill>
                  <a:srgbClr val="000000"/>
                </a:solidFill>
              </a:rPr>
              <a:t>✅ 强大的</a:t>
            </a:r>
            <a:r>
              <a:rPr lang="zh-CN" altLang="en-US" sz="1700" b="1" i="0">
                <a:solidFill>
                  <a:srgbClr val="000000"/>
                </a:solidFill>
                <a:latin typeface="汉仪大黑简" panose="02010600000101010101" charset="-122"/>
                <a:ea typeface="汉仪大黑简" panose="02010600000101010101" charset="-122"/>
              </a:rPr>
              <a:t>网络透明</a:t>
            </a:r>
            <a:r>
              <a:rPr lang="zh-CN" altLang="en-US" sz="1700" b="0" i="0">
                <a:solidFill>
                  <a:srgbClr val="000000"/>
                </a:solidFill>
              </a:rPr>
              <a:t>机制（可以</a:t>
            </a:r>
            <a:r>
              <a:rPr lang="zh-CN" altLang="en-US" sz="1700" b="1" i="0">
                <a:solidFill>
                  <a:srgbClr val="000000"/>
                </a:solidFill>
                <a:latin typeface="汉仪大黑简" panose="02010600000101010101" charset="-122"/>
                <a:ea typeface="汉仪大黑简" panose="02010600000101010101" charset="-122"/>
                <a:cs typeface="汉仪大黑简" panose="02010600000101010101" charset="-122"/>
              </a:rPr>
              <a:t>远程显示 GUI</a:t>
            </a:r>
            <a:r>
              <a:rPr lang="zh-CN" altLang="en-US" sz="1700" b="0" i="0">
                <a:solidFill>
                  <a:srgbClr val="000000"/>
                </a:solidFill>
              </a:rPr>
              <a:t>）。</a:t>
            </a:r>
          </a:p>
          <a:p>
            <a:pPr marL="0" algn="l">
              <a:lnSpc>
                <a:spcPct val="120000"/>
              </a:lnSpc>
              <a:buClrTx/>
              <a:buSzTx/>
              <a:buFont typeface="Arial" panose="020B0604020202090204"/>
              <a:buChar char="•"/>
            </a:pPr>
            <a:r>
              <a:rPr lang="zh-CN" altLang="en-US" sz="1700" b="0" i="0">
                <a:solidFill>
                  <a:srgbClr val="000000"/>
                </a:solidFill>
              </a:rPr>
              <a:t>✅ 成熟、稳定，支持丰富的扩展（OpenGL、XInput、XRandR等）。</a:t>
            </a:r>
          </a:p>
          <a:p>
            <a:pPr marL="0" algn="l">
              <a:spcBef>
                <a:spcPts val="1200"/>
              </a:spcBef>
              <a:spcAft>
                <a:spcPts val="0"/>
              </a:spcAft>
              <a:buClrTx/>
              <a:buSzTx/>
              <a:buFontTx/>
            </a:pPr>
            <a:endParaRPr lang="zh-CN" altLang="en-US" sz="1700" b="0" i="0">
              <a:solidFill>
                <a:srgbClr val="00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31155" y="1042035"/>
            <a:ext cx="3599180" cy="252285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lstStyle/>
          <a:p>
            <a:pPr marL="0" algn="l">
              <a:spcBef>
                <a:spcPts val="120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 sz="2200" b="1">
                <a:solidFill>
                  <a:srgbClr val="000000"/>
                </a:solidFill>
                <a:sym typeface="+mn-ea"/>
              </a:rPr>
              <a:t>❌ 4. 缺点</a:t>
            </a:r>
            <a:endParaRPr lang="zh-CN" altLang="en-US" sz="2200" b="1" i="0">
              <a:solidFill>
                <a:srgbClr val="000000"/>
              </a:solidFill>
            </a:endParaRPr>
          </a:p>
          <a:p>
            <a:pPr marL="0" algn="l">
              <a:buClrTx/>
              <a:buSzTx/>
              <a:buFont typeface="Arial" panose="020B0604020202090204"/>
              <a:buChar char="•"/>
            </a:pPr>
            <a:r>
              <a:rPr lang="zh-CN" altLang="en-US" sz="1700">
                <a:solidFill>
                  <a:srgbClr val="000000"/>
                </a:solidFill>
                <a:sym typeface="+mn-ea"/>
              </a:rPr>
              <a:t>架构老旧（上世纪80年代设计）；</a:t>
            </a:r>
            <a:endParaRPr lang="zh-CN" altLang="en-US" sz="1700" b="0" i="0">
              <a:solidFill>
                <a:srgbClr val="000000"/>
              </a:solidFill>
            </a:endParaRPr>
          </a:p>
          <a:p>
            <a:pPr marL="0" algn="l">
              <a:buClrTx/>
              <a:buSzTx/>
              <a:buFont typeface="Arial" panose="020B0604020202090204"/>
              <a:buChar char="•"/>
            </a:pPr>
            <a:r>
              <a:rPr lang="zh-CN" altLang="en-US" sz="1700">
                <a:solidFill>
                  <a:srgbClr val="000000"/>
                </a:solidFill>
                <a:sym typeface="+mn-ea"/>
              </a:rPr>
              <a:t>大量中间层（Client → Server → Compositor → GPU）；</a:t>
            </a:r>
            <a:endParaRPr lang="zh-CN" altLang="en-US" sz="1700" b="0" i="0">
              <a:solidFill>
                <a:srgbClr val="000000"/>
              </a:solidFill>
            </a:endParaRPr>
          </a:p>
          <a:p>
            <a:pPr marL="0" algn="l">
              <a:buClrTx/>
              <a:buSzTx/>
              <a:buFont typeface="Arial" panose="020B0604020202090204"/>
              <a:buChar char="•"/>
            </a:pPr>
            <a:r>
              <a:rPr lang="zh-CN" altLang="en-US" sz="1700">
                <a:solidFill>
                  <a:srgbClr val="000000"/>
                </a:solidFill>
                <a:sym typeface="+mn-ea"/>
              </a:rPr>
              <a:t>延迟高；</a:t>
            </a:r>
            <a:endParaRPr lang="zh-CN" altLang="en-US" sz="1700" b="0" i="0">
              <a:solidFill>
                <a:srgbClr val="000000"/>
              </a:solidFill>
            </a:endParaRPr>
          </a:p>
          <a:p>
            <a:pPr marL="0" algn="l">
              <a:buClrTx/>
              <a:buSzTx/>
              <a:buFont typeface="Arial" panose="020B0604020202090204"/>
              <a:buChar char="•"/>
            </a:pPr>
            <a:r>
              <a:rPr lang="zh-CN" altLang="en-US" sz="1700">
                <a:solidFill>
                  <a:srgbClr val="000000"/>
                </a:solidFill>
                <a:sym typeface="+mn-ea"/>
              </a:rPr>
              <a:t>安全性差（任意X Client可监听键盘事件）；</a:t>
            </a:r>
            <a:endParaRPr lang="zh-CN" altLang="en-US" sz="1700" b="0" i="0">
              <a:solidFill>
                <a:srgbClr val="000000"/>
              </a:solidFill>
            </a:endParaRPr>
          </a:p>
          <a:p>
            <a:pPr marL="0" algn="l">
              <a:buClrTx/>
              <a:buSzTx/>
              <a:buFont typeface="Arial" panose="020B0604020202090204"/>
              <a:buChar char="•"/>
            </a:pPr>
            <a:r>
              <a:rPr lang="zh-CN" altLang="en-US" sz="1700">
                <a:solidFill>
                  <a:srgbClr val="000000"/>
                </a:solidFill>
                <a:sym typeface="+mn-ea"/>
              </a:rPr>
              <a:t>对现代硬件（多显示器、GPU合成）支持效率低。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06997"/>
            <a:ext cx="82296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buClrTx/>
              <a:buSzTx/>
              <a:buFontTx/>
            </a:pPr>
            <a:r>
              <a:rPr sz="4100">
                <a:sym typeface="+mn-ea"/>
              </a:rPr>
              <a:t>X11 vs Wayland 对比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2390" y="881380"/>
            <a:ext cx="8621395" cy="5710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Aft>
                <a:spcPct val="60000"/>
              </a:spcAft>
            </a:pPr>
            <a:r>
              <a:rPr lang="en-US" altLang="zh-CN" b="1" i="0">
                <a:solidFill>
                  <a:srgbClr val="000000"/>
                </a:solidFill>
              </a:rPr>
              <a:t>Wayland</a:t>
            </a:r>
            <a:r>
              <a:rPr lang="zh-CN" altLang="en-US" b="1" i="0">
                <a:solidFill>
                  <a:srgbClr val="000000"/>
                </a:solidFill>
              </a:rPr>
              <a:t>（</a:t>
            </a:r>
            <a:r>
              <a:rPr lang="en-US" altLang="zh-CN" b="1" i="0">
                <a:solidFill>
                  <a:srgbClr val="000000"/>
                </a:solidFill>
              </a:rPr>
              <a:t>X11</a:t>
            </a:r>
            <a:r>
              <a:rPr lang="zh-CN" altLang="en-US" b="1" i="0">
                <a:solidFill>
                  <a:srgbClr val="000000"/>
                </a:solidFill>
              </a:rPr>
              <a:t>继任者）</a:t>
            </a:r>
          </a:p>
          <a:p>
            <a:pPr marL="0" algn="l">
              <a:spcBef>
                <a:spcPts val="600"/>
              </a:spcBef>
              <a:spcAft>
                <a:spcPts val="600"/>
              </a:spcAft>
              <a:buClrTx/>
              <a:buSzTx/>
              <a:buFontTx/>
            </a:pPr>
            <a:r>
              <a:rPr lang="zh-CN" altLang="en-US" b="1" i="0">
                <a:solidFill>
                  <a:srgbClr val="000000"/>
                </a:solidFill>
              </a:rPr>
              <a:t>⚙️ 工作原理</a:t>
            </a:r>
          </a:p>
          <a:p>
            <a:pPr marL="0" indent="0"/>
            <a:r>
              <a:rPr lang="en-US" altLang="zh-CN" b="0" i="0">
                <a:solidFill>
                  <a:srgbClr val="000000"/>
                </a:solidFill>
              </a:rPr>
              <a:t>Wayland </a:t>
            </a:r>
            <a:r>
              <a:rPr lang="zh-CN" altLang="en-US" b="0" i="0">
                <a:solidFill>
                  <a:srgbClr val="000000"/>
                </a:solidFill>
              </a:rPr>
              <a:t>移除了“</a:t>
            </a:r>
            <a:r>
              <a:rPr lang="en-US" altLang="zh-CN" b="0" i="0">
                <a:solidFill>
                  <a:srgbClr val="000000"/>
                </a:solidFill>
              </a:rPr>
              <a:t>X Server”</a:t>
            </a:r>
            <a:r>
              <a:rPr lang="zh-CN" altLang="en-US" b="0" i="0">
                <a:solidFill>
                  <a:srgbClr val="000000"/>
                </a:solidFill>
              </a:rPr>
              <a:t>，直接让</a:t>
            </a:r>
            <a:r>
              <a:rPr lang="en-US" altLang="zh-CN" b="0" i="0">
                <a:solidFill>
                  <a:srgbClr val="000000"/>
                </a:solidFill>
              </a:rPr>
              <a:t>**</a:t>
            </a:r>
            <a:r>
              <a:rPr lang="zh-CN" altLang="en-US" b="0" i="0">
                <a:solidFill>
                  <a:srgbClr val="000000"/>
                </a:solidFill>
              </a:rPr>
              <a:t>合成器（</a:t>
            </a:r>
            <a:r>
              <a:rPr lang="en-US" altLang="zh-CN" b="0" i="0">
                <a:solidFill>
                  <a:srgbClr val="000000"/>
                </a:solidFill>
              </a:rPr>
              <a:t>Compositor</a:t>
            </a:r>
            <a:r>
              <a:rPr lang="zh-CN" altLang="en-US" b="0" i="0">
                <a:solidFill>
                  <a:srgbClr val="000000"/>
                </a:solidFill>
              </a:rPr>
              <a:t>）</a:t>
            </a:r>
            <a:r>
              <a:rPr lang="en-US" altLang="zh-CN" b="0" i="0">
                <a:solidFill>
                  <a:srgbClr val="000000"/>
                </a:solidFill>
              </a:rPr>
              <a:t>**</a:t>
            </a:r>
            <a:r>
              <a:rPr lang="zh-CN" altLang="en-US" b="0" i="0">
                <a:solidFill>
                  <a:srgbClr val="000000"/>
                </a:solidFill>
              </a:rPr>
              <a:t>负责显示：</a:t>
            </a:r>
          </a:p>
          <a:p>
            <a:pPr marL="0" indent="0"/>
            <a:r>
              <a:rPr lang="en-US" altLang="zh-CN" b="0" i="0">
                <a:solidFill>
                  <a:srgbClr val="000000"/>
                </a:solidFill>
              </a:rPr>
              <a:t>+---------------------------+
| </a:t>
            </a:r>
            <a:r>
              <a:rPr lang="zh-CN" altLang="en-US" b="0" i="0">
                <a:solidFill>
                  <a:srgbClr val="000000"/>
                </a:solidFill>
              </a:rPr>
              <a:t>应用程序 </a:t>
            </a:r>
            <a:r>
              <a:rPr lang="en-US" altLang="zh-CN" b="0" i="0">
                <a:solidFill>
                  <a:srgbClr val="000000"/>
                </a:solidFill>
              </a:rPr>
              <a:t>(Client)    |
|   ↳ </a:t>
            </a:r>
            <a:r>
              <a:rPr lang="zh-CN" altLang="en-US" b="0" i="0">
                <a:solidFill>
                  <a:srgbClr val="000000"/>
                </a:solidFill>
              </a:rPr>
              <a:t>绘制窗口内容   </a:t>
            </a:r>
            <a:r>
              <a:rPr lang="en-US" altLang="zh-CN" b="0" i="0">
                <a:solidFill>
                  <a:srgbClr val="000000"/>
                </a:solidFill>
              </a:rPr>
              <a:t>|
+---------------------------+
          ↓
   Wayland Protocol
          ↓
</a:t>
            </a:r>
            <a:r>
              <a:rPr lang="zh-CN" altLang="en-US" b="1" i="0">
                <a:solidFill>
                  <a:srgbClr val="000000"/>
                </a:solidFill>
              </a:rPr>
              <a:t>+</a:t>
            </a:r>
            <a:r>
              <a:rPr lang="en-US" altLang="zh-CN" b="0" i="0">
                <a:solidFill>
                  <a:srgbClr val="000000"/>
                </a:solidFill>
              </a:rPr>
              <a:t>--------------------------------------------------------------------+
|  Compositor</a:t>
            </a:r>
            <a:r>
              <a:rPr lang="zh-CN" altLang="en-US" b="0" i="0">
                <a:solidFill>
                  <a:srgbClr val="000000"/>
                </a:solidFill>
              </a:rPr>
              <a:t>（例如：</a:t>
            </a:r>
            <a:r>
              <a:rPr lang="en-US" altLang="zh-CN" b="0" i="0">
                <a:solidFill>
                  <a:srgbClr val="000000"/>
                </a:solidFill>
              </a:rPr>
              <a:t>Weston</a:t>
            </a:r>
            <a:r>
              <a:rPr lang="zh-CN" altLang="en-US" b="0" i="0">
                <a:solidFill>
                  <a:srgbClr val="000000"/>
                </a:solidFill>
              </a:rPr>
              <a:t>、</a:t>
            </a:r>
            <a:r>
              <a:rPr lang="en-US" altLang="zh-CN" b="0" i="0">
                <a:solidFill>
                  <a:srgbClr val="000000"/>
                </a:solidFill>
              </a:rPr>
              <a:t>Mutter</a:t>
            </a:r>
            <a:r>
              <a:rPr lang="zh-CN" altLang="en-US" b="0" i="0">
                <a:solidFill>
                  <a:srgbClr val="000000"/>
                </a:solidFill>
              </a:rPr>
              <a:t>、</a:t>
            </a:r>
            <a:r>
              <a:rPr lang="en-US" altLang="zh-CN" b="0" i="0">
                <a:solidFill>
                  <a:srgbClr val="000000"/>
                </a:solidFill>
              </a:rPr>
              <a:t>KWin</a:t>
            </a:r>
            <a:r>
              <a:rPr lang="zh-CN" altLang="en-US" b="0" i="0">
                <a:solidFill>
                  <a:srgbClr val="000000"/>
                </a:solidFill>
              </a:rPr>
              <a:t>）</a:t>
            </a:r>
            <a:r>
              <a:rPr lang="en-US" altLang="zh-CN" b="0" i="0">
                <a:solidFill>
                  <a:srgbClr val="000000"/>
                </a:solidFill>
              </a:rPr>
              <a:t>  |
|  ↳ </a:t>
            </a:r>
            <a:r>
              <a:rPr lang="zh-CN" altLang="en-US" b="0" i="0">
                <a:solidFill>
                  <a:srgbClr val="000000"/>
                </a:solidFill>
              </a:rPr>
              <a:t>合成所有窗口图像并输出到屏幕 </a:t>
            </a:r>
            <a:r>
              <a:rPr lang="en-US" altLang="zh-CN" b="0" i="0">
                <a:solidFill>
                  <a:srgbClr val="000000"/>
                </a:solidFill>
              </a:rPr>
              <a:t>                       |
+--------------------------------------------------------------------+
          ↓
     GPU / Framebuffer
</a:t>
            </a:r>
          </a:p>
          <a:p>
            <a:pPr marL="0" indent="0"/>
            <a:r>
              <a:rPr lang="zh-CN" altLang="en-US" b="0" i="0">
                <a:solidFill>
                  <a:srgbClr val="000000"/>
                </a:solidFill>
              </a:rPr>
              <a:t>每个应用程序将窗口内容直接绘制成共享内存缓冲区（例如</a:t>
            </a:r>
            <a:r>
              <a:rPr lang="en-US" altLang="zh-CN" b="0" i="0">
                <a:solidFill>
                  <a:srgbClr val="000000"/>
                </a:solidFill>
              </a:rPr>
              <a:t>OpenGL/EGL</a:t>
            </a:r>
            <a:r>
              <a:rPr lang="zh-CN" altLang="en-US" b="0" i="0">
                <a:solidFill>
                  <a:srgbClr val="000000"/>
                </a:solidFill>
              </a:rPr>
              <a:t>），</a:t>
            </a:r>
          </a:p>
          <a:p>
            <a:pPr marL="0" indent="0"/>
            <a:r>
              <a:rPr lang="en-US" altLang="zh-CN" b="0" i="0">
                <a:solidFill>
                  <a:srgbClr val="000000"/>
                </a:solidFill>
              </a:rPr>
              <a:t>Compositor </a:t>
            </a:r>
            <a:r>
              <a:rPr lang="zh-CN" altLang="en-US" b="0" i="0">
                <a:solidFill>
                  <a:srgbClr val="000000"/>
                </a:solidFill>
              </a:rPr>
              <a:t>负责最终合成这些缓冲区，送入 </a:t>
            </a:r>
            <a:r>
              <a:rPr lang="en-US" altLang="zh-CN" b="0" i="0">
                <a:solidFill>
                  <a:srgbClr val="000000"/>
                </a:solidFill>
              </a:rPr>
              <a:t>GPU </a:t>
            </a:r>
            <a:r>
              <a:rPr lang="zh-CN" altLang="en-US" b="0" i="0">
                <a:solidFill>
                  <a:srgbClr val="000000"/>
                </a:solidFill>
              </a:rPr>
              <a:t>输出。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463165" y="915670"/>
            <a:ext cx="6608445" cy="721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lstStyle/>
          <a:p>
            <a:pPr indent="0" algn="l" fontAlgn="auto">
              <a:spcBef>
                <a:spcPts val="600"/>
              </a:spcBef>
              <a:spcAft>
                <a:spcPts val="600"/>
              </a:spcAft>
              <a:buClrTx/>
              <a:buSzTx/>
              <a:buFontTx/>
            </a:pPr>
            <a:r>
              <a:rPr lang="zh-CN" altLang="en-US">
                <a:solidFill>
                  <a:srgbClr val="000000"/>
                </a:solidFill>
                <a:sym typeface="+mn-ea"/>
              </a:rPr>
              <a:t>出生：</a:t>
            </a:r>
            <a:r>
              <a:rPr lang="en-US" altLang="zh-CN">
                <a:solidFill>
                  <a:srgbClr val="000000"/>
                </a:solidFill>
                <a:sym typeface="+mn-ea"/>
              </a:rPr>
              <a:t>2008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年</a:t>
            </a:r>
            <a:r>
              <a:rPr lang="en-US" altLang="zh-CN">
                <a:solidFill>
                  <a:srgbClr val="000000"/>
                </a:solidFill>
                <a:sym typeface="+mn-ea"/>
              </a:rPr>
              <a:t>；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目标：取代</a:t>
            </a:r>
            <a:r>
              <a:rPr lang="en-US" altLang="zh-CN">
                <a:solidFill>
                  <a:srgbClr val="000000"/>
                </a:solidFill>
                <a:sym typeface="+mn-ea"/>
              </a:rPr>
              <a:t>X11</a:t>
            </a:r>
            <a:r>
              <a:rPr lang="zh-CN" altLang="en-US">
                <a:solidFill>
                  <a:srgbClr val="000000"/>
                </a:solidFill>
                <a:sym typeface="+mn-ea"/>
              </a:rPr>
              <a:t>，使图形栈更简单、高效、安全。</a:t>
            </a:r>
            <a:endParaRPr lang="zh-CN" altLang="en-US" b="0" i="0">
              <a:solidFill>
                <a:srgbClr val="000000"/>
              </a:solidFill>
            </a:endParaRPr>
          </a:p>
          <a:p>
            <a:pPr marL="0" indent="0">
              <a:buFont typeface="Arial" panose="020B0604020202090204"/>
              <a:buNone/>
            </a:pPr>
            <a:r>
              <a:rPr lang="zh-CN" altLang="en-US">
                <a:solidFill>
                  <a:srgbClr val="000000"/>
                </a:solidFill>
                <a:sym typeface="+mn-ea"/>
              </a:rPr>
              <a:t>核心组件：</a:t>
            </a:r>
            <a:r>
              <a:rPr lang="en-US" altLang="zh-CN">
                <a:solidFill>
                  <a:srgbClr val="000000"/>
                </a:solidFill>
                <a:sym typeface="+mn-ea"/>
              </a:rPr>
              <a:t>Wayland Protocol + Compositor</a:t>
            </a:r>
            <a:endParaRPr lang="en-US" altLang="zh-CN">
              <a:solidFill>
                <a:srgbClr val="000000"/>
              </a:solidFill>
              <a:sym typeface="+mn-ea"/>
              <a:hlinkClick r:id="rId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156200" y="4068445"/>
            <a:ext cx="3975735" cy="1812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indent="0" fontAlgn="auto">
              <a:lnSpc>
                <a:spcPct val="120000"/>
              </a:lnSpc>
              <a:spcAft>
                <a:spcPts val="1200"/>
              </a:spcAft>
            </a:pPr>
            <a:r>
              <a:rPr lang="zh-CN" altLang="en-US" sz="1700" b="1" i="0">
                <a:solidFill>
                  <a:srgbClr val="000000"/>
                </a:solidFill>
              </a:rPr>
              <a:t>🧩 优点</a:t>
            </a:r>
          </a:p>
          <a:p>
            <a:pPr marL="0" indent="0">
              <a:lnSpc>
                <a:spcPct val="120000"/>
              </a:lnSpc>
            </a:pPr>
            <a:r>
              <a:rPr lang="en-US" altLang="zh-CN" sz="1700" b="0" i="0">
                <a:solidFill>
                  <a:srgbClr val="000000"/>
                </a:solidFill>
              </a:rPr>
              <a:t>✅ </a:t>
            </a:r>
            <a:r>
              <a:rPr lang="zh-CN" altLang="en-US" sz="1700" b="0" i="0">
                <a:solidFill>
                  <a:srgbClr val="000000"/>
                </a:solidFill>
              </a:rPr>
              <a:t>延迟低（少了中间层）。</a:t>
            </a:r>
          </a:p>
          <a:p>
            <a:pPr marL="0" indent="0">
              <a:lnSpc>
                <a:spcPct val="120000"/>
              </a:lnSpc>
            </a:pPr>
            <a:r>
              <a:rPr lang="en-US" altLang="zh-CN" sz="1700" b="0" i="0">
                <a:solidFill>
                  <a:srgbClr val="000000"/>
                </a:solidFill>
              </a:rPr>
              <a:t>✅ </a:t>
            </a:r>
            <a:r>
              <a:rPr lang="zh-CN" altLang="en-US" sz="1700" b="0" i="0">
                <a:solidFill>
                  <a:srgbClr val="000000"/>
                </a:solidFill>
              </a:rPr>
              <a:t>安全性高（不同程序的缓冲区隔离）。</a:t>
            </a:r>
          </a:p>
          <a:p>
            <a:pPr marL="0" indent="0">
              <a:lnSpc>
                <a:spcPct val="120000"/>
              </a:lnSpc>
            </a:pPr>
            <a:r>
              <a:rPr lang="en-US" altLang="zh-CN" sz="1700" b="0" i="0">
                <a:solidFill>
                  <a:srgbClr val="000000"/>
                </a:solidFill>
              </a:rPr>
              <a:t>✅ </a:t>
            </a:r>
            <a:r>
              <a:rPr lang="zh-CN" altLang="en-US" sz="1700" b="0" i="0">
                <a:solidFill>
                  <a:srgbClr val="000000"/>
                </a:solidFill>
              </a:rPr>
              <a:t>对</a:t>
            </a:r>
            <a:r>
              <a:rPr lang="en-US" altLang="zh-CN" sz="1700" b="0" i="0">
                <a:solidFill>
                  <a:srgbClr val="000000"/>
                </a:solidFill>
              </a:rPr>
              <a:t>GPU/</a:t>
            </a:r>
            <a:r>
              <a:rPr lang="zh-CN" altLang="en-US" sz="1700" b="0" i="0">
                <a:solidFill>
                  <a:srgbClr val="000000"/>
                </a:solidFill>
              </a:rPr>
              <a:t>多显示器</a:t>
            </a:r>
            <a:r>
              <a:rPr lang="en-US" altLang="zh-CN" sz="1700" b="0" i="0">
                <a:solidFill>
                  <a:srgbClr val="000000"/>
                </a:solidFill>
              </a:rPr>
              <a:t>/HiDPI</a:t>
            </a:r>
            <a:r>
              <a:rPr lang="zh-CN" altLang="en-US" sz="1700" b="0" i="0">
                <a:solidFill>
                  <a:srgbClr val="000000"/>
                </a:solidFill>
              </a:rPr>
              <a:t>支持原生。</a:t>
            </a:r>
          </a:p>
          <a:p>
            <a:pPr marL="0" indent="0">
              <a:lnSpc>
                <a:spcPct val="120000"/>
              </a:lnSpc>
            </a:pPr>
            <a:r>
              <a:rPr lang="en-US" altLang="zh-CN" sz="1700" b="0" i="0">
                <a:solidFill>
                  <a:srgbClr val="000000"/>
                </a:solidFill>
              </a:rPr>
              <a:t>✅ </a:t>
            </a:r>
            <a:r>
              <a:rPr lang="zh-CN" altLang="en-US" sz="1700" b="0" i="0">
                <a:solidFill>
                  <a:srgbClr val="000000"/>
                </a:solidFill>
              </a:rPr>
              <a:t>架构简洁（协议小而干净）。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932555" y="2181225"/>
            <a:ext cx="5187315" cy="16891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indent="0" fontAlgn="auto">
              <a:lnSpc>
                <a:spcPct val="110000"/>
              </a:lnSpc>
              <a:spcAft>
                <a:spcPts val="600"/>
              </a:spcAft>
            </a:pPr>
            <a:r>
              <a:rPr lang="en-US" altLang="zh-CN" sz="2200" b="1" i="0">
                <a:solidFill>
                  <a:srgbClr val="000000"/>
                </a:solidFill>
              </a:rPr>
              <a:t>❌ </a:t>
            </a:r>
            <a:r>
              <a:rPr lang="zh-CN" altLang="en-US" sz="2200" b="1" i="0">
                <a:solidFill>
                  <a:srgbClr val="000000"/>
                </a:solidFill>
              </a:rPr>
              <a:t>缺点</a:t>
            </a:r>
          </a:p>
          <a:p>
            <a:pPr marL="0" indent="0">
              <a:lnSpc>
                <a:spcPct val="110000"/>
              </a:lnSpc>
            </a:pPr>
            <a:r>
              <a:rPr lang="zh-CN" altLang="en-US" sz="1700" b="0" i="0">
                <a:solidFill>
                  <a:srgbClr val="000000"/>
                </a:solidFill>
              </a:rPr>
              <a:t>⚠</a:t>
            </a:r>
            <a:r>
              <a:rPr lang="en-US" altLang="zh-CN" sz="1700" b="0" i="0">
                <a:solidFill>
                  <a:srgbClr val="000000"/>
                </a:solidFill>
              </a:rPr>
              <a:t>️ </a:t>
            </a:r>
            <a:r>
              <a:rPr lang="zh-CN" altLang="en-US" sz="1700" b="0" i="0">
                <a:solidFill>
                  <a:srgbClr val="000000"/>
                </a:solidFill>
              </a:rPr>
              <a:t>不支持远程显示（</a:t>
            </a:r>
            <a:r>
              <a:rPr lang="en-US" altLang="zh-CN" sz="1700" b="0" i="0">
                <a:solidFill>
                  <a:srgbClr val="000000"/>
                </a:solidFill>
              </a:rPr>
              <a:t>X11</a:t>
            </a:r>
            <a:r>
              <a:rPr lang="zh-CN" altLang="en-US" sz="1700" b="0" i="0">
                <a:solidFill>
                  <a:srgbClr val="000000"/>
                </a:solidFill>
              </a:rPr>
              <a:t>的网络透明性丢失）。</a:t>
            </a:r>
          </a:p>
          <a:p>
            <a:pPr marL="0" indent="0">
              <a:lnSpc>
                <a:spcPct val="110000"/>
              </a:lnSpc>
            </a:pPr>
            <a:r>
              <a:rPr lang="zh-CN" altLang="en-US" sz="1700" b="0" i="0">
                <a:solidFill>
                  <a:srgbClr val="000000"/>
                </a:solidFill>
              </a:rPr>
              <a:t>⚠</a:t>
            </a:r>
            <a:r>
              <a:rPr lang="en-US" altLang="zh-CN" sz="1700" b="0" i="0">
                <a:solidFill>
                  <a:srgbClr val="000000"/>
                </a:solidFill>
              </a:rPr>
              <a:t>️ </a:t>
            </a:r>
            <a:r>
              <a:rPr lang="zh-CN" altLang="en-US" sz="1700" b="0" i="0">
                <a:solidFill>
                  <a:srgbClr val="000000"/>
                </a:solidFill>
              </a:rPr>
              <a:t>一些旧程序和工具尚未完全兼容。</a:t>
            </a:r>
          </a:p>
          <a:p>
            <a:pPr marL="0" indent="0">
              <a:lnSpc>
                <a:spcPct val="110000"/>
              </a:lnSpc>
            </a:pPr>
            <a:r>
              <a:rPr lang="zh-CN" altLang="en-US" sz="1700" b="0" i="0">
                <a:solidFill>
                  <a:srgbClr val="000000"/>
                </a:solidFill>
              </a:rPr>
              <a:t>⚠</a:t>
            </a:r>
            <a:r>
              <a:rPr lang="en-US" altLang="zh-CN" sz="1700" b="0" i="0">
                <a:solidFill>
                  <a:srgbClr val="000000"/>
                </a:solidFill>
              </a:rPr>
              <a:t>️ </a:t>
            </a:r>
            <a:r>
              <a:rPr lang="zh-CN" altLang="en-US" sz="1700" b="0" i="0">
                <a:solidFill>
                  <a:srgbClr val="000000"/>
                </a:solidFill>
              </a:rPr>
              <a:t>每个桌面环境需自己实现 </a:t>
            </a:r>
            <a:r>
              <a:rPr lang="en-US" altLang="zh-CN" sz="1700" b="0" i="0">
                <a:solidFill>
                  <a:srgbClr val="000000"/>
                </a:solidFill>
              </a:rPr>
              <a:t>compositor</a:t>
            </a:r>
            <a:r>
              <a:rPr lang="zh-CN" altLang="en-US" sz="1700" b="0" i="0">
                <a:solidFill>
                  <a:srgbClr val="000000"/>
                </a:solidFill>
              </a:rPr>
              <a:t>（如 </a:t>
            </a:r>
            <a:r>
              <a:rPr lang="en-US" altLang="zh-CN" sz="1700" b="0" i="0">
                <a:solidFill>
                  <a:srgbClr val="000000"/>
                </a:solidFill>
              </a:rPr>
              <a:t>GNOME </a:t>
            </a:r>
            <a:r>
              <a:rPr lang="zh-CN" altLang="en-US" sz="1700" b="0" i="0">
                <a:solidFill>
                  <a:srgbClr val="000000"/>
                </a:solidFill>
              </a:rPr>
              <a:t>的 </a:t>
            </a:r>
            <a:r>
              <a:rPr lang="en-US" altLang="zh-CN" sz="1700" b="0" i="0">
                <a:solidFill>
                  <a:srgbClr val="000000"/>
                </a:solidFill>
              </a:rPr>
              <a:t>Mutter</a:t>
            </a:r>
            <a:r>
              <a:rPr lang="zh-CN" altLang="en-US" sz="1700" b="0" i="0">
                <a:solidFill>
                  <a:srgbClr val="000000"/>
                </a:solidFill>
              </a:rPr>
              <a:t>，</a:t>
            </a:r>
            <a:r>
              <a:rPr lang="en-US" altLang="zh-CN" sz="1700" b="0" i="0">
                <a:solidFill>
                  <a:srgbClr val="000000"/>
                </a:solidFill>
              </a:rPr>
              <a:t>KDE </a:t>
            </a:r>
            <a:r>
              <a:rPr lang="zh-CN" altLang="en-US" sz="1700" b="0" i="0">
                <a:solidFill>
                  <a:srgbClr val="000000"/>
                </a:solidFill>
              </a:rPr>
              <a:t>的 </a:t>
            </a:r>
            <a:r>
              <a:rPr lang="en-US" altLang="zh-CN" sz="1700" b="0" i="0">
                <a:solidFill>
                  <a:srgbClr val="000000"/>
                </a:solidFill>
              </a:rPr>
              <a:t>KWin</a:t>
            </a:r>
            <a:r>
              <a:rPr lang="zh-CN" altLang="en-US" sz="1700" b="0" i="0">
                <a:solidFill>
                  <a:srgbClr val="000000"/>
                </a:solidFill>
              </a:rPr>
              <a:t>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pPr lvl="0" algn="ctr">
              <a:buClrTx/>
              <a:buSzTx/>
              <a:buFontTx/>
            </a:pPr>
            <a:r>
              <a:rPr sz="4100">
                <a:sym typeface="+mn-ea"/>
              </a:rPr>
              <a:t>三、显示</a:t>
            </a:r>
            <a:r>
              <a:rPr lang="zh-CN" sz="4100">
                <a:sym typeface="+mn-ea"/>
              </a:rPr>
              <a:t>协议</a:t>
            </a:r>
            <a:r>
              <a:rPr sz="4100">
                <a:sym typeface="+mn-ea"/>
              </a:rPr>
              <a:t>层</a:t>
            </a:r>
            <a:r>
              <a:rPr lang="en-US" sz="4100">
                <a:sym typeface="+mn-ea"/>
              </a:rPr>
              <a:t>：</a:t>
            </a:r>
            <a:r>
              <a:rPr lang="zh-CN" altLang="en-US" sz="4100">
                <a:sym typeface="+mn-ea"/>
              </a:rPr>
              <a:t>现实状况（2025）</a:t>
            </a:r>
            <a:br>
              <a:rPr lang="zh-CN" altLang="en-US" sz="4100"/>
            </a:br>
            <a:endParaRPr lang="zh-CN" altLang="en-US" sz="410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5895" y="5777865"/>
            <a:ext cx="8893175" cy="8915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/>
            <a:r>
              <a:rPr lang="zh-CN" altLang="en-US" sz="2600" b="0" i="0">
                <a:solidFill>
                  <a:srgbClr val="000000"/>
                </a:solidFill>
                <a:latin typeface="-webkit-standard"/>
                <a:ea typeface="-webkit-standard"/>
              </a:rPr>
              <a:t>🪟</a:t>
            </a:r>
            <a:r>
              <a:rPr lang="en-US" altLang="zh-CN" sz="2600" b="0" i="0">
                <a:solidFill>
                  <a:srgbClr val="000000"/>
                </a:solidFill>
                <a:latin typeface="-webkit-standard"/>
                <a:ea typeface="-webkit-standard"/>
              </a:rPr>
              <a:t> </a:t>
            </a:r>
            <a:r>
              <a:rPr lang="en-US" altLang="zh-CN" sz="1600" i="0">
                <a:solidFill>
                  <a:srgbClr val="000000"/>
                </a:solidFill>
              </a:rPr>
              <a:t>X11 </a:t>
            </a:r>
            <a:r>
              <a:rPr lang="zh-CN" altLang="en-US" sz="1600" i="0">
                <a:solidFill>
                  <a:srgbClr val="000000"/>
                </a:solidFill>
              </a:rPr>
              <a:t>是“</a:t>
            </a:r>
            <a:r>
              <a:rPr lang="en-US" altLang="zh-CN" sz="1600" i="0">
                <a:solidFill>
                  <a:srgbClr val="000000"/>
                </a:solidFill>
              </a:rPr>
              <a:t>1980</a:t>
            </a:r>
            <a:r>
              <a:rPr lang="zh-CN" altLang="en-US" sz="1600" i="0">
                <a:solidFill>
                  <a:srgbClr val="000000"/>
                </a:solidFill>
              </a:rPr>
              <a:t>年代的网络终端图形系统”，</a:t>
            </a:r>
          </a:p>
          <a:p>
            <a:pPr marL="0" indent="0"/>
            <a:r>
              <a:rPr lang="zh-CN" altLang="en-US" sz="2600" b="0" i="0">
                <a:solidFill>
                  <a:srgbClr val="000000"/>
                </a:solidFill>
                <a:latin typeface="-webkit-standard"/>
                <a:ea typeface="-webkit-standard"/>
              </a:rPr>
              <a:t>🌀</a:t>
            </a:r>
            <a:r>
              <a:rPr lang="en-US" altLang="zh-CN" sz="2600" b="0" i="0">
                <a:solidFill>
                  <a:srgbClr val="000000"/>
                </a:solidFill>
                <a:latin typeface="-webkit-standard"/>
                <a:ea typeface="-webkit-standard"/>
              </a:rPr>
              <a:t> </a:t>
            </a:r>
            <a:r>
              <a:rPr lang="en-US" altLang="zh-CN" sz="1600" i="0">
                <a:solidFill>
                  <a:srgbClr val="000000"/>
                </a:solidFill>
              </a:rPr>
              <a:t>Wayland </a:t>
            </a:r>
            <a:r>
              <a:rPr lang="zh-CN" altLang="en-US" sz="1600" i="0">
                <a:solidFill>
                  <a:srgbClr val="000000"/>
                </a:solidFill>
              </a:rPr>
              <a:t>是“现代</a:t>
            </a:r>
            <a:r>
              <a:rPr lang="en-US" altLang="zh-CN" sz="1600" i="0">
                <a:solidFill>
                  <a:srgbClr val="000000"/>
                </a:solidFill>
              </a:rPr>
              <a:t>GPU</a:t>
            </a:r>
            <a:r>
              <a:rPr lang="zh-CN" altLang="en-US" sz="1600" i="0">
                <a:solidFill>
                  <a:srgbClr val="000000"/>
                </a:solidFill>
              </a:rPr>
              <a:t>驱动的显示协议”，更快、更安全、更简洁。</a:t>
            </a:r>
          </a:p>
        </p:txBody>
      </p:sp>
      <p:graphicFrame>
        <p:nvGraphicFramePr>
          <p:cNvPr id="6" name="内容占位符 5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175895" y="1009015"/>
          <a:ext cx="8885555" cy="1678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5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9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说明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✅ Wayland 已成为主流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Ubuntu 22.04+、Fedora、KDE 6 默认启用Wayland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⚙️ X11 仍保留兼容层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通过 XWayland 运行旧应用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🧩 服务器与远程桌面仍使用X11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因Wayland远程方案尚不统一（PipeWire/RDP在替代）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/>
          <p:nvPr/>
        </p:nvGraphicFramePr>
        <p:xfrm>
          <a:off x="175895" y="3245485"/>
          <a:ext cx="8881110" cy="2278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0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0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0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97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桌面环境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使用的显示服务器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协议类型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7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GNOME 40+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Mutter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Wayland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7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KDE Plasma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KWin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Wayland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7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XFCE / 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Xfwm4 / Marco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X11（过渡中）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7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Weston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Weston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Wayland 参考实现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7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Xfce（旧版）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Xorg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X11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259080" y="2782570"/>
            <a:ext cx="457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b="1">
                <a:sym typeface="+mn-ea"/>
              </a:rPr>
              <a:t>主要显示服务器与环境对应关系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528"/>
            <a:ext cx="82296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buClrTx/>
              <a:buSzTx/>
              <a:buFontTx/>
            </a:pPr>
            <a:r>
              <a:rPr sz="4100">
                <a:sym typeface="+mn-ea"/>
              </a:rPr>
              <a:t>三、显示服务器层</a:t>
            </a:r>
            <a:r>
              <a:rPr lang="zh-CN" sz="4100">
                <a:sym typeface="+mn-ea"/>
              </a:rPr>
              <a:t>的实现</a:t>
            </a:r>
            <a:r>
              <a:rPr lang="en-US" altLang="zh-CN" sz="4100">
                <a:sym typeface="+mn-ea"/>
              </a:rPr>
              <a:t> Xorg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43535" y="1100455"/>
            <a:ext cx="7098030" cy="5741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Aft>
                <a:spcPct val="60000"/>
              </a:spcAft>
            </a:pPr>
            <a:r>
              <a:rPr lang="en-US" altLang="zh-CN" b="1" i="0">
                <a:solidFill>
                  <a:srgbClr val="000000"/>
                </a:solidFill>
              </a:rPr>
              <a:t>Xorg —— X11 </a:t>
            </a:r>
            <a:r>
              <a:rPr lang="zh-CN" altLang="en-US" b="1" i="0">
                <a:solidFill>
                  <a:srgbClr val="000000"/>
                </a:solidFill>
              </a:rPr>
              <a:t>协议的主要实现</a:t>
            </a:r>
          </a:p>
          <a:p>
            <a:pPr marL="0" indent="0">
              <a:buFont typeface="Arial" panose="020B0604020202090204"/>
              <a:buChar char="•"/>
            </a:pPr>
            <a:r>
              <a:rPr lang="zh-CN" altLang="en-US" b="0" i="0">
                <a:solidFill>
                  <a:srgbClr val="000000"/>
                </a:solidFill>
              </a:rPr>
              <a:t>全称：</a:t>
            </a:r>
            <a:r>
              <a:rPr lang="en-US" altLang="zh-CN" b="0" i="0">
                <a:solidFill>
                  <a:srgbClr val="000000"/>
                </a:solidFill>
              </a:rPr>
              <a:t>X.Org Server</a:t>
            </a:r>
          </a:p>
          <a:p>
            <a:pPr marL="0" indent="0">
              <a:buFont typeface="Arial" panose="020B0604020202090204"/>
              <a:buChar char="•"/>
            </a:pPr>
            <a:r>
              <a:rPr lang="zh-CN" altLang="en-US" b="0" i="0">
                <a:solidFill>
                  <a:srgbClr val="000000"/>
                </a:solidFill>
              </a:rPr>
              <a:t>作用：</a:t>
            </a:r>
            <a:r>
              <a:rPr lang="en-US" altLang="zh-CN" b="0" i="0">
                <a:solidFill>
                  <a:srgbClr val="000000"/>
                </a:solidFill>
              </a:rPr>
              <a:t>X11 </a:t>
            </a:r>
            <a:r>
              <a:rPr lang="zh-CN" altLang="en-US" b="0" i="0">
                <a:solidFill>
                  <a:srgbClr val="000000"/>
                </a:solidFill>
              </a:rPr>
              <a:t>协议的标准实现</a:t>
            </a:r>
          </a:p>
          <a:p>
            <a:pPr marL="0" indent="0">
              <a:buFont typeface="Arial" panose="020B0604020202090204"/>
              <a:buChar char="•"/>
            </a:pPr>
            <a:r>
              <a:rPr lang="zh-CN" altLang="en-US" b="0" i="0">
                <a:solidFill>
                  <a:srgbClr val="000000"/>
                </a:solidFill>
              </a:rPr>
              <a:t>所属项目：</a:t>
            </a:r>
            <a:r>
              <a:rPr lang="en-US" altLang="zh-CN" b="0" i="0">
                <a:solidFill>
                  <a:srgbClr val="000000"/>
                </a:solidFill>
              </a:rPr>
              <a:t>X.Org Foundation</a:t>
            </a:r>
          </a:p>
          <a:p>
            <a:pPr marL="0" indent="0">
              <a:buFont typeface="Arial" panose="020B0604020202090204"/>
              <a:buChar char="•"/>
            </a:pPr>
            <a:r>
              <a:rPr lang="zh-CN" altLang="en-US" b="0" i="0">
                <a:solidFill>
                  <a:srgbClr val="000000"/>
                </a:solidFill>
              </a:rPr>
              <a:t>适用桌面环境：</a:t>
            </a:r>
            <a:r>
              <a:rPr lang="en-US" altLang="zh-CN" b="0" i="0">
                <a:solidFill>
                  <a:srgbClr val="000000"/>
                </a:solidFill>
              </a:rPr>
              <a:t>GNOME</a:t>
            </a:r>
            <a:r>
              <a:rPr lang="zh-CN" altLang="en-US" b="0" i="0">
                <a:solidFill>
                  <a:srgbClr val="000000"/>
                </a:solidFill>
              </a:rPr>
              <a:t>（旧版）、</a:t>
            </a:r>
            <a:r>
              <a:rPr lang="en-US" altLang="zh-CN" b="0" i="0">
                <a:solidFill>
                  <a:srgbClr val="000000"/>
                </a:solidFill>
              </a:rPr>
              <a:t>XFCE</a:t>
            </a:r>
            <a:r>
              <a:rPr lang="zh-CN" altLang="en-US" b="0" i="0">
                <a:solidFill>
                  <a:srgbClr val="000000"/>
                </a:solidFill>
              </a:rPr>
              <a:t>、</a:t>
            </a:r>
            <a:r>
              <a:rPr lang="en-US" altLang="zh-CN" b="0" i="0">
                <a:solidFill>
                  <a:srgbClr val="000000"/>
                </a:solidFill>
              </a:rPr>
              <a:t>MATE</a:t>
            </a:r>
            <a:r>
              <a:rPr lang="zh-CN" altLang="en-US" b="0" i="0">
                <a:solidFill>
                  <a:srgbClr val="000000"/>
                </a:solidFill>
              </a:rPr>
              <a:t>、</a:t>
            </a:r>
            <a:r>
              <a:rPr lang="en-US" altLang="zh-CN" b="0" i="0">
                <a:solidFill>
                  <a:srgbClr val="000000"/>
                </a:solidFill>
              </a:rPr>
              <a:t>LXDE </a:t>
            </a:r>
            <a:r>
              <a:rPr lang="zh-CN" altLang="en-US" b="0" i="0">
                <a:solidFill>
                  <a:srgbClr val="000000"/>
                </a:solidFill>
              </a:rPr>
              <a:t>等</a:t>
            </a:r>
          </a:p>
          <a:p>
            <a:pPr indent="0" fontAlgn="auto">
              <a:spcBef>
                <a:spcPts val="600"/>
              </a:spcBef>
              <a:spcAft>
                <a:spcPts val="600"/>
              </a:spcAft>
            </a:pPr>
            <a:r>
              <a:rPr lang="zh-CN" altLang="en-US" b="1" i="0">
                <a:solidFill>
                  <a:srgbClr val="000000"/>
                </a:solidFill>
              </a:rPr>
              <a:t>⚙</a:t>
            </a:r>
            <a:r>
              <a:rPr lang="en-US" altLang="zh-CN" b="1" i="0">
                <a:solidFill>
                  <a:srgbClr val="000000"/>
                </a:solidFill>
              </a:rPr>
              <a:t>️ </a:t>
            </a:r>
            <a:r>
              <a:rPr lang="zh-CN" altLang="en-US" b="1" i="0">
                <a:solidFill>
                  <a:srgbClr val="000000"/>
                </a:solidFill>
              </a:rPr>
              <a:t>工作机制</a:t>
            </a:r>
          </a:p>
          <a:p>
            <a:pPr marL="0" indent="0"/>
            <a:r>
              <a:rPr lang="en-US" altLang="zh-CN" b="0" i="0">
                <a:solidFill>
                  <a:srgbClr val="000000"/>
                </a:solidFill>
              </a:rPr>
              <a:t>Xorg </a:t>
            </a:r>
            <a:r>
              <a:rPr lang="zh-CN" altLang="en-US" b="0" i="0">
                <a:solidFill>
                  <a:srgbClr val="000000"/>
                </a:solidFill>
              </a:rPr>
              <a:t>是一个</a:t>
            </a:r>
            <a:r>
              <a:rPr lang="en-US" altLang="zh-CN" b="0" i="0">
                <a:solidFill>
                  <a:srgbClr val="000000"/>
                </a:solidFill>
              </a:rPr>
              <a:t> X Server</a:t>
            </a:r>
            <a:r>
              <a:rPr lang="zh-CN" altLang="en-US" b="0" i="0">
                <a:solidFill>
                  <a:srgbClr val="000000"/>
                </a:solidFill>
              </a:rPr>
              <a:t>（显示服务器），它</a:t>
            </a:r>
          </a:p>
          <a:p>
            <a:pPr marL="0" indent="0">
              <a:buAutoNum type="arabicPeriod"/>
            </a:pPr>
            <a:r>
              <a:rPr lang="zh-CN" altLang="en-US" b="0" i="0">
                <a:solidFill>
                  <a:srgbClr val="000000"/>
                </a:solidFill>
              </a:rPr>
              <a:t>与硬件驱动（</a:t>
            </a:r>
            <a:r>
              <a:rPr lang="en-US" altLang="zh-CN" b="0" i="0">
                <a:solidFill>
                  <a:srgbClr val="000000"/>
                </a:solidFill>
              </a:rPr>
              <a:t>GPU</a:t>
            </a:r>
            <a:r>
              <a:rPr lang="zh-CN" altLang="en-US" b="0" i="0">
                <a:solidFill>
                  <a:srgbClr val="000000"/>
                </a:solidFill>
              </a:rPr>
              <a:t>）通信；</a:t>
            </a:r>
          </a:p>
          <a:p>
            <a:pPr marL="0" indent="0">
              <a:buAutoNum type="arabicPeriod"/>
            </a:pPr>
            <a:r>
              <a:rPr lang="zh-CN" altLang="en-US" b="0" i="0">
                <a:solidFill>
                  <a:srgbClr val="000000"/>
                </a:solidFill>
              </a:rPr>
              <a:t>接收各应用程序（</a:t>
            </a:r>
            <a:r>
              <a:rPr lang="en-US" altLang="zh-CN" b="0" i="0">
                <a:solidFill>
                  <a:srgbClr val="000000"/>
                </a:solidFill>
              </a:rPr>
              <a:t>X Client</a:t>
            </a:r>
            <a:r>
              <a:rPr lang="zh-CN" altLang="en-US" b="0" i="0">
                <a:solidFill>
                  <a:srgbClr val="000000"/>
                </a:solidFill>
              </a:rPr>
              <a:t>）的绘图请求；</a:t>
            </a:r>
          </a:p>
          <a:p>
            <a:pPr marL="0" indent="0">
              <a:buAutoNum type="arabicPeriod"/>
            </a:pPr>
            <a:r>
              <a:rPr lang="zh-CN" altLang="en-US" b="0" i="0">
                <a:solidFill>
                  <a:srgbClr val="000000"/>
                </a:solidFill>
              </a:rPr>
              <a:t>把这些请求合成到屏幕上。</a:t>
            </a:r>
          </a:p>
          <a:p>
            <a:pPr marL="0" indent="0">
              <a:buNone/>
            </a:pPr>
            <a:endParaRPr lang="zh-CN" altLang="en-US" b="0" i="0">
              <a:solidFill>
                <a:srgbClr val="000000"/>
              </a:solidFill>
            </a:endParaRPr>
          </a:p>
          <a:p>
            <a:pPr marL="0" algn="l">
              <a:spcBef>
                <a:spcPts val="600"/>
              </a:spcBef>
              <a:spcAft>
                <a:spcPts val="600"/>
              </a:spcAft>
              <a:buClrTx/>
              <a:buSzTx/>
              <a:buFontTx/>
            </a:pPr>
            <a:r>
              <a:rPr lang="zh-CN" altLang="en-US" b="1" i="0">
                <a:solidFill>
                  <a:srgbClr val="000000"/>
                </a:solidFill>
              </a:rPr>
              <a:t>🧩 示例流程：</a:t>
            </a:r>
          </a:p>
          <a:p>
            <a:pPr marL="0" indent="0"/>
            <a:r>
              <a:rPr lang="en-US" altLang="zh-CN" b="0" i="0">
                <a:solidFill>
                  <a:srgbClr val="000000"/>
                </a:solidFill>
              </a:rPr>
              <a:t>[Firefox] → [Xlib] → [X Protocol] → [Xorg Server] → [GPU Framebuffer]
</a:t>
            </a:r>
          </a:p>
          <a:p>
            <a:pPr marL="0" algn="l">
              <a:spcBef>
                <a:spcPts val="600"/>
              </a:spcBef>
              <a:spcAft>
                <a:spcPts val="600"/>
              </a:spcAft>
              <a:buClrTx/>
              <a:buSzTx/>
              <a:buFontTx/>
            </a:pPr>
            <a:r>
              <a:rPr lang="zh-CN" altLang="en-US" b="1" i="0">
                <a:solidFill>
                  <a:srgbClr val="000000"/>
                </a:solidFill>
              </a:rPr>
              <a:t>✅ 优点</a:t>
            </a:r>
          </a:p>
          <a:p>
            <a:pPr marL="0" indent="0">
              <a:buFont typeface="Arial" panose="020B0604020202090204"/>
              <a:buChar char="•"/>
            </a:pPr>
            <a:r>
              <a:rPr lang="zh-CN" altLang="en-US" b="0" i="0">
                <a:solidFill>
                  <a:srgbClr val="000000"/>
                </a:solidFill>
              </a:rPr>
              <a:t>历史悠久，兼容所有旧程序；</a:t>
            </a:r>
          </a:p>
          <a:p>
            <a:pPr marL="0" indent="0">
              <a:buFont typeface="Arial" panose="020B0604020202090204"/>
              <a:buChar char="•"/>
            </a:pPr>
            <a:r>
              <a:rPr lang="zh-CN" altLang="en-US" b="0" i="0">
                <a:solidFill>
                  <a:srgbClr val="000000"/>
                </a:solidFill>
              </a:rPr>
              <a:t>支持远程显示（</a:t>
            </a:r>
            <a:r>
              <a:rPr lang="en-US" altLang="zh-CN" b="0" i="0">
                <a:solidFill>
                  <a:srgbClr val="000000"/>
                </a:solidFill>
              </a:rPr>
              <a:t>X Forwarding</a:t>
            </a:r>
            <a:r>
              <a:rPr lang="zh-CN" altLang="en-US" b="0" i="0">
                <a:solidFill>
                  <a:srgbClr val="000000"/>
                </a:solidFill>
              </a:rPr>
              <a:t>）；</a:t>
            </a:r>
          </a:p>
          <a:p>
            <a:pPr marL="0" indent="0">
              <a:buFont typeface="Arial" panose="020B0604020202090204"/>
              <a:buChar char="•"/>
            </a:pPr>
            <a:r>
              <a:rPr lang="zh-CN" altLang="en-US" b="0" i="0">
                <a:solidFill>
                  <a:srgbClr val="000000"/>
                </a:solidFill>
              </a:rPr>
              <a:t>模块化驱动架构。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245100" y="2895600"/>
            <a:ext cx="3739515" cy="19081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>
              <a:spcAft>
                <a:spcPct val="60000"/>
              </a:spcAft>
            </a:pPr>
            <a:r>
              <a:rPr lang="en-US" altLang="zh-CN" sz="2200" b="1" i="0">
                <a:solidFill>
                  <a:srgbClr val="000000"/>
                </a:solidFill>
              </a:rPr>
              <a:t>❌ </a:t>
            </a:r>
            <a:r>
              <a:rPr lang="zh-CN" altLang="en-US" sz="2200" b="1" i="0">
                <a:solidFill>
                  <a:srgbClr val="000000"/>
                </a:solidFill>
              </a:rPr>
              <a:t>缺点</a:t>
            </a:r>
          </a:p>
          <a:p>
            <a:pPr marL="0" indent="0">
              <a:buFont typeface="Arial" panose="020B0604020202090204"/>
              <a:buChar char="•"/>
            </a:pPr>
            <a:r>
              <a:rPr lang="zh-CN" altLang="en-US" sz="1600" b="0" i="0">
                <a:solidFill>
                  <a:srgbClr val="000000"/>
                </a:solidFill>
              </a:rPr>
              <a:t>延迟高；</a:t>
            </a:r>
          </a:p>
          <a:p>
            <a:pPr marL="0" indent="0">
              <a:buFont typeface="Arial" panose="020B0604020202090204"/>
              <a:buChar char="•"/>
            </a:pPr>
            <a:r>
              <a:rPr lang="zh-CN" altLang="en-US" sz="1600" b="0" i="0">
                <a:solidFill>
                  <a:srgbClr val="000000"/>
                </a:solidFill>
              </a:rPr>
              <a:t>安全性弱；</a:t>
            </a:r>
          </a:p>
          <a:p>
            <a:pPr marL="0" indent="0">
              <a:buFont typeface="Arial" panose="020B0604020202090204"/>
              <a:buChar char="•"/>
            </a:pPr>
            <a:r>
              <a:rPr lang="zh-CN" altLang="en-US" sz="1600" b="0" i="0">
                <a:solidFill>
                  <a:srgbClr val="000000"/>
                </a:solidFill>
              </a:rPr>
              <a:t>体系过老；</a:t>
            </a:r>
          </a:p>
          <a:p>
            <a:pPr marL="0" indent="0">
              <a:buFont typeface="Arial" panose="020B0604020202090204"/>
              <a:buChar char="•"/>
            </a:pPr>
            <a:r>
              <a:rPr lang="zh-CN" altLang="en-US" sz="1600" b="0" i="0">
                <a:solidFill>
                  <a:srgbClr val="000000"/>
                </a:solidFill>
              </a:rPr>
              <a:t>依赖外部合成器（如 </a:t>
            </a:r>
            <a:r>
              <a:rPr lang="en-US" altLang="zh-CN" sz="1600" b="0" i="0">
                <a:solidFill>
                  <a:srgbClr val="000000"/>
                </a:solidFill>
              </a:rPr>
              <a:t>Compton/Picom</a:t>
            </a:r>
            <a:r>
              <a:rPr lang="zh-CN" altLang="en-US" sz="1600" b="0" i="0">
                <a:solidFill>
                  <a:srgbClr val="000000"/>
                </a:solidFill>
              </a:rPr>
              <a:t>）才能实现透明、动画。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528"/>
            <a:ext cx="82296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buClrTx/>
              <a:buSzTx/>
              <a:buFontTx/>
            </a:pPr>
            <a:r>
              <a:rPr sz="4100">
                <a:sym typeface="+mn-ea"/>
              </a:rPr>
              <a:t>三、显示服务器层</a:t>
            </a:r>
            <a:r>
              <a:rPr lang="zh-CN" sz="4100">
                <a:sym typeface="+mn-ea"/>
              </a:rPr>
              <a:t>的实现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57200" y="1040130"/>
            <a:ext cx="8531225" cy="12966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spcAft>
                <a:spcPts val="600"/>
              </a:spcAft>
            </a:pPr>
            <a:r>
              <a:rPr lang="en-US" altLang="zh-CN" sz="2300" b="1" i="0">
                <a:solidFill>
                  <a:srgbClr val="000000"/>
                </a:solidFill>
              </a:rPr>
              <a:t>Wayland </a:t>
            </a:r>
            <a:r>
              <a:rPr lang="zh-CN" altLang="en-US" sz="2300" b="1" i="0">
                <a:solidFill>
                  <a:srgbClr val="000000"/>
                </a:solidFill>
              </a:rPr>
              <a:t>世界中的三大合成器：</a:t>
            </a:r>
            <a:r>
              <a:rPr lang="en-US" altLang="zh-CN" sz="2300" b="1" i="0">
                <a:solidFill>
                  <a:srgbClr val="000000"/>
                </a:solidFill>
              </a:rPr>
              <a:t>Weston</a:t>
            </a:r>
            <a:r>
              <a:rPr lang="zh-CN" altLang="en-US" sz="2300" b="1" i="0">
                <a:solidFill>
                  <a:srgbClr val="000000"/>
                </a:solidFill>
              </a:rPr>
              <a:t>、</a:t>
            </a:r>
            <a:r>
              <a:rPr lang="en-US" altLang="zh-CN" sz="2300" b="1" i="0">
                <a:solidFill>
                  <a:srgbClr val="000000"/>
                </a:solidFill>
              </a:rPr>
              <a:t>Mutter</a:t>
            </a:r>
            <a:r>
              <a:rPr lang="zh-CN" altLang="en-US" sz="2300" b="1" i="0">
                <a:solidFill>
                  <a:srgbClr val="000000"/>
                </a:solidFill>
              </a:rPr>
              <a:t>、</a:t>
            </a:r>
            <a:r>
              <a:rPr lang="en-US" altLang="zh-CN" sz="2300" b="1" i="0">
                <a:solidFill>
                  <a:srgbClr val="000000"/>
                </a:solidFill>
              </a:rPr>
              <a:t>KWin</a:t>
            </a:r>
          </a:p>
          <a:p>
            <a:pPr marL="0" indent="0">
              <a:lnSpc>
                <a:spcPct val="120000"/>
              </a:lnSpc>
            </a:pPr>
            <a:r>
              <a:rPr lang="en-US" altLang="zh-CN" sz="2100" b="0" i="0">
                <a:solidFill>
                  <a:srgbClr val="000000"/>
                </a:solidFill>
              </a:rPr>
              <a:t>Wayland </a:t>
            </a:r>
            <a:r>
              <a:rPr lang="zh-CN" altLang="en-US" sz="2100" b="0" i="0">
                <a:solidFill>
                  <a:srgbClr val="000000"/>
                </a:solidFill>
              </a:rPr>
              <a:t>不再有 “</a:t>
            </a:r>
            <a:r>
              <a:rPr lang="en-US" altLang="zh-CN" sz="2100" b="0" i="0">
                <a:solidFill>
                  <a:srgbClr val="000000"/>
                </a:solidFill>
              </a:rPr>
              <a:t>X Server”</a:t>
            </a:r>
            <a:r>
              <a:rPr lang="zh-CN" altLang="en-US" sz="2100" b="0" i="0">
                <a:solidFill>
                  <a:srgbClr val="000000"/>
                </a:solidFill>
              </a:rPr>
              <a:t>，而是由</a:t>
            </a:r>
            <a:r>
              <a:rPr lang="en-US" altLang="zh-CN" sz="2100" b="0" i="0">
                <a:solidFill>
                  <a:srgbClr val="000000"/>
                </a:solidFill>
              </a:rPr>
              <a:t> Compositor</a:t>
            </a:r>
            <a:r>
              <a:rPr lang="zh-CN" altLang="en-US" sz="2100" b="0" i="0">
                <a:solidFill>
                  <a:srgbClr val="000000"/>
                </a:solidFill>
              </a:rPr>
              <a:t>（合成器）</a:t>
            </a:r>
            <a:r>
              <a:rPr lang="en-US" altLang="zh-CN" sz="2100" b="0" i="0">
                <a:solidFill>
                  <a:srgbClr val="000000"/>
                </a:solidFill>
              </a:rPr>
              <a:t> </a:t>
            </a:r>
            <a:r>
              <a:rPr lang="zh-CN" altLang="en-US" sz="2100" b="0" i="0">
                <a:solidFill>
                  <a:srgbClr val="000000"/>
                </a:solidFill>
              </a:rPr>
              <a:t>直接与应用程序通信。每个 </a:t>
            </a:r>
            <a:r>
              <a:rPr lang="en-US" altLang="zh-CN" sz="2100" b="0" i="0">
                <a:solidFill>
                  <a:srgbClr val="000000"/>
                </a:solidFill>
              </a:rPr>
              <a:t>Compositor </a:t>
            </a:r>
            <a:r>
              <a:rPr lang="zh-CN" altLang="en-US" sz="2100" b="0" i="0">
                <a:solidFill>
                  <a:srgbClr val="000000"/>
                </a:solidFill>
              </a:rPr>
              <a:t>都是一个 </a:t>
            </a:r>
            <a:r>
              <a:rPr lang="en-US" altLang="zh-CN" sz="2100" b="0" i="0">
                <a:solidFill>
                  <a:srgbClr val="000000"/>
                </a:solidFill>
              </a:rPr>
              <a:t>Wayland </a:t>
            </a:r>
            <a:r>
              <a:rPr lang="zh-CN" altLang="en-US" sz="2100" b="0" i="0">
                <a:solidFill>
                  <a:srgbClr val="000000"/>
                </a:solidFill>
              </a:rPr>
              <a:t>显示服务器的实现。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30225" y="3429000"/>
            <a:ext cx="6240145" cy="3683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zh-CN" altLang="en-US"/>
              <a:t>应用 → Wayland Protocol → </a:t>
            </a:r>
            <a:r>
              <a:rPr lang="zh-CN" altLang="en-US" b="1" u="sng">
                <a:latin typeface="汉仪大黑简" panose="02010600000101010101" charset="-122"/>
                <a:ea typeface="汉仪大黑简" panose="02010600000101010101" charset="-122"/>
                <a:cs typeface="Calibri Bold" panose="020F0702030404030204" charset="0"/>
              </a:rPr>
              <a:t>Weston</a:t>
            </a:r>
            <a:r>
              <a:rPr lang="zh-CN" altLang="en-US"/>
              <a:t> Compositor → GPU输出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67360" y="4269105"/>
            <a:ext cx="2665730" cy="14763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zh-CN" altLang="en-US"/>
              <a:t>GNOME Shell (JS层)</a:t>
            </a:r>
          </a:p>
          <a:p>
            <a:r>
              <a:rPr lang="zh-CN" altLang="en-US"/>
              <a:t>     ↓</a:t>
            </a:r>
          </a:p>
          <a:p>
            <a:r>
              <a:rPr lang="zh-CN" altLang="en-US" u="sng">
                <a:latin typeface="标准粗黑" panose="02000503000000000000" charset="-122"/>
                <a:ea typeface="标准粗黑" panose="02000503000000000000" charset="-122"/>
              </a:rPr>
              <a:t>Mutter</a:t>
            </a:r>
            <a:r>
              <a:rPr lang="zh-CN" altLang="en-US"/>
              <a:t> (C层, 图形合成)</a:t>
            </a:r>
          </a:p>
          <a:p>
            <a:r>
              <a:rPr lang="zh-CN" altLang="en-US"/>
              <a:t>     ↓</a:t>
            </a:r>
          </a:p>
          <a:p>
            <a:r>
              <a:rPr lang="zh-CN" altLang="en-US"/>
              <a:t>Wayland / OpenGL / KMS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335655" y="4269105"/>
            <a:ext cx="3423285" cy="14763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zh-CN" altLang="en-US"/>
              <a:t>KDE Plasma Shell</a:t>
            </a:r>
          </a:p>
          <a:p>
            <a:r>
              <a:rPr lang="zh-CN" altLang="en-US"/>
              <a:t>     ↓</a:t>
            </a:r>
          </a:p>
          <a:p>
            <a:r>
              <a:rPr lang="zh-CN" altLang="en-US" u="sng">
                <a:latin typeface="标准粗黑" panose="02000503000000000000" charset="-122"/>
                <a:ea typeface="标准粗黑" panose="02000503000000000000" charset="-122"/>
              </a:rPr>
              <a:t>KWin</a:t>
            </a:r>
            <a:r>
              <a:rPr lang="zh-CN" altLang="en-US"/>
              <a:t> (Compositor + WM)</a:t>
            </a:r>
          </a:p>
          <a:p>
            <a:r>
              <a:rPr lang="zh-CN" altLang="en-US"/>
              <a:t>     ↓</a:t>
            </a:r>
          </a:p>
          <a:p>
            <a:r>
              <a:rPr lang="zh-CN" altLang="en-US"/>
              <a:t>Wayland / OpenGL / Vulkan / KMS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67360" y="292925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软件结构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528"/>
            <a:ext cx="82296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buClrTx/>
              <a:buSzTx/>
              <a:buFontTx/>
            </a:pPr>
            <a:r>
              <a:rPr sz="4100">
                <a:sym typeface="+mn-ea"/>
              </a:rPr>
              <a:t>三、显示服务器层</a:t>
            </a:r>
            <a:r>
              <a:rPr lang="zh-CN" sz="4100">
                <a:sym typeface="+mn-ea"/>
              </a:rPr>
              <a:t>的实现</a:t>
            </a:r>
          </a:p>
        </p:txBody>
      </p:sp>
      <p:graphicFrame>
        <p:nvGraphicFramePr>
          <p:cNvPr id="12" name="表格 11"/>
          <p:cNvGraphicFramePr/>
          <p:nvPr>
            <p:custDataLst>
              <p:tags r:id="rId1"/>
            </p:custDataLst>
          </p:nvPr>
        </p:nvGraphicFramePr>
        <p:xfrm>
          <a:off x="259715" y="1339215"/>
          <a:ext cx="8624570" cy="197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2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2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3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说明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✅ GNOME（Mutter）默认使用Wayland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从 GNOME 40 起，Wayland 模式默认启用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✅ KDE Plasma 6 (KWin) 默认Wayland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KDE 官方已宣布转向 Wayland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⚙️ Xorg 仍被XFCE/MATE广泛使用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因兼容性好，资源占用低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🧩 Weston 仅用于开发与嵌入式验证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不用于日常桌面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259715" y="970915"/>
            <a:ext cx="2475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b="1">
                <a:latin typeface="标准粗黑" panose="02000503000000000000" charset="-122"/>
                <a:ea typeface="标准粗黑" panose="02000503000000000000" charset="-122"/>
                <a:cs typeface="标准粗黑" panose="02000503000000000000" charset="-122"/>
                <a:sym typeface="+mn-ea"/>
              </a:rPr>
              <a:t>现实状况（截至 2025）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187325" y="4006215"/>
          <a:ext cx="3833495" cy="1779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4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9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KWin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归属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KDE 项目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作用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KDE Plasma 桌面的窗口管理器 + 合成器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7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协议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支持 X11 与 Wayland 双模式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4112895" y="3653155"/>
            <a:ext cx="4918075" cy="3157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</a:pPr>
            <a:r>
              <a:rPr lang="zh-CN" altLang="en-US" b="0" i="0">
                <a:solidFill>
                  <a:srgbClr val="000000"/>
                </a:solidFill>
              </a:rPr>
              <a:t>🔹 特点：</a:t>
            </a:r>
          </a:p>
          <a:p>
            <a:pPr marL="0" indent="0">
              <a:lnSpc>
                <a:spcPct val="120000"/>
              </a:lnSpc>
              <a:buFont typeface="Arial" panose="020B0604020202090204"/>
              <a:buChar char="•"/>
            </a:pPr>
            <a:r>
              <a:rPr lang="zh-CN" altLang="en-US" b="0" i="0">
                <a:solidFill>
                  <a:srgbClr val="000000"/>
                </a:solidFill>
              </a:rPr>
              <a:t>高度可定制（特效、阴影、模糊、虚拟桌面）；</a:t>
            </a:r>
          </a:p>
          <a:p>
            <a:pPr marL="0" indent="0">
              <a:lnSpc>
                <a:spcPct val="120000"/>
              </a:lnSpc>
              <a:buFont typeface="Arial" panose="020B0604020202090204"/>
              <a:buChar char="•"/>
            </a:pPr>
            <a:r>
              <a:rPr lang="zh-CN" altLang="en-US" b="0" i="0">
                <a:solidFill>
                  <a:srgbClr val="000000"/>
                </a:solidFill>
              </a:rPr>
              <a:t>对 </a:t>
            </a:r>
            <a:r>
              <a:rPr lang="en-US" altLang="zh-CN" b="0" i="0">
                <a:solidFill>
                  <a:srgbClr val="000000"/>
                </a:solidFill>
              </a:rPr>
              <a:t>GPU </a:t>
            </a:r>
            <a:r>
              <a:rPr lang="zh-CN" altLang="en-US" b="0" i="0">
                <a:solidFill>
                  <a:srgbClr val="000000"/>
                </a:solidFill>
              </a:rPr>
              <a:t>合成优化极佳；</a:t>
            </a:r>
          </a:p>
          <a:p>
            <a:pPr marL="0" indent="0">
              <a:lnSpc>
                <a:spcPct val="120000"/>
              </a:lnSpc>
              <a:buFont typeface="Arial" panose="020B0604020202090204"/>
              <a:buChar char="•"/>
            </a:pPr>
            <a:r>
              <a:rPr lang="en-US" altLang="zh-CN" b="0" i="0">
                <a:solidFill>
                  <a:srgbClr val="000000"/>
                </a:solidFill>
              </a:rPr>
              <a:t>KDE 6 </a:t>
            </a:r>
            <a:r>
              <a:rPr lang="zh-CN" altLang="en-US" b="0" i="0">
                <a:solidFill>
                  <a:srgbClr val="000000"/>
                </a:solidFill>
              </a:rPr>
              <a:t>已完全转向 </a:t>
            </a:r>
            <a:r>
              <a:rPr lang="en-US" altLang="zh-CN" b="0" i="0">
                <a:solidFill>
                  <a:srgbClr val="000000"/>
                </a:solidFill>
              </a:rPr>
              <a:t>Wayland</a:t>
            </a:r>
            <a:r>
              <a:rPr lang="zh-CN" altLang="en-US" b="0" i="0">
                <a:solidFill>
                  <a:srgbClr val="000000"/>
                </a:solidFill>
              </a:rPr>
              <a:t>；</a:t>
            </a:r>
          </a:p>
          <a:p>
            <a:pPr marL="0" indent="0">
              <a:lnSpc>
                <a:spcPct val="120000"/>
              </a:lnSpc>
              <a:buFont typeface="Arial" panose="020B0604020202090204"/>
              <a:buChar char="•"/>
            </a:pPr>
            <a:r>
              <a:rPr lang="zh-CN" altLang="en-US" b="0" i="0">
                <a:solidFill>
                  <a:srgbClr val="000000"/>
                </a:solidFill>
              </a:rPr>
              <a:t>同时保留 </a:t>
            </a:r>
            <a:r>
              <a:rPr lang="en-US" altLang="zh-CN" b="0" i="0">
                <a:solidFill>
                  <a:srgbClr val="000000"/>
                </a:solidFill>
              </a:rPr>
              <a:t>X11 </a:t>
            </a:r>
            <a:r>
              <a:rPr lang="zh-CN" altLang="en-US" b="0" i="0">
                <a:solidFill>
                  <a:srgbClr val="000000"/>
                </a:solidFill>
              </a:rPr>
              <a:t>支持模式（</a:t>
            </a:r>
            <a:r>
              <a:rPr lang="en-US" altLang="zh-CN" b="0" i="0">
                <a:solidFill>
                  <a:srgbClr val="000000"/>
                </a:solidFill>
              </a:rPr>
              <a:t>--platform xcb</a:t>
            </a:r>
            <a:r>
              <a:rPr lang="zh-CN" altLang="en-US" b="0" i="0">
                <a:solidFill>
                  <a:srgbClr val="000000"/>
                </a:solidFill>
              </a:rPr>
              <a:t>）。</a:t>
            </a:r>
          </a:p>
          <a:p>
            <a:pPr indent="0" fontAlgn="auto">
              <a:lnSpc>
                <a:spcPct val="120000"/>
              </a:lnSpc>
              <a:spcBef>
                <a:spcPts val="600"/>
              </a:spcBef>
            </a:pPr>
            <a:r>
              <a:rPr lang="zh-CN" altLang="en-US" b="0" i="0">
                <a:solidFill>
                  <a:srgbClr val="000000"/>
                </a:solidFill>
              </a:rPr>
              <a:t>🔹 技术亮点：</a:t>
            </a:r>
          </a:p>
          <a:p>
            <a:pPr marL="0" indent="0">
              <a:lnSpc>
                <a:spcPct val="120000"/>
              </a:lnSpc>
              <a:buFont typeface="Arial" panose="020B0604020202090204"/>
              <a:buChar char="•"/>
            </a:pPr>
            <a:r>
              <a:rPr lang="zh-CN" altLang="en-US" b="0" i="0">
                <a:solidFill>
                  <a:srgbClr val="000000"/>
                </a:solidFill>
              </a:rPr>
              <a:t>使用</a:t>
            </a:r>
            <a:r>
              <a:rPr lang="en-US" altLang="zh-CN" b="0" i="0">
                <a:solidFill>
                  <a:srgbClr val="000000"/>
                </a:solidFill>
              </a:rPr>
              <a:t> OpenGL ES / Vulkan </a:t>
            </a:r>
            <a:r>
              <a:rPr lang="zh-CN" altLang="en-US" b="0" i="0">
                <a:solidFill>
                  <a:srgbClr val="000000"/>
                </a:solidFill>
              </a:rPr>
              <a:t>渲染；</a:t>
            </a:r>
          </a:p>
          <a:p>
            <a:pPr marL="0" indent="0">
              <a:lnSpc>
                <a:spcPct val="120000"/>
              </a:lnSpc>
              <a:buFont typeface="Arial" panose="020B0604020202090204"/>
              <a:buChar char="•"/>
            </a:pPr>
            <a:r>
              <a:rPr lang="zh-CN" altLang="en-US" b="0" i="0">
                <a:solidFill>
                  <a:srgbClr val="000000"/>
                </a:solidFill>
              </a:rPr>
              <a:t>完善的插件系统；</a:t>
            </a:r>
          </a:p>
          <a:p>
            <a:pPr marL="0" indent="0">
              <a:lnSpc>
                <a:spcPct val="120000"/>
              </a:lnSpc>
              <a:buFont typeface="Arial" panose="020B0604020202090204"/>
              <a:buChar char="•"/>
            </a:pPr>
            <a:r>
              <a:rPr lang="zh-CN" altLang="en-US" b="0" i="0">
                <a:solidFill>
                  <a:srgbClr val="000000"/>
                </a:solidFill>
              </a:rPr>
              <a:t>提供脚本接口（</a:t>
            </a:r>
            <a:r>
              <a:rPr lang="en-US" altLang="zh-CN" b="0" i="0">
                <a:solidFill>
                  <a:srgbClr val="000000"/>
                </a:solidFill>
              </a:rPr>
              <a:t>KWin Scripts, QML</a:t>
            </a:r>
            <a:r>
              <a:rPr lang="zh-CN" altLang="en-US" b="0" i="0">
                <a:solidFill>
                  <a:srgbClr val="000000"/>
                </a:solidFill>
              </a:rPr>
              <a:t>）。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093210" y="331025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Calibri Bold" panose="020F0702030404030204" charset="0"/>
                <a:cs typeface="Calibri Bold" panose="020F0702030404030204" charset="0"/>
              </a:rPr>
              <a:t>KWin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528"/>
            <a:ext cx="8229600" cy="11430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lvl="0" algn="ctr">
              <a:buClrTx/>
              <a:buSzTx/>
              <a:buFontTx/>
            </a:pPr>
            <a:r>
              <a:rPr sz="4100">
                <a:sym typeface="+mn-ea"/>
              </a:rPr>
              <a:t>三、显示服务器层</a:t>
            </a:r>
            <a:r>
              <a:rPr lang="zh-CN" sz="4100">
                <a:sym typeface="+mn-ea"/>
              </a:rPr>
              <a:t>的实现技术比较表</a:t>
            </a: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60960" y="927100"/>
          <a:ext cx="9036685" cy="554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6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5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2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5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72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8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属性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Xorg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Weston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Mutter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KWin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3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协议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X11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Wayland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Wayland/X11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Wayland/X11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类型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显示服务器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Wayland合成器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GNOME合成器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KDE合成器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3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使用环境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XFCE/MATE 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测试环境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GNOME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KDE Plasma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8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GPU加速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有限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8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特效/动画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外部Compton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简单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GNOME内置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高度可定制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远程显示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支持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当前状态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维护中（老架构）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活跃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活跃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活跃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435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默认桌面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Weston Demo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GNOME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100"/>
                        <a:t>KDE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0808"/>
            <a:ext cx="82296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buClrTx/>
              <a:buSzTx/>
              <a:buFontTx/>
            </a:pPr>
            <a:r>
              <a:rPr sz="4100">
                <a:sym typeface="+mn-ea"/>
              </a:rPr>
              <a:t>四、GUI开发工具包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06170"/>
            <a:ext cx="8229600" cy="1407160"/>
          </a:xfrm>
        </p:spPr>
        <p:txBody>
          <a:bodyPr/>
          <a:lstStyle/>
          <a:p>
            <a:r>
              <a:rPr sz="2400"/>
              <a:t>1. GTK（GIMP Toolkit）：C语言实现，GNOME核心</a:t>
            </a:r>
          </a:p>
          <a:p>
            <a:r>
              <a:rPr sz="2400"/>
              <a:t>2. Qt：C++实现，KDE核心</a:t>
            </a:r>
          </a:p>
          <a:p>
            <a:r>
              <a:rPr sz="2400"/>
              <a:t>3. wxWidgets / FLTK / EFL：其他跨平台或轻量工具包</a:t>
            </a: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635" y="2513330"/>
          <a:ext cx="9143365" cy="258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21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94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53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全称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编程语言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主要用途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典型桌面环境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GTK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GIMP Toolkit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C</a:t>
                      </a:r>
                    </a:p>
                    <a:p>
                      <a:pPr>
                        <a:buNone/>
                      </a:pPr>
                      <a:r>
                        <a:rPr lang="zh-CN" altLang="en-US"/>
                        <a:t>（支持Python/JavaScript等绑定）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Linux 原生桌面程序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GNOME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Qt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Qt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C++</a:t>
                      </a:r>
                    </a:p>
                    <a:p>
                      <a:pPr>
                        <a:buNone/>
                      </a:pPr>
                      <a:r>
                        <a:rPr lang="zh-CN" altLang="en-US"/>
                        <a:t>（可绑定Python等）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跨平台桌面与嵌入式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KDE Plasma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51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wxWidgets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wxWidgets 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C++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轻量级跨平台原生GUI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无绑定环境，跨系统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9525" y="5398770"/>
            <a:ext cx="9133840" cy="11988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</a:pPr>
            <a:r>
              <a:rPr lang="zh-CN" altLang="en-US" sz="1600" b="0" i="0">
                <a:solidFill>
                  <a:srgbClr val="000000"/>
                </a:solidFill>
              </a:rPr>
              <a:t>三者的核心目标相似：</a:t>
            </a:r>
            <a:r>
              <a:rPr lang="en-US" altLang="zh-CN" sz="1600" b="0" i="0">
                <a:solidFill>
                  <a:srgbClr val="000000"/>
                </a:solidFill>
              </a:rPr>
              <a:t> : </a:t>
            </a:r>
            <a:r>
              <a:rPr lang="zh-CN" altLang="en-US" sz="1600" b="0" i="0">
                <a:solidFill>
                  <a:srgbClr val="000000"/>
                </a:solidFill>
              </a:rPr>
              <a:t>提供统一的</a:t>
            </a:r>
            <a:r>
              <a:rPr lang="en-US" altLang="zh-CN" sz="1600" b="0" i="0">
                <a:solidFill>
                  <a:srgbClr val="000000"/>
                </a:solidFill>
              </a:rPr>
              <a:t>API</a:t>
            </a:r>
            <a:r>
              <a:rPr lang="zh-CN" altLang="en-US" sz="1600" b="0" i="0">
                <a:solidFill>
                  <a:srgbClr val="000000"/>
                </a:solidFill>
              </a:rPr>
              <a:t>（</a:t>
            </a:r>
            <a:r>
              <a:rPr lang="en-US" altLang="zh-CN" sz="1600" b="0" i="0">
                <a:solidFill>
                  <a:srgbClr val="000000"/>
                </a:solidFill>
              </a:rPr>
              <a:t>Application Programming Interface</a:t>
            </a:r>
            <a:r>
              <a:rPr lang="zh-CN" altLang="en-US" sz="1600" b="0" i="0">
                <a:solidFill>
                  <a:srgbClr val="000000"/>
                </a:solidFill>
              </a:rPr>
              <a:t>，应用程序接口），让开发者无需直接操作</a:t>
            </a:r>
            <a:r>
              <a:rPr lang="en-US" altLang="zh-CN" sz="1600" b="0" i="0">
                <a:solidFill>
                  <a:srgbClr val="000000"/>
                </a:solidFill>
              </a:rPr>
              <a:t>X11/Wayland</a:t>
            </a:r>
            <a:r>
              <a:rPr lang="zh-CN" altLang="en-US" sz="1600" b="0" i="0">
                <a:solidFill>
                  <a:srgbClr val="000000"/>
                </a:solidFill>
              </a:rPr>
              <a:t>，就能构建窗口、按钮、菜单等</a:t>
            </a:r>
            <a:r>
              <a:rPr lang="en-US" altLang="zh-CN" sz="1600" b="0" i="0">
                <a:solidFill>
                  <a:srgbClr val="000000"/>
                </a:solidFill>
              </a:rPr>
              <a:t>UI</a:t>
            </a:r>
            <a:r>
              <a:rPr lang="zh-CN" altLang="en-US" sz="1600" b="0" i="0">
                <a:solidFill>
                  <a:srgbClr val="000000"/>
                </a:solidFill>
              </a:rPr>
              <a:t>元素。</a:t>
            </a:r>
          </a:p>
          <a:p>
            <a:pPr marL="0" indent="0">
              <a:lnSpc>
                <a:spcPct val="150000"/>
              </a:lnSpc>
            </a:pPr>
            <a:r>
              <a:rPr lang="zh-CN" altLang="en-US" sz="1600" b="0" i="0">
                <a:solidFill>
                  <a:srgbClr val="000000"/>
                </a:solidFill>
              </a:rPr>
              <a:t>GTK 代表“纯Linux派”，Qt 是“跨平台王者”，</a:t>
            </a:r>
            <a:r>
              <a:rPr lang="en-US" altLang="zh-CN" sz="1600" b="0" i="0">
                <a:solidFill>
                  <a:srgbClr val="000000"/>
                </a:solidFill>
              </a:rPr>
              <a:t> </a:t>
            </a:r>
            <a:r>
              <a:rPr lang="zh-CN" altLang="en-US" sz="1600" b="0" i="0">
                <a:solidFill>
                  <a:srgbClr val="000000"/>
                </a:solidFill>
              </a:rPr>
              <a:t>wxWidgets 是“原生外观轻量派”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6035" y="1145540"/>
            <a:ext cx="2972435" cy="4991100"/>
          </a:xfrm>
          <a:prstGeom prst="rect">
            <a:avLst/>
          </a:prstGeom>
          <a:gradFill>
            <a:gsLst>
              <a:gs pos="50000">
                <a:srgbClr val="F6EDE1"/>
              </a:gs>
              <a:gs pos="0">
                <a:srgbClr val="F9F3EB"/>
              </a:gs>
              <a:gs pos="100000">
                <a:srgbClr val="F3E6D7"/>
              </a:gs>
            </a:gsLst>
            <a:lin scaled="1"/>
          </a:gradFill>
        </p:spPr>
        <p:txBody>
          <a:bodyPr wrap="square">
            <a:spAutoFit/>
          </a:bodyPr>
          <a:lstStyle/>
          <a:p>
            <a:pPr marL="0" indent="0">
              <a:spcAft>
                <a:spcPct val="60000"/>
              </a:spcAft>
            </a:pPr>
            <a:r>
              <a:rPr lang="en-US" altLang="zh-CN" sz="1700" b="1" i="0">
                <a:solidFill>
                  <a:srgbClr val="000000"/>
                </a:solidFill>
              </a:rPr>
              <a:t>GTK </a:t>
            </a:r>
            <a:r>
              <a:rPr lang="zh-CN" altLang="en-US" sz="1700" b="1" i="0">
                <a:solidFill>
                  <a:srgbClr val="000000"/>
                </a:solidFill>
              </a:rPr>
              <a:t>架构</a:t>
            </a:r>
          </a:p>
          <a:p>
            <a:pPr marL="0" indent="0"/>
            <a:r>
              <a:rPr lang="zh-CN" altLang="en-US" sz="1700" b="0" i="0">
                <a:solidFill>
                  <a:srgbClr val="000000"/>
                </a:solidFill>
              </a:rPr>
              <a:t>应用程序
   </a:t>
            </a:r>
            <a:r>
              <a:rPr lang="en-US" altLang="zh-CN" sz="1700" b="0" i="0">
                <a:solidFill>
                  <a:srgbClr val="000000"/>
                </a:solidFill>
              </a:rPr>
              <a:t>↓
GTK(</a:t>
            </a:r>
            <a:r>
              <a:rPr lang="zh-CN" altLang="en-US" sz="1700" b="0" i="0">
                <a:solidFill>
                  <a:srgbClr val="000000"/>
                </a:solidFill>
              </a:rPr>
              <a:t>控件库</a:t>
            </a:r>
            <a:r>
              <a:rPr lang="en-US" altLang="zh-CN" sz="1700" b="0" i="0">
                <a:solidFill>
                  <a:srgbClr val="000000"/>
                </a:solidFill>
              </a:rPr>
              <a:t>)
   ↓
GDK(GraphicsDrawingKit)
   ↓
X11/Wayland(</a:t>
            </a:r>
            <a:r>
              <a:rPr lang="zh-CN" altLang="en-US" sz="1700" b="0" i="0">
                <a:solidFill>
                  <a:srgbClr val="000000"/>
                </a:solidFill>
              </a:rPr>
              <a:t>显示服务器</a:t>
            </a:r>
            <a:r>
              <a:rPr lang="en-US" altLang="zh-CN" sz="1700" b="0" i="0">
                <a:solidFill>
                  <a:srgbClr val="000000"/>
                </a:solidFill>
              </a:rPr>
              <a:t>)
</a:t>
            </a:r>
          </a:p>
          <a:p>
            <a:pPr marL="0" indent="0">
              <a:buFont typeface="Arial" panose="020B0604020202090204"/>
              <a:buChar char="•"/>
            </a:pPr>
            <a:r>
              <a:rPr lang="en-US" altLang="zh-CN" sz="1700" b="0" i="0">
                <a:solidFill>
                  <a:srgbClr val="000000"/>
                </a:solidFill>
              </a:rPr>
              <a:t>GTK </a:t>
            </a:r>
            <a:r>
              <a:rPr lang="zh-CN" altLang="en-US" sz="1700" b="0" i="0">
                <a:solidFill>
                  <a:srgbClr val="000000"/>
                </a:solidFill>
              </a:rPr>
              <a:t>负责窗口、按钮、布局、信号槽等</a:t>
            </a:r>
            <a:r>
              <a:rPr lang="en-US" altLang="zh-CN" sz="1700" b="0" i="0">
                <a:solidFill>
                  <a:srgbClr val="000000"/>
                </a:solidFill>
              </a:rPr>
              <a:t>UI</a:t>
            </a:r>
            <a:r>
              <a:rPr lang="zh-CN" altLang="en-US" sz="1700" b="0" i="0">
                <a:solidFill>
                  <a:srgbClr val="000000"/>
                </a:solidFill>
              </a:rPr>
              <a:t>逻辑；</a:t>
            </a:r>
          </a:p>
          <a:p>
            <a:pPr marL="0" indent="0">
              <a:buFont typeface="Arial" panose="020B0604020202090204"/>
              <a:buChar char="•"/>
            </a:pPr>
            <a:r>
              <a:rPr lang="en-US" altLang="zh-CN" sz="1700" b="0" i="0">
                <a:solidFill>
                  <a:srgbClr val="000000"/>
                </a:solidFill>
              </a:rPr>
              <a:t>GDK </a:t>
            </a:r>
            <a:r>
              <a:rPr lang="zh-CN" altLang="en-US" sz="1700" b="0" i="0">
                <a:solidFill>
                  <a:srgbClr val="000000"/>
                </a:solidFill>
              </a:rPr>
              <a:t>负责绘图、事件分发；</a:t>
            </a:r>
          </a:p>
          <a:p>
            <a:pPr marL="0" indent="0">
              <a:buFont typeface="Arial" panose="020B0604020202090204"/>
              <a:buChar char="•"/>
            </a:pPr>
            <a:r>
              <a:rPr lang="en-US" altLang="zh-CN" sz="1700" b="0" i="0">
                <a:solidFill>
                  <a:srgbClr val="000000"/>
                </a:solidFill>
              </a:rPr>
              <a:t>Cairo </a:t>
            </a:r>
            <a:r>
              <a:rPr lang="zh-CN" altLang="en-US" sz="1700" b="0" i="0">
                <a:solidFill>
                  <a:srgbClr val="000000"/>
                </a:solidFill>
              </a:rPr>
              <a:t>用于矢量图形渲染；</a:t>
            </a:r>
          </a:p>
          <a:p>
            <a:pPr marL="0" indent="0">
              <a:buFont typeface="Arial" panose="020B0604020202090204"/>
              <a:buChar char="•"/>
            </a:pPr>
            <a:r>
              <a:rPr lang="en-US" altLang="zh-CN" sz="1700" b="0" i="0">
                <a:solidFill>
                  <a:srgbClr val="000000"/>
                </a:solidFill>
              </a:rPr>
              <a:t>Pango </a:t>
            </a:r>
            <a:r>
              <a:rPr lang="zh-CN" altLang="en-US" sz="1700" b="0" i="0">
                <a:solidFill>
                  <a:srgbClr val="000000"/>
                </a:solidFill>
              </a:rPr>
              <a:t>用于国际化文字排版。</a:t>
            </a:r>
          </a:p>
          <a:p>
            <a:pPr marL="0" indent="0"/>
            <a:r>
              <a:rPr lang="zh-CN" altLang="en-US" sz="1700" b="0" i="0">
                <a:solidFill>
                  <a:srgbClr val="000000"/>
                </a:solidFill>
              </a:rPr>
              <a:t>🔹 特点：纯</a:t>
            </a:r>
            <a:r>
              <a:rPr lang="en-US" altLang="zh-CN" sz="1700" b="0" i="0">
                <a:solidFill>
                  <a:srgbClr val="000000"/>
                </a:solidFill>
              </a:rPr>
              <a:t>C</a:t>
            </a:r>
            <a:r>
              <a:rPr lang="zh-CN" altLang="en-US" sz="1700" b="0" i="0">
                <a:solidFill>
                  <a:srgbClr val="000000"/>
                </a:solidFill>
              </a:rPr>
              <a:t>语言，轻量但定制困难。</a:t>
            </a:r>
          </a:p>
          <a:p>
            <a:pPr marL="0" indent="0"/>
            <a:r>
              <a:rPr lang="zh-CN" altLang="en-US" sz="1700" b="0" i="0">
                <a:solidFill>
                  <a:srgbClr val="000000"/>
                </a:solidFill>
              </a:rPr>
              <a:t>🔹 桌面环境：</a:t>
            </a:r>
            <a:r>
              <a:rPr lang="en-US" altLang="zh-CN" sz="1700" b="0" i="0">
                <a:solidFill>
                  <a:srgbClr val="000000"/>
                </a:solidFill>
              </a:rPr>
              <a:t>GNOME</a:t>
            </a:r>
            <a:r>
              <a:rPr lang="zh-CN" altLang="en-US" sz="1700" b="0" i="0">
                <a:solidFill>
                  <a:srgbClr val="000000"/>
                </a:solidFill>
              </a:rPr>
              <a:t>、</a:t>
            </a:r>
            <a:r>
              <a:rPr lang="en-US" altLang="zh-CN" sz="1700" b="0" i="0">
                <a:solidFill>
                  <a:srgbClr val="000000"/>
                </a:solidFill>
              </a:rPr>
              <a:t>XFCE</a:t>
            </a:r>
            <a:r>
              <a:rPr lang="zh-CN" altLang="en-US" sz="1700" b="0" i="0">
                <a:solidFill>
                  <a:srgbClr val="000000"/>
                </a:solidFill>
              </a:rPr>
              <a:t>、</a:t>
            </a:r>
            <a:r>
              <a:rPr lang="en-US" altLang="zh-CN" sz="1700" b="0" i="0">
                <a:solidFill>
                  <a:srgbClr val="000000"/>
                </a:solidFill>
              </a:rPr>
              <a:t>Cinnamon </a:t>
            </a:r>
            <a:r>
              <a:rPr lang="zh-CN" altLang="en-US" sz="1700" b="0" i="0">
                <a:solidFill>
                  <a:srgbClr val="000000"/>
                </a:solidFill>
              </a:rPr>
              <a:t>等。</a:t>
            </a:r>
          </a:p>
        </p:txBody>
      </p:sp>
      <p:sp>
        <p:nvSpPr>
          <p:cNvPr id="6" name="Title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-14700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buClrTx/>
              <a:buSzTx/>
              <a:buFontTx/>
            </a:pPr>
            <a:r>
              <a:rPr sz="4100">
                <a:sym typeface="+mn-ea"/>
              </a:rPr>
              <a:t>四、GUI开发工具包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110865" y="760095"/>
            <a:ext cx="3413760" cy="60490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pPr marL="0" indent="0">
              <a:spcAft>
                <a:spcPct val="60000"/>
              </a:spcAft>
            </a:pPr>
            <a:r>
              <a:rPr lang="en-US" altLang="zh-CN" sz="1700" b="1" i="0">
                <a:solidFill>
                  <a:srgbClr val="000000"/>
                </a:solidFill>
              </a:rPr>
              <a:t>Qt </a:t>
            </a:r>
            <a:r>
              <a:rPr lang="zh-CN" altLang="en-US" sz="1700" b="1" i="0">
                <a:solidFill>
                  <a:srgbClr val="000000"/>
                </a:solidFill>
              </a:rPr>
              <a:t>架构</a:t>
            </a:r>
          </a:p>
          <a:p>
            <a:pPr marL="0" indent="0"/>
            <a:r>
              <a:rPr lang="zh-CN" altLang="en-US" sz="1700" b="0" i="0">
                <a:solidFill>
                  <a:srgbClr val="000000"/>
                </a:solidFill>
              </a:rPr>
              <a:t>应用程序
   </a:t>
            </a:r>
            <a:r>
              <a:rPr lang="en-US" altLang="zh-CN" sz="1700" b="0" i="0">
                <a:solidFill>
                  <a:srgbClr val="000000"/>
                </a:solidFill>
              </a:rPr>
              <a:t>↓
Qt Widgets / Qt Quick(QML)
   ↓
QtCore + QtGUI + QtNetwork + QtDBus
   ↓
</a:t>
            </a:r>
            <a:r>
              <a:rPr lang="zh-CN" altLang="en-US" sz="1700" b="0" i="0">
                <a:solidFill>
                  <a:srgbClr val="000000"/>
                </a:solidFill>
              </a:rPr>
              <a:t>平台适配层（</a:t>
            </a:r>
            <a:r>
              <a:rPr lang="en-US" altLang="zh-CN" sz="1700" b="0" i="0">
                <a:solidFill>
                  <a:srgbClr val="000000"/>
                </a:solidFill>
              </a:rPr>
              <a:t>X11 / Wayland / Win32 / macOS</a:t>
            </a:r>
            <a:r>
              <a:rPr lang="zh-CN" altLang="en-US" sz="1700" b="0" i="0">
                <a:solidFill>
                  <a:srgbClr val="000000"/>
                </a:solidFill>
              </a:rPr>
              <a:t>）
</a:t>
            </a:r>
          </a:p>
          <a:p>
            <a:pPr marL="0" indent="0">
              <a:buFont typeface="Arial" panose="020B0604020202090204"/>
              <a:buChar char="•"/>
            </a:pPr>
            <a:r>
              <a:rPr lang="en-US" altLang="zh-CN" sz="1700" b="0" i="0">
                <a:solidFill>
                  <a:srgbClr val="000000"/>
                </a:solidFill>
              </a:rPr>
              <a:t>QtCore</a:t>
            </a:r>
            <a:r>
              <a:rPr lang="zh-CN" altLang="en-US" sz="1700" b="0" i="0">
                <a:solidFill>
                  <a:srgbClr val="000000"/>
                </a:solidFill>
              </a:rPr>
              <a:t>：对象模型、信号槽机制；</a:t>
            </a:r>
          </a:p>
          <a:p>
            <a:pPr marL="0" indent="0">
              <a:buFont typeface="Arial" panose="020B0604020202090204"/>
              <a:buChar char="•"/>
            </a:pPr>
            <a:r>
              <a:rPr lang="en-US" altLang="zh-CN" sz="1700" b="0" i="0">
                <a:solidFill>
                  <a:srgbClr val="000000"/>
                </a:solidFill>
              </a:rPr>
              <a:t>QtGUI / QtWidgets</a:t>
            </a:r>
            <a:r>
              <a:rPr lang="zh-CN" altLang="en-US" sz="1700" b="0" i="0">
                <a:solidFill>
                  <a:srgbClr val="000000"/>
                </a:solidFill>
              </a:rPr>
              <a:t>：窗口控件；</a:t>
            </a:r>
          </a:p>
          <a:p>
            <a:pPr marL="0" indent="0">
              <a:buFont typeface="Arial" panose="020B0604020202090204"/>
              <a:buChar char="•"/>
            </a:pPr>
            <a:r>
              <a:rPr lang="en-US" altLang="zh-CN" sz="1700" b="0" i="0">
                <a:solidFill>
                  <a:srgbClr val="000000"/>
                </a:solidFill>
              </a:rPr>
              <a:t>QtQuick (QML)</a:t>
            </a:r>
            <a:r>
              <a:rPr lang="zh-CN" altLang="en-US" sz="1700" b="0" i="0">
                <a:solidFill>
                  <a:srgbClr val="000000"/>
                </a:solidFill>
              </a:rPr>
              <a:t>：现代声明式</a:t>
            </a:r>
            <a:r>
              <a:rPr lang="en-US" altLang="zh-CN" sz="1700" b="0" i="0">
                <a:solidFill>
                  <a:srgbClr val="000000"/>
                </a:solidFill>
              </a:rPr>
              <a:t>UI</a:t>
            </a:r>
            <a:r>
              <a:rPr lang="zh-CN" altLang="en-US" sz="1700" b="0" i="0">
                <a:solidFill>
                  <a:srgbClr val="000000"/>
                </a:solidFill>
              </a:rPr>
              <a:t>；</a:t>
            </a:r>
          </a:p>
          <a:p>
            <a:pPr marL="0" indent="0">
              <a:buFont typeface="Arial" panose="020B0604020202090204"/>
              <a:buChar char="•"/>
            </a:pPr>
            <a:r>
              <a:rPr lang="en-US" altLang="zh-CN" sz="1700" b="0" i="0">
                <a:solidFill>
                  <a:srgbClr val="000000"/>
                </a:solidFill>
              </a:rPr>
              <a:t>QtNetwork / QtMultimedia</a:t>
            </a:r>
            <a:r>
              <a:rPr lang="zh-CN" altLang="en-US" sz="1700" b="0" i="0">
                <a:solidFill>
                  <a:srgbClr val="000000"/>
                </a:solidFill>
              </a:rPr>
              <a:t>：网络与多媒体；</a:t>
            </a:r>
          </a:p>
          <a:p>
            <a:pPr marL="0" indent="0">
              <a:buFont typeface="Arial" panose="020B0604020202090204"/>
              <a:buChar char="•"/>
            </a:pPr>
            <a:r>
              <a:rPr lang="en-US" altLang="zh-CN" sz="1700" b="0" i="0">
                <a:solidFill>
                  <a:srgbClr val="000000"/>
                </a:solidFill>
              </a:rPr>
              <a:t>QtDBus</a:t>
            </a:r>
            <a:r>
              <a:rPr lang="zh-CN" altLang="en-US" sz="1700" b="0" i="0">
                <a:solidFill>
                  <a:srgbClr val="000000"/>
                </a:solidFill>
              </a:rPr>
              <a:t>：</a:t>
            </a:r>
            <a:r>
              <a:rPr lang="en-US" altLang="zh-CN" sz="1700" b="0" i="0">
                <a:solidFill>
                  <a:srgbClr val="000000"/>
                </a:solidFill>
              </a:rPr>
              <a:t>Linux</a:t>
            </a:r>
            <a:r>
              <a:rPr lang="zh-CN" altLang="en-US" sz="1700" b="0" i="0">
                <a:solidFill>
                  <a:srgbClr val="000000"/>
                </a:solidFill>
              </a:rPr>
              <a:t>系统通信；</a:t>
            </a:r>
          </a:p>
          <a:p>
            <a:pPr marL="0" indent="0">
              <a:buFont typeface="Arial" panose="020B0604020202090204"/>
              <a:buChar char="•"/>
            </a:pPr>
            <a:r>
              <a:rPr lang="en-US" altLang="zh-CN" sz="1700" b="0" i="0">
                <a:solidFill>
                  <a:srgbClr val="000000"/>
                </a:solidFill>
              </a:rPr>
              <a:t>QtWebEngine</a:t>
            </a:r>
            <a:r>
              <a:rPr lang="zh-CN" altLang="en-US" sz="1700" b="0" i="0">
                <a:solidFill>
                  <a:srgbClr val="000000"/>
                </a:solidFill>
              </a:rPr>
              <a:t>：嵌入浏览器。</a:t>
            </a:r>
          </a:p>
          <a:p>
            <a:pPr marL="0" indent="0"/>
            <a:r>
              <a:rPr lang="zh-CN" altLang="en-US" sz="1700" b="0" i="0">
                <a:solidFill>
                  <a:srgbClr val="000000"/>
                </a:solidFill>
              </a:rPr>
              <a:t>🔹 特点：完整框架 </a:t>
            </a:r>
            <a:r>
              <a:rPr lang="en-US" altLang="zh-CN" sz="1700" b="0" i="0">
                <a:solidFill>
                  <a:srgbClr val="000000"/>
                </a:solidFill>
              </a:rPr>
              <a:t>+ </a:t>
            </a:r>
            <a:r>
              <a:rPr lang="zh-CN" altLang="en-US" sz="1700" b="0" i="0">
                <a:solidFill>
                  <a:srgbClr val="000000"/>
                </a:solidFill>
              </a:rPr>
              <a:t>跨平台 </a:t>
            </a:r>
            <a:r>
              <a:rPr lang="en-US" altLang="zh-CN" sz="1700" b="0" i="0">
                <a:solidFill>
                  <a:srgbClr val="000000"/>
                </a:solidFill>
              </a:rPr>
              <a:t>+ </a:t>
            </a:r>
            <a:r>
              <a:rPr lang="zh-CN" altLang="en-US" sz="1700" b="0" i="0">
                <a:solidFill>
                  <a:srgbClr val="000000"/>
                </a:solidFill>
              </a:rPr>
              <a:t>面向对象；</a:t>
            </a:r>
          </a:p>
          <a:p>
            <a:pPr marL="0" indent="0"/>
            <a:r>
              <a:rPr lang="zh-CN" altLang="en-US" sz="1700" b="0" i="0">
                <a:solidFill>
                  <a:srgbClr val="000000"/>
                </a:solidFill>
              </a:rPr>
              <a:t>🔹 桌面环境：</a:t>
            </a:r>
            <a:r>
              <a:rPr lang="en-US" altLang="zh-CN" sz="1700" b="0" i="0">
                <a:solidFill>
                  <a:srgbClr val="000000"/>
                </a:solidFill>
              </a:rPr>
              <a:t>KDE Plasma</a:t>
            </a:r>
            <a:r>
              <a:rPr lang="zh-CN" altLang="en-US" sz="1700" b="0" i="0">
                <a:solidFill>
                  <a:srgbClr val="000000"/>
                </a:solidFill>
              </a:rPr>
              <a:t>、</a:t>
            </a:r>
            <a:r>
              <a:rPr lang="en-US" altLang="zh-CN" sz="1700" b="0" i="0">
                <a:solidFill>
                  <a:srgbClr val="000000"/>
                </a:solidFill>
              </a:rPr>
              <a:t>LXQt</a:t>
            </a:r>
            <a:r>
              <a:rPr lang="zh-CN" altLang="en-US" sz="1700" b="0" i="0">
                <a:solidFill>
                  <a:srgbClr val="000000"/>
                </a:solidFill>
              </a:rPr>
              <a:t>、</a:t>
            </a:r>
            <a:r>
              <a:rPr lang="en-US" altLang="zh-CN" sz="1700" b="0" i="0">
                <a:solidFill>
                  <a:srgbClr val="000000"/>
                </a:solidFill>
              </a:rPr>
              <a:t>Deepin</a:t>
            </a:r>
            <a:r>
              <a:rPr lang="zh-CN" altLang="en-US" sz="1700" b="0" i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600190" y="1012190"/>
            <a:ext cx="2463165" cy="52222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pPr marL="0" indent="0">
              <a:spcAft>
                <a:spcPct val="60000"/>
              </a:spcAft>
            </a:pPr>
            <a:r>
              <a:rPr lang="en-US" altLang="zh-CN" sz="2200" b="1" i="0">
                <a:solidFill>
                  <a:srgbClr val="000000"/>
                </a:solidFill>
              </a:rPr>
              <a:t>wxWidgets </a:t>
            </a:r>
            <a:r>
              <a:rPr lang="zh-CN" altLang="en-US" sz="2200" b="1" i="0">
                <a:solidFill>
                  <a:srgbClr val="000000"/>
                </a:solidFill>
              </a:rPr>
              <a:t>架构</a:t>
            </a:r>
          </a:p>
          <a:p>
            <a:pPr marL="0" indent="0"/>
            <a:r>
              <a:rPr lang="zh-CN" altLang="en-US" sz="1600" b="0" i="0">
                <a:solidFill>
                  <a:srgbClr val="000000"/>
                </a:solidFill>
              </a:rPr>
              <a:t>应用程序
   </a:t>
            </a:r>
            <a:r>
              <a:rPr lang="en-US" altLang="zh-CN" sz="1600" b="0" i="0">
                <a:solidFill>
                  <a:srgbClr val="000000"/>
                </a:solidFill>
              </a:rPr>
              <a:t>↓
wxWidgets </a:t>
            </a:r>
            <a:r>
              <a:rPr lang="zh-CN" altLang="en-US" sz="1600" b="0" i="0">
                <a:solidFill>
                  <a:srgbClr val="000000"/>
                </a:solidFill>
              </a:rPr>
              <a:t>抽象</a:t>
            </a:r>
            <a:r>
              <a:rPr lang="en-US" altLang="zh-CN" sz="1600" b="0" i="0">
                <a:solidFill>
                  <a:srgbClr val="000000"/>
                </a:solidFill>
              </a:rPr>
              <a:t>API</a:t>
            </a:r>
            <a:r>
              <a:rPr lang="zh-CN" altLang="en-US" sz="1600" b="0" i="0">
                <a:solidFill>
                  <a:srgbClr val="000000"/>
                </a:solidFill>
              </a:rPr>
              <a:t>层
   </a:t>
            </a:r>
            <a:r>
              <a:rPr lang="en-US" altLang="zh-CN" sz="1600" b="0" i="0">
                <a:solidFill>
                  <a:srgbClr val="000000"/>
                </a:solidFill>
              </a:rPr>
              <a:t>↓
</a:t>
            </a:r>
            <a:r>
              <a:rPr lang="zh-CN" altLang="en-US" sz="1600" b="0" i="0">
                <a:solidFill>
                  <a:srgbClr val="000000"/>
                </a:solidFill>
              </a:rPr>
              <a:t>平台原生控件接口（</a:t>
            </a:r>
            <a:r>
              <a:rPr lang="en-US" altLang="zh-CN" sz="1600" b="0" i="0">
                <a:solidFill>
                  <a:srgbClr val="000000"/>
                </a:solidFill>
              </a:rPr>
              <a:t>WinAPI / GTK / Cocoa</a:t>
            </a:r>
            <a:r>
              <a:rPr lang="zh-CN" altLang="en-US" sz="1600" b="0" i="0">
                <a:solidFill>
                  <a:srgbClr val="000000"/>
                </a:solidFill>
              </a:rPr>
              <a:t>）
</a:t>
            </a:r>
          </a:p>
          <a:p>
            <a:pPr marL="0" indent="0">
              <a:buFont typeface="Arial" panose="020B0604020202090204"/>
              <a:buChar char="•"/>
            </a:pPr>
            <a:r>
              <a:rPr lang="zh-CN" altLang="en-US" sz="1600" b="0" i="0">
                <a:solidFill>
                  <a:srgbClr val="000000"/>
                </a:solidFill>
              </a:rPr>
              <a:t>它并不绘制</a:t>
            </a:r>
            <a:r>
              <a:rPr lang="en-US" altLang="zh-CN" sz="1600" b="0" i="0">
                <a:solidFill>
                  <a:srgbClr val="000000"/>
                </a:solidFill>
              </a:rPr>
              <a:t>UI</a:t>
            </a:r>
            <a:r>
              <a:rPr lang="zh-CN" altLang="en-US" sz="1600" b="0" i="0">
                <a:solidFill>
                  <a:srgbClr val="000000"/>
                </a:solidFill>
              </a:rPr>
              <a:t>，而是调用底层系统的原生控件；</a:t>
            </a:r>
          </a:p>
          <a:p>
            <a:pPr marL="0" indent="0">
              <a:buFont typeface="Arial" panose="020B0604020202090204"/>
              <a:buChar char="•"/>
            </a:pPr>
            <a:r>
              <a:rPr lang="zh-CN" altLang="en-US" sz="1600" b="0" i="0">
                <a:solidFill>
                  <a:srgbClr val="000000"/>
                </a:solidFill>
              </a:rPr>
              <a:t>在</a:t>
            </a:r>
            <a:r>
              <a:rPr lang="en-US" altLang="zh-CN" sz="1600" b="0" i="0">
                <a:solidFill>
                  <a:srgbClr val="000000"/>
                </a:solidFill>
              </a:rPr>
              <a:t>Linux</a:t>
            </a:r>
            <a:r>
              <a:rPr lang="zh-CN" altLang="en-US" sz="1600" b="0" i="0">
                <a:solidFill>
                  <a:srgbClr val="000000"/>
                </a:solidFill>
              </a:rPr>
              <a:t>上会调用</a:t>
            </a:r>
            <a:r>
              <a:rPr lang="en-US" altLang="zh-CN" sz="1600" b="0" i="0">
                <a:solidFill>
                  <a:srgbClr val="000000"/>
                </a:solidFill>
              </a:rPr>
              <a:t>GTK</a:t>
            </a:r>
            <a:r>
              <a:rPr lang="zh-CN" altLang="en-US" sz="1600" b="0" i="0">
                <a:solidFill>
                  <a:srgbClr val="000000"/>
                </a:solidFill>
              </a:rPr>
              <a:t>，在</a:t>
            </a:r>
            <a:r>
              <a:rPr lang="en-US" altLang="zh-CN" sz="1600" b="0" i="0">
                <a:solidFill>
                  <a:srgbClr val="000000"/>
                </a:solidFill>
              </a:rPr>
              <a:t>Windows</a:t>
            </a:r>
            <a:r>
              <a:rPr lang="zh-CN" altLang="en-US" sz="1600" b="0" i="0">
                <a:solidFill>
                  <a:srgbClr val="000000"/>
                </a:solidFill>
              </a:rPr>
              <a:t>上调用</a:t>
            </a:r>
            <a:r>
              <a:rPr lang="en-US" altLang="zh-CN" sz="1600" b="0" i="0">
                <a:solidFill>
                  <a:srgbClr val="000000"/>
                </a:solidFill>
              </a:rPr>
              <a:t>Win32</a:t>
            </a:r>
            <a:r>
              <a:rPr lang="zh-CN" altLang="en-US" sz="1600" b="0" i="0">
                <a:solidFill>
                  <a:srgbClr val="000000"/>
                </a:solidFill>
              </a:rPr>
              <a:t>，在</a:t>
            </a:r>
            <a:r>
              <a:rPr lang="en-US" altLang="zh-CN" sz="1600" b="0" i="0">
                <a:solidFill>
                  <a:srgbClr val="000000"/>
                </a:solidFill>
              </a:rPr>
              <a:t>macOS</a:t>
            </a:r>
            <a:r>
              <a:rPr lang="zh-CN" altLang="en-US" sz="1600" b="0" i="0">
                <a:solidFill>
                  <a:srgbClr val="000000"/>
                </a:solidFill>
              </a:rPr>
              <a:t>上调用</a:t>
            </a:r>
            <a:r>
              <a:rPr lang="en-US" altLang="zh-CN" sz="1600" b="0" i="0">
                <a:solidFill>
                  <a:srgbClr val="000000"/>
                </a:solidFill>
              </a:rPr>
              <a:t>Cocoa</a:t>
            </a:r>
            <a:r>
              <a:rPr lang="zh-CN" altLang="en-US" sz="1600" b="0" i="0">
                <a:solidFill>
                  <a:srgbClr val="000000"/>
                </a:solidFill>
              </a:rPr>
              <a:t>。</a:t>
            </a:r>
          </a:p>
          <a:p>
            <a:pPr marL="0" indent="0"/>
            <a:r>
              <a:rPr lang="zh-CN" altLang="en-US" sz="1600" b="0" i="0">
                <a:solidFill>
                  <a:srgbClr val="000000"/>
                </a:solidFill>
              </a:rPr>
              <a:t>🔹 特点：轻量、高兼容、原生外观；</a:t>
            </a:r>
          </a:p>
          <a:p>
            <a:pPr marL="0" indent="0"/>
            <a:r>
              <a:rPr lang="zh-CN" altLang="en-US" sz="1600" b="0" i="0">
                <a:solidFill>
                  <a:srgbClr val="000000"/>
                </a:solidFill>
              </a:rPr>
              <a:t>🔹 桌面环境：无绑定（主要用于工具软件和跨平台应用）。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-14700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buClrTx/>
              <a:buSzTx/>
              <a:buFontTx/>
            </a:pPr>
            <a:r>
              <a:rPr sz="4100">
                <a:sym typeface="+mn-ea"/>
              </a:rPr>
              <a:t>四、GUI开发工具包</a:t>
            </a:r>
          </a:p>
        </p:txBody>
      </p:sp>
      <p:sp>
        <p:nvSpPr>
          <p:cNvPr id="3" name="矩形 2"/>
          <p:cNvSpPr/>
          <p:nvPr/>
        </p:nvSpPr>
        <p:spPr>
          <a:xfrm>
            <a:off x="5521008" y="227965"/>
            <a:ext cx="2952115" cy="56832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31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主要技术差异表</a:t>
            </a:r>
          </a:p>
        </p:txBody>
      </p:sp>
      <p:graphicFrame>
        <p:nvGraphicFramePr>
          <p:cNvPr id="7" name="表格 6"/>
          <p:cNvGraphicFramePr/>
          <p:nvPr>
            <p:custDataLst>
              <p:tags r:id="rId2"/>
            </p:custDataLst>
          </p:nvPr>
        </p:nvGraphicFramePr>
        <p:xfrm>
          <a:off x="124460" y="796290"/>
          <a:ext cx="8911590" cy="5949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7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4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0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85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特性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GTK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Qt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wxWidgets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1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主语言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C++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C++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5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跨平台性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中等（Linux主导）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强（Windows/macOS/Linux/嵌入式）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强（依赖原生控件）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渲染方式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软件绘图 (Cairo)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硬件加速 (OpenGL, Vulkan)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原生控件绘制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UI定义方式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C代码 / Glade XML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QML / QtDesigner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C++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0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性能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中</a:t>
                      </a:r>
                      <a:r>
                        <a:rPr lang="en-US" altLang="zh-CN" sz="1800">
                          <a:sym typeface="+mn-ea"/>
                        </a:rPr>
                        <a:t>：</a:t>
                      </a:r>
                      <a:r>
                        <a:rPr lang="zh-CN" altLang="en-US"/>
                        <a:t>较轻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高</a:t>
                      </a:r>
                      <a:r>
                        <a:rPr lang="en-US" altLang="zh-CN" sz="1800">
                          <a:sym typeface="+mn-ea"/>
                        </a:rPr>
                        <a:t>：</a:t>
                      </a:r>
                      <a:r>
                        <a:rPr lang="zh-CN" altLang="en-US"/>
                        <a:t>较高（图形硬件加速）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中</a:t>
                      </a:r>
                      <a:r>
                        <a:rPr lang="en-US" altLang="zh-CN" sz="1800">
                          <a:sym typeface="+mn-ea"/>
                        </a:rPr>
                        <a:t>：</a:t>
                      </a:r>
                      <a:r>
                        <a:rPr lang="zh-CN" altLang="en-US"/>
                        <a:t>取决于系统原生实现</a:t>
                      </a:r>
                      <a:endParaRPr lang="zh-CN" alt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绑定语言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Python、JS、Vala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Python、Rust、Go等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Python、Perl等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桌面环境绑定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GNOME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KDE Plasma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无（独立）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997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典型应用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GNOME Terminal、Gedit、File Roller</a:t>
                      </a:r>
                      <a:endParaRPr lang="zh-CN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KDE Plasma、VirtualBox、Telegram、OBS Studio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Code::Blocks、Audacity（早期）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许可协议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LGPL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LGPL / 商业许可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wxWindows License（宽松）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学习曲线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较陡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平滑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简单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适用场景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Linux原生应用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全平台现代应用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小型跨平台工具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ctr">
              <a:buClrTx/>
              <a:buSzTx/>
              <a:buFontTx/>
            </a:pPr>
            <a:r>
              <a:rPr sz="4100">
                <a:sym typeface="+mn-ea"/>
              </a:rPr>
              <a:t>五、桌面环境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桌面环境 </a:t>
            </a:r>
            <a:r>
              <a:rPr lang="en-US"/>
              <a:t>    </a:t>
            </a:r>
            <a:r>
              <a:t>| 核心组件 </a:t>
            </a:r>
            <a:r>
              <a:rPr lang="en-US"/>
              <a:t>        </a:t>
            </a:r>
            <a:r>
              <a:t>| 特点</a:t>
            </a:r>
            <a:r>
              <a:rPr lang="en-US"/>
              <a:t>                        </a:t>
            </a:r>
          </a:p>
          <a:p>
            <a:pPr marL="0" indent="0">
              <a:buNone/>
            </a:pPr>
            <a:r>
              <a:rPr lang="en-US"/>
              <a:t>-----------------|--------------------|----------------------</a:t>
            </a:r>
          </a:p>
          <a:p>
            <a:pPr marL="0" indent="0">
              <a:buNone/>
            </a:pPr>
            <a:r>
              <a:t>GNOME </a:t>
            </a:r>
            <a:r>
              <a:rPr lang="en-US"/>
              <a:t>       </a:t>
            </a:r>
            <a:r>
              <a:t>| Mutter + GTK </a:t>
            </a:r>
            <a:r>
              <a:rPr lang="en-US"/>
              <a:t> </a:t>
            </a:r>
            <a:r>
              <a:t>| 简洁现代</a:t>
            </a:r>
          </a:p>
          <a:p>
            <a:pPr marL="0" indent="0">
              <a:buNone/>
            </a:pPr>
            <a:r>
              <a:t>KDE Plasma</a:t>
            </a:r>
            <a:r>
              <a:rPr lang="en-US"/>
              <a:t>  </a:t>
            </a:r>
            <a:r>
              <a:t>| KWin + Qt </a:t>
            </a:r>
            <a:r>
              <a:rPr lang="en-US"/>
              <a:t>       </a:t>
            </a:r>
            <a:r>
              <a:t>| 高度可定制</a:t>
            </a:r>
          </a:p>
          <a:p>
            <a:pPr marL="0" indent="0">
              <a:buNone/>
            </a:pPr>
            <a:r>
              <a:t>XFCE </a:t>
            </a:r>
            <a:r>
              <a:rPr lang="en-US"/>
              <a:t>             </a:t>
            </a:r>
            <a:r>
              <a:t>| Xfwm4 + GTK </a:t>
            </a:r>
            <a:r>
              <a:rPr lang="en-US"/>
              <a:t> </a:t>
            </a:r>
            <a:r>
              <a:t>| 轻量节能</a:t>
            </a:r>
          </a:p>
          <a:p>
            <a:pPr marL="0" indent="0">
              <a:buNone/>
            </a:pPr>
            <a:r>
              <a:t>LXQt/LXDE </a:t>
            </a:r>
            <a:r>
              <a:rPr lang="en-US"/>
              <a:t>   </a:t>
            </a:r>
            <a:r>
              <a:t>| Openbox + Qt | 极低资源占用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69227"/>
            <a:ext cx="82296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4100">
                <a:sym typeface="+mn-ea"/>
              </a:rPr>
              <a:t>图形</a:t>
            </a:r>
            <a:r>
              <a:rPr lang="en-US" altLang="zh-CN" sz="4100">
                <a:sym typeface="+mn-ea"/>
              </a:rPr>
              <a:t>API： OpenGL, Vulkan, DirectX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-635" y="799465"/>
            <a:ext cx="9145270" cy="108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</a:pPr>
            <a:r>
              <a:rPr lang="en-US" altLang="zh-CN" i="0">
                <a:solidFill>
                  <a:srgbClr val="000000"/>
                </a:solidFill>
              </a:rPr>
              <a:t>OpenGL</a:t>
            </a:r>
            <a:r>
              <a:rPr lang="zh-CN" altLang="en-US" i="0">
                <a:solidFill>
                  <a:srgbClr val="000000"/>
                </a:solidFill>
              </a:rPr>
              <a:t>、</a:t>
            </a:r>
            <a:r>
              <a:rPr lang="en-US" altLang="zh-CN" i="0">
                <a:solidFill>
                  <a:srgbClr val="000000"/>
                </a:solidFill>
              </a:rPr>
              <a:t>Vulkan</a:t>
            </a:r>
            <a:r>
              <a:rPr lang="zh-CN" altLang="en-US" i="0">
                <a:solidFill>
                  <a:srgbClr val="000000"/>
                </a:solidFill>
              </a:rPr>
              <a:t>、</a:t>
            </a:r>
            <a:r>
              <a:rPr lang="en-US" altLang="zh-CN" i="0">
                <a:solidFill>
                  <a:srgbClr val="000000"/>
                </a:solidFill>
              </a:rPr>
              <a:t>DirectX </a:t>
            </a:r>
            <a:r>
              <a:rPr lang="zh-CN" altLang="en-US" b="0" i="0">
                <a:solidFill>
                  <a:srgbClr val="000000"/>
                </a:solidFill>
                <a:latin typeface="-webkit-standard"/>
                <a:ea typeface="-webkit-standard"/>
              </a:rPr>
              <a:t>是现代图形系统的三大核心</a:t>
            </a:r>
            <a:r>
              <a:rPr lang="en-US" altLang="zh-CN" b="0" i="0">
                <a:solidFill>
                  <a:srgbClr val="000000"/>
                </a:solidFill>
                <a:latin typeface="-webkit-standard"/>
                <a:ea typeface="-webkit-standard"/>
              </a:rPr>
              <a:t> </a:t>
            </a:r>
            <a:r>
              <a:rPr lang="zh-CN" altLang="en-US" i="0">
                <a:solidFill>
                  <a:srgbClr val="000000"/>
                </a:solidFill>
              </a:rPr>
              <a:t>图形</a:t>
            </a:r>
            <a:r>
              <a:rPr lang="en-US" altLang="zh-CN" i="0">
                <a:solidFill>
                  <a:srgbClr val="000000"/>
                </a:solidFill>
              </a:rPr>
              <a:t>API</a:t>
            </a:r>
            <a:r>
              <a:rPr lang="zh-CN" altLang="en-US" i="0">
                <a:solidFill>
                  <a:srgbClr val="000000"/>
                </a:solidFill>
              </a:rPr>
              <a:t>（</a:t>
            </a:r>
            <a:r>
              <a:rPr lang="en-US" altLang="zh-CN" i="0">
                <a:solidFill>
                  <a:srgbClr val="000000"/>
                </a:solidFill>
              </a:rPr>
              <a:t>Application Programming Interface</a:t>
            </a:r>
            <a:r>
              <a:rPr lang="zh-CN" altLang="en-US" i="0">
                <a:solidFill>
                  <a:srgbClr val="000000"/>
                </a:solidFill>
              </a:rPr>
              <a:t>，应用编程接口）</a:t>
            </a:r>
            <a:r>
              <a:rPr lang="zh-CN" altLang="en-US" b="0" i="0">
                <a:solidFill>
                  <a:srgbClr val="000000"/>
                </a:solidFill>
                <a:latin typeface="-webkit-standard"/>
                <a:ea typeface="-webkit-standard"/>
              </a:rPr>
              <a:t>。它们决定了软件如何与</a:t>
            </a:r>
            <a:r>
              <a:rPr lang="en-US" altLang="zh-CN" b="0" i="0">
                <a:solidFill>
                  <a:srgbClr val="000000"/>
                </a:solidFill>
                <a:latin typeface="-webkit-standard"/>
                <a:ea typeface="-webkit-standard"/>
              </a:rPr>
              <a:t> </a:t>
            </a:r>
            <a:r>
              <a:rPr lang="en-US" altLang="zh-CN" i="0">
                <a:solidFill>
                  <a:srgbClr val="000000"/>
                </a:solidFill>
              </a:rPr>
              <a:t>GPU</a:t>
            </a:r>
            <a:r>
              <a:rPr lang="zh-CN" altLang="en-US" i="0">
                <a:solidFill>
                  <a:srgbClr val="000000"/>
                </a:solidFill>
              </a:rPr>
              <a:t>（</a:t>
            </a:r>
            <a:r>
              <a:rPr lang="en-US" altLang="zh-CN" i="0">
                <a:solidFill>
                  <a:srgbClr val="000000"/>
                </a:solidFill>
              </a:rPr>
              <a:t>Graphics Processing Unit</a:t>
            </a:r>
            <a:r>
              <a:rPr lang="zh-CN" altLang="en-US" i="0">
                <a:solidFill>
                  <a:srgbClr val="000000"/>
                </a:solidFill>
              </a:rPr>
              <a:t>，图形处理单元）</a:t>
            </a:r>
            <a:r>
              <a:rPr lang="en-US" altLang="zh-CN" b="0" i="0">
                <a:solidFill>
                  <a:srgbClr val="000000"/>
                </a:solidFill>
                <a:latin typeface="-webkit-standard"/>
                <a:ea typeface="-webkit-standard"/>
              </a:rPr>
              <a:t> </a:t>
            </a:r>
            <a:r>
              <a:rPr lang="zh-CN" altLang="en-US" b="0" i="0">
                <a:solidFill>
                  <a:srgbClr val="000000"/>
                </a:solidFill>
                <a:latin typeface="-webkit-standard"/>
                <a:ea typeface="-webkit-standard"/>
              </a:rPr>
              <a:t>通信，从而实现图形渲染（</a:t>
            </a:r>
            <a:r>
              <a:rPr lang="en-US" altLang="zh-CN" b="0" i="0">
                <a:solidFill>
                  <a:srgbClr val="000000"/>
                </a:solidFill>
                <a:latin typeface="-webkit-standard"/>
                <a:ea typeface="-webkit-standard"/>
              </a:rPr>
              <a:t>2D/3D </a:t>
            </a:r>
            <a:r>
              <a:rPr lang="zh-CN" altLang="en-US" b="0" i="0">
                <a:solidFill>
                  <a:srgbClr val="000000"/>
                </a:solidFill>
                <a:latin typeface="-webkit-standard"/>
                <a:ea typeface="-webkit-standard"/>
              </a:rPr>
              <a:t>绘制、光照、纹理、动画等）。</a:t>
            </a:r>
          </a:p>
        </p:txBody>
      </p:sp>
      <p:graphicFrame>
        <p:nvGraphicFramePr>
          <p:cNvPr id="12" name="表格 11"/>
          <p:cNvGraphicFramePr/>
          <p:nvPr>
            <p:custDataLst>
              <p:tags r:id="rId1"/>
            </p:custDataLst>
          </p:nvPr>
        </p:nvGraphicFramePr>
        <p:xfrm>
          <a:off x="-635" y="2026285"/>
          <a:ext cx="9144635" cy="4446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6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1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8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85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/>
                        <a:t>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/>
                        <a:t>OpenGL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/>
                        <a:t>Vulkan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/>
                        <a:t>DirectX (Direct3D)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/>
                        <a:t>开发方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/>
                        <a:t>Khronos Group（开放标准）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/>
                        <a:t>Khronos Group（开放标准）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/>
                        <a:t>Microsoft（微软私有）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/>
                        <a:t>平台支持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/>
                        <a:t>跨平台（Windows、Linux、macOS、Android）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/>
                        <a:t>跨平台（Windows、Linux、Android）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/>
                        <a:t>仅限 Windows / Xbox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7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/>
                        <a:t>抽象层级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/>
                        <a:t>高（封装多）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/>
                        <a:t>低（接近硬件）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/>
                        <a:t>高（微软控制驱动模型）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/>
                        <a:t>渲染管线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/>
                        <a:t>传统状态机 / 固定或半固定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/>
                        <a:t>全可编程管线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/>
                        <a:t>全可编程管线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/>
                        <a:t>性能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/>
                        <a:t>较高，但驱动负担重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/>
                        <a:t>极高，低驱动开销，多线程优化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/>
                        <a:t>高，系统集成优化好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/>
                        <a:t>学习曲线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/>
                        <a:t>中等（API成熟）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/>
                        <a:t>陡峭（开发复杂）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/>
                        <a:t>中等偏低（工具链完善）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/>
                        <a:t>适用场景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/>
                        <a:t>科研、跨平台图形、GUI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/>
                        <a:t>游戏引擎、高性能实时渲染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/>
                        <a:t>Windows游戏、虚拟现实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41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/>
                        <a:t>底层接口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/>
                        <a:t>Mesa3D / GPU驱动（DRM）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/>
                        <a:t>Vulkan Loader / GPU驱动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700"/>
                        <a:t>DirectX Runtime / DXGI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69227"/>
            <a:ext cx="82296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4100">
                <a:sym typeface="+mn-ea"/>
              </a:rPr>
              <a:t>图形</a:t>
            </a:r>
            <a:r>
              <a:rPr lang="en-US" altLang="zh-CN" sz="4100">
                <a:sym typeface="+mn-ea"/>
              </a:rPr>
              <a:t>API： OpenGL, Vulkan, DirectX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01930" y="1576705"/>
            <a:ext cx="641032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1990s ───────────▶ OpenGL (SGI → Khronos)</a:t>
            </a:r>
          </a:p>
          <a:p>
            <a:r>
              <a:rPr lang="zh-CN" altLang="en-US"/>
              <a:t>                   └── Direct3D (Microsoft, Windows专属)</a:t>
            </a:r>
          </a:p>
          <a:p>
            <a:endParaRPr lang="zh-CN" altLang="en-US"/>
          </a:p>
          <a:p>
            <a:r>
              <a:rPr lang="zh-CN" altLang="en-US"/>
              <a:t>2010s ───────────▶ Vulkan (OpenGL的继任者，低开销设计)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01930" y="944563"/>
            <a:ext cx="5080000" cy="4140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/>
            <a:r>
              <a:rPr lang="zh-CN" altLang="en-US" sz="2100" b="1" i="0">
                <a:solidFill>
                  <a:srgbClr val="000000"/>
                </a:solidFill>
                <a:latin typeface="汉仪大黑简" panose="02010600000101010101" charset="-122"/>
                <a:ea typeface="汉仪大黑简" panose="02010600000101010101" charset="-122"/>
              </a:rPr>
              <a:t>三者的历史演进关系</a:t>
            </a:r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0" y="3392805"/>
          <a:ext cx="9145270" cy="2831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1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9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4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9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4980"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/>
                        <a:t>平台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/>
                        <a:t>OpenGL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/>
                        <a:t>Vulkan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/>
                        <a:t>DirectX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/>
                        <a:t>Windows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/>
                        <a:t>✅（原生）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/>
                        <a:t>Linux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/>
                        <a:t>❌（不支持）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/>
                        <a:t>macOS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/>
                        <a:t>✅（仅到4.1）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/>
                        <a:t>⚠️（需 MoltenVK 转译到 Metal）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/>
                        <a:t>Android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/>
                        <a:t>✅（OpenGL ES）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/>
                        <a:t>iOS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/>
                        <a:t>⚠️（OpenGL ES废弃）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/>
                        <a:t>⚠️（通过MoltenVK）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495"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/>
                        <a:t>Xbox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40000"/>
                        </a:lnSpc>
                        <a:buNone/>
                      </a:pPr>
                      <a:r>
                        <a:rPr lang="zh-CN" altLang="en-US"/>
                        <a:t>✅（DirectX独占）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201930" y="2884488"/>
            <a:ext cx="5080000" cy="4140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/>
            <a:r>
              <a:rPr lang="zh-CN" altLang="en-US" sz="2100" b="1" i="0">
                <a:solidFill>
                  <a:srgbClr val="000000"/>
                </a:solidFill>
                <a:latin typeface="汉仪大黑简" panose="02010600000101010101" charset="-122"/>
                <a:ea typeface="汉仪大黑简" panose="02010600000101010101" charset="-122"/>
              </a:rPr>
              <a:t>三者的平台支持</a:t>
            </a:r>
            <a:r>
              <a:rPr lang="en-US" altLang="zh-CN" sz="2100" b="1" i="0">
                <a:solidFill>
                  <a:srgbClr val="000000"/>
                </a:solidFill>
                <a:latin typeface="汉仪大黑简" panose="02010600000101010101" charset="-122"/>
                <a:ea typeface="汉仪大黑简" panose="02010600000101010101" charset="-122"/>
              </a:rPr>
              <a:t>：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115" y="944880"/>
            <a:ext cx="2639695" cy="14300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69227"/>
            <a:ext cx="82296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4100">
                <a:sym typeface="+mn-ea"/>
              </a:rPr>
              <a:t>图形</a:t>
            </a:r>
            <a:r>
              <a:rPr lang="en-US" altLang="zh-CN" sz="4100">
                <a:sym typeface="+mn-ea"/>
              </a:rPr>
              <a:t>API： OpenGL, Vulkan, DirectX</a:t>
            </a: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4150995" y="1275080"/>
          <a:ext cx="4879340" cy="45967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0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应用场景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推荐API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说明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跨平台科学可视化（CAD, OpenSCAD）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OpenGL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API成熟，兼容性强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9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高性能游戏 / 引擎开发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Vulkan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性能优、控制力强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Windows 游戏 / XR / 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DirectX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工具链完备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0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Android 应用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OpenGL ES / Vulkan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GPU支持广泛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15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嵌入式 / 低功耗设备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OpenGL 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精简实现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9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图形仿真 / 学术研究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OpenGL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/>
                        <a:t>教学与科研标准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4150995" y="816928"/>
            <a:ext cx="5080000" cy="39878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/>
            <a:r>
              <a:rPr lang="zh-CN" altLang="en-US" sz="2000" b="1" i="0">
                <a:solidFill>
                  <a:srgbClr val="000000"/>
                </a:solidFill>
                <a:latin typeface="汉仪大黑简" panose="02010600000101010101" charset="-122"/>
                <a:ea typeface="汉仪大黑简" panose="02010600000101010101" charset="-122"/>
              </a:rPr>
              <a:t>其它典型使用场景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8260" y="860425"/>
            <a:ext cx="3466465" cy="1581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Aft>
                <a:spcPct val="60000"/>
              </a:spcAft>
            </a:pPr>
            <a:r>
              <a:rPr lang="en-US" altLang="zh-CN" sz="2300" b="1" i="0">
                <a:solidFill>
                  <a:srgbClr val="000000"/>
                </a:solidFill>
              </a:rPr>
              <a:t>Linux </a:t>
            </a:r>
            <a:r>
              <a:rPr lang="zh-CN" altLang="en-US" sz="2300" b="1" i="0">
                <a:solidFill>
                  <a:srgbClr val="000000"/>
                </a:solidFill>
              </a:rPr>
              <a:t>环境下的三者关系</a:t>
            </a:r>
          </a:p>
          <a:p>
            <a:pPr marL="0" indent="0"/>
            <a:r>
              <a:rPr lang="zh-CN" altLang="en-US" sz="1900" b="0" i="0">
                <a:solidFill>
                  <a:srgbClr val="000000"/>
                </a:solidFill>
              </a:rPr>
              <a:t>在 </a:t>
            </a:r>
            <a:r>
              <a:rPr lang="en-US" altLang="zh-CN" sz="1900" b="0" i="0">
                <a:solidFill>
                  <a:srgbClr val="000000"/>
                </a:solidFill>
              </a:rPr>
              <a:t>Linux </a:t>
            </a:r>
            <a:r>
              <a:rPr lang="zh-CN" altLang="en-US" sz="1900" b="0" i="0">
                <a:solidFill>
                  <a:srgbClr val="000000"/>
                </a:solidFill>
              </a:rPr>
              <a:t>上，</a:t>
            </a:r>
            <a:r>
              <a:rPr lang="en-US" altLang="zh-CN" sz="1900" b="0" i="0">
                <a:solidFill>
                  <a:srgbClr val="000000"/>
                </a:solidFill>
              </a:rPr>
              <a:t>OpenGL </a:t>
            </a:r>
            <a:r>
              <a:rPr lang="zh-CN" altLang="en-US" sz="1900" b="0" i="0">
                <a:solidFill>
                  <a:srgbClr val="000000"/>
                </a:solidFill>
              </a:rPr>
              <a:t>和 </a:t>
            </a:r>
            <a:r>
              <a:rPr lang="en-US" altLang="zh-CN" sz="1900" b="0" i="0">
                <a:solidFill>
                  <a:srgbClr val="000000"/>
                </a:solidFill>
              </a:rPr>
              <a:t>Vulkan </a:t>
            </a:r>
            <a:r>
              <a:rPr lang="zh-CN" altLang="en-US" sz="1900" b="0" i="0">
                <a:solidFill>
                  <a:srgbClr val="000000"/>
                </a:solidFill>
              </a:rPr>
              <a:t>通过</a:t>
            </a:r>
            <a:r>
              <a:rPr lang="en-US" altLang="zh-CN" sz="1900" b="0" i="0">
                <a:solidFill>
                  <a:srgbClr val="000000"/>
                </a:solidFill>
              </a:rPr>
              <a:t> Mesa3D + DRM/KMS </a:t>
            </a:r>
            <a:r>
              <a:rPr lang="zh-CN" altLang="en-US" sz="1900" b="0" i="0">
                <a:solidFill>
                  <a:srgbClr val="000000"/>
                </a:solidFill>
              </a:rPr>
              <a:t>与 </a:t>
            </a:r>
            <a:r>
              <a:rPr lang="en-US" altLang="zh-CN" sz="1900" b="0" i="0">
                <a:solidFill>
                  <a:srgbClr val="000000"/>
                </a:solidFill>
              </a:rPr>
              <a:t>GPU </a:t>
            </a:r>
            <a:r>
              <a:rPr lang="zh-CN" altLang="en-US" sz="1900" b="0" i="0">
                <a:solidFill>
                  <a:srgbClr val="000000"/>
                </a:solidFill>
              </a:rPr>
              <a:t>交互：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8260" y="2592070"/>
            <a:ext cx="3528060" cy="31381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zh-CN" altLang="en-US"/>
              <a:t>应用 (Blender, Firefox, Steam游戏)</a:t>
            </a:r>
          </a:p>
          <a:p>
            <a:r>
              <a:rPr lang="zh-CN" altLang="en-US"/>
              <a:t>      ↓</a:t>
            </a:r>
          </a:p>
          <a:p>
            <a:r>
              <a:rPr lang="zh-CN" altLang="en-US"/>
              <a:t>OpenGL / Vulkan API</a:t>
            </a:r>
          </a:p>
          <a:p>
            <a:r>
              <a:rPr lang="zh-CN" altLang="en-US"/>
              <a:t>      ↓</a:t>
            </a:r>
          </a:p>
          <a:p>
            <a:r>
              <a:rPr lang="zh-CN" altLang="en-US"/>
              <a:t>Mesa3D (libGL / libvulkan)</a:t>
            </a:r>
          </a:p>
          <a:p>
            <a:r>
              <a:rPr lang="zh-CN" altLang="en-US"/>
              <a:t>      ↓</a:t>
            </a:r>
          </a:p>
          <a:p>
            <a:r>
              <a:rPr lang="zh-CN" altLang="en-US"/>
              <a:t>DRI / DRM / KMS</a:t>
            </a:r>
          </a:p>
          <a:p>
            <a:r>
              <a:rPr lang="zh-CN" altLang="en-US"/>
              <a:t>      ↓</a:t>
            </a:r>
          </a:p>
          <a:p>
            <a:r>
              <a:rPr lang="zh-CN" altLang="en-US"/>
              <a:t>GPU驱动 (amdgpu, i915, nouveau)</a:t>
            </a:r>
          </a:p>
          <a:p>
            <a:r>
              <a:rPr lang="zh-CN" altLang="en-US"/>
              <a:t>      ↓</a:t>
            </a:r>
          </a:p>
          <a:p>
            <a:r>
              <a:rPr lang="zh-CN" altLang="en-US"/>
              <a:t>显卡硬件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8260" y="5988685"/>
            <a:ext cx="5080000" cy="64516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/>
            <a:r>
              <a:rPr lang="en-US" altLang="zh-CN" b="0" i="0">
                <a:solidFill>
                  <a:srgbClr val="000000"/>
                </a:solidFill>
                <a:latin typeface="-webkit-standard"/>
                <a:ea typeface="-webkit-standard"/>
              </a:rPr>
              <a:t>DirectX </a:t>
            </a:r>
            <a:r>
              <a:rPr lang="zh-CN" altLang="en-US" b="0" i="0">
                <a:solidFill>
                  <a:srgbClr val="000000"/>
                </a:solidFill>
                <a:latin typeface="-webkit-standard"/>
                <a:ea typeface="-webkit-standard"/>
              </a:rPr>
              <a:t>无法原生运行在 </a:t>
            </a:r>
            <a:r>
              <a:rPr lang="en-US" altLang="zh-CN" b="0" i="0">
                <a:solidFill>
                  <a:srgbClr val="000000"/>
                </a:solidFill>
                <a:latin typeface="-webkit-standard"/>
                <a:ea typeface="-webkit-standard"/>
              </a:rPr>
              <a:t>Linux </a:t>
            </a:r>
            <a:r>
              <a:rPr lang="zh-CN" altLang="en-US" b="0" i="0">
                <a:solidFill>
                  <a:srgbClr val="000000"/>
                </a:solidFill>
                <a:latin typeface="-webkit-standard"/>
                <a:ea typeface="-webkit-standard"/>
              </a:rPr>
              <a:t>上（但可通过</a:t>
            </a:r>
            <a:r>
              <a:rPr lang="en-US" altLang="zh-CN" b="0" i="0">
                <a:solidFill>
                  <a:srgbClr val="000000"/>
                </a:solidFill>
                <a:latin typeface="-webkit-standard"/>
                <a:ea typeface="-webkit-standard"/>
              </a:rPr>
              <a:t> </a:t>
            </a:r>
            <a:r>
              <a:rPr lang="en-US" altLang="zh-CN" i="0">
                <a:solidFill>
                  <a:srgbClr val="000000"/>
                </a:solidFill>
              </a:rPr>
              <a:t>Proton / DXVK</a:t>
            </a:r>
            <a:r>
              <a:rPr lang="en-US" altLang="zh-CN" b="0" i="0">
                <a:solidFill>
                  <a:srgbClr val="000000"/>
                </a:solidFill>
                <a:latin typeface="-webkit-standard"/>
                <a:ea typeface="-webkit-standard"/>
              </a:rPr>
              <a:t> </a:t>
            </a:r>
            <a:r>
              <a:rPr lang="zh-CN" altLang="en-US" b="0" i="0">
                <a:solidFill>
                  <a:srgbClr val="000000"/>
                </a:solidFill>
                <a:latin typeface="-webkit-standard"/>
                <a:ea typeface="-webkit-standard"/>
              </a:rPr>
              <a:t>翻译为 </a:t>
            </a:r>
            <a:r>
              <a:rPr lang="en-US" altLang="zh-CN" b="0" i="0">
                <a:solidFill>
                  <a:srgbClr val="000000"/>
                </a:solidFill>
                <a:latin typeface="-webkit-standard"/>
                <a:ea typeface="-webkit-standard"/>
              </a:rPr>
              <a:t>Vulkan</a:t>
            </a:r>
            <a:r>
              <a:rPr lang="zh-CN" altLang="en-US" b="0" i="0">
                <a:solidFill>
                  <a:srgbClr val="000000"/>
                </a:solidFill>
                <a:latin typeface="-webkit-standard"/>
                <a:ea typeface="-webkit-standard"/>
              </a:rPr>
              <a:t>）。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69227"/>
            <a:ext cx="82296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en-US" sz="4100">
                <a:sym typeface="+mn-ea"/>
              </a:rPr>
              <a:t>QT </a:t>
            </a:r>
            <a:r>
              <a:rPr lang="zh-CN" altLang="en-US" sz="4100">
                <a:sym typeface="+mn-ea"/>
              </a:rPr>
              <a:t>与</a:t>
            </a:r>
            <a:r>
              <a:rPr lang="en-US" altLang="zh-CN" sz="4100">
                <a:sym typeface="+mn-ea"/>
              </a:rPr>
              <a:t> Vulkan</a:t>
            </a:r>
            <a:r>
              <a:rPr lang="zh-CN" altLang="en-US" sz="4100">
                <a:sym typeface="+mn-ea"/>
              </a:rPr>
              <a:t>的关系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77165" y="2758440"/>
            <a:ext cx="3737610" cy="37534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zh-CN" altLang="en-US" sz="1700"/>
              <a:t>[App Code]</a:t>
            </a:r>
          </a:p>
          <a:p>
            <a:r>
              <a:rPr lang="zh-CN" altLang="en-US" sz="1700"/>
              <a:t>  </a:t>
            </a:r>
            <a:r>
              <a:rPr lang="en-US" altLang="zh-CN" sz="1700"/>
              <a:t> </a:t>
            </a:r>
            <a:r>
              <a:rPr lang="zh-CN" altLang="en-US" sz="1700"/>
              <a:t> │</a:t>
            </a:r>
          </a:p>
          <a:p>
            <a:r>
              <a:rPr lang="zh-CN" altLang="en-US" sz="1700"/>
              <a:t>   ▼</a:t>
            </a:r>
          </a:p>
          <a:p>
            <a:r>
              <a:rPr lang="zh-CN" altLang="en-US" sz="1700"/>
              <a:t>[Qt Widgets / Qt Quick / QML]</a:t>
            </a:r>
          </a:p>
          <a:p>
            <a:r>
              <a:rPr lang="zh-CN" altLang="en-US" sz="1700"/>
              <a:t>   </a:t>
            </a:r>
            <a:r>
              <a:rPr lang="en-US" altLang="zh-CN" sz="1700"/>
              <a:t> </a:t>
            </a:r>
            <a:r>
              <a:rPr lang="zh-CN" altLang="en-US" sz="1700"/>
              <a:t>│</a:t>
            </a:r>
          </a:p>
          <a:p>
            <a:r>
              <a:rPr lang="zh-CN" altLang="en-US" sz="1700"/>
              <a:t>   ▼</a:t>
            </a:r>
          </a:p>
          <a:p>
            <a:r>
              <a:rPr lang="zh-CN" altLang="en-US" sz="1700"/>
              <a:t>[Qt RHI (Rendering Hardware Interface)]</a:t>
            </a:r>
          </a:p>
          <a:p>
            <a:r>
              <a:rPr lang="zh-CN" altLang="en-US" sz="1700"/>
              <a:t>   ├── OpenGL backend</a:t>
            </a:r>
          </a:p>
          <a:p>
            <a:r>
              <a:rPr lang="zh-CN" altLang="en-US" sz="1700"/>
              <a:t>   ├── Vulkan backend</a:t>
            </a:r>
          </a:p>
          <a:p>
            <a:r>
              <a:rPr lang="zh-CN" altLang="en-US" sz="1700"/>
              <a:t>   ├── Metal backend (macOS)</a:t>
            </a:r>
          </a:p>
          <a:p>
            <a:r>
              <a:rPr lang="zh-CN" altLang="en-US" sz="1700"/>
              <a:t>   └── Direct3D backend (Windows)</a:t>
            </a:r>
          </a:p>
          <a:p>
            <a:r>
              <a:rPr lang="zh-CN" altLang="en-US" sz="1700"/>
              <a:t>   </a:t>
            </a:r>
            <a:r>
              <a:rPr lang="en-US" altLang="zh-CN" sz="1700"/>
              <a:t> </a:t>
            </a:r>
            <a:r>
              <a:rPr lang="zh-CN" altLang="en-US" sz="1700"/>
              <a:t>│</a:t>
            </a:r>
          </a:p>
          <a:p>
            <a:r>
              <a:rPr lang="zh-CN" altLang="en-US" sz="1700"/>
              <a:t>   ▼</a:t>
            </a:r>
          </a:p>
          <a:p>
            <a:r>
              <a:rPr lang="zh-CN" altLang="en-US" sz="1700"/>
              <a:t>[GPU Driver → GPU Hardware]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354705" y="915035"/>
            <a:ext cx="5547360" cy="3987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0" indent="0"/>
            <a:r>
              <a:rPr lang="en-US" altLang="zh-CN" sz="2000" b="1" i="0">
                <a:solidFill>
                  <a:srgbClr val="000000"/>
                </a:solidFill>
                <a:latin typeface="-webkit-standard"/>
                <a:ea typeface="-webkit-standard"/>
              </a:rPr>
              <a:t>Qt Vulkan </a:t>
            </a:r>
            <a:r>
              <a:rPr lang="zh-CN" altLang="en-US" sz="2000" b="1" i="0">
                <a:solidFill>
                  <a:srgbClr val="000000"/>
                </a:solidFill>
                <a:latin typeface="-webkit-standard"/>
                <a:ea typeface="-webkit-standard"/>
              </a:rPr>
              <a:t>支持架构：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354705" y="1374140"/>
            <a:ext cx="5786120" cy="29686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zh-CN" altLang="en-US" sz="1700"/>
              <a:t>+--------------------------------------------</a:t>
            </a:r>
            <a:r>
              <a:rPr lang="en-US" altLang="zh-CN" sz="1700"/>
              <a:t>-</a:t>
            </a:r>
            <a:r>
              <a:rPr lang="zh-CN" altLang="en-US" sz="1700"/>
              <a:t>------</a:t>
            </a:r>
            <a:r>
              <a:rPr lang="en-US" altLang="zh-CN" sz="1700"/>
              <a:t>--------------------------</a:t>
            </a:r>
            <a:r>
              <a:rPr lang="zh-CN" altLang="en-US" sz="1700"/>
              <a:t>--+</a:t>
            </a:r>
          </a:p>
          <a:p>
            <a:r>
              <a:rPr lang="zh-CN" altLang="en-US" sz="1700"/>
              <a:t>|                    Qt GUI 层                       </a:t>
            </a:r>
            <a:r>
              <a:rPr lang="en-US" altLang="zh-CN" sz="1700"/>
              <a:t> </a:t>
            </a:r>
            <a:r>
              <a:rPr lang="zh-CN" altLang="en-US" sz="1700"/>
              <a:t>  </a:t>
            </a:r>
            <a:r>
              <a:rPr lang="en-US" altLang="zh-CN" sz="1700"/>
              <a:t>			                </a:t>
            </a:r>
            <a:r>
              <a:rPr lang="zh-CN" altLang="en-US" sz="1700"/>
              <a:t>|</a:t>
            </a:r>
          </a:p>
          <a:p>
            <a:r>
              <a:rPr lang="zh-CN" altLang="en-US" sz="1700"/>
              <a:t>|  QWidget / QWindow / QQuickWindow / QML SceneGraph |</a:t>
            </a:r>
          </a:p>
          <a:p>
            <a:r>
              <a:rPr lang="zh-CN" altLang="en-US" sz="1700"/>
              <a:t>+------------------------------------------------------</a:t>
            </a:r>
            <a:r>
              <a:rPr lang="en-US" altLang="zh-CN" sz="1700"/>
              <a:t>--------------------------</a:t>
            </a:r>
            <a:r>
              <a:rPr lang="zh-CN" altLang="en-US" sz="1700"/>
              <a:t>+</a:t>
            </a:r>
          </a:p>
          <a:p>
            <a:r>
              <a:rPr lang="zh-CN" altLang="en-US" sz="1700"/>
              <a:t>|                QVulkanWindow / QVulkanInstance       </a:t>
            </a:r>
            <a:r>
              <a:rPr lang="en-US" altLang="zh-CN" sz="1700"/>
              <a:t>                     </a:t>
            </a:r>
            <a:r>
              <a:rPr lang="zh-CN" altLang="en-US" sz="1700"/>
              <a:t>|</a:t>
            </a:r>
          </a:p>
          <a:p>
            <a:r>
              <a:rPr lang="zh-CN" altLang="en-US" sz="1700"/>
              <a:t>+------------------------------------------------------</a:t>
            </a:r>
            <a:r>
              <a:rPr lang="en-US" altLang="zh-CN" sz="1700"/>
              <a:t>--------------------------</a:t>
            </a:r>
            <a:r>
              <a:rPr lang="zh-CN" altLang="en-US" sz="1700"/>
              <a:t>+</a:t>
            </a:r>
          </a:p>
          <a:p>
            <a:r>
              <a:rPr lang="zh-CN" altLang="en-US" sz="1700"/>
              <a:t>|                    Vulkan API                        </a:t>
            </a:r>
            <a:r>
              <a:rPr lang="en-US" altLang="zh-CN" sz="1700"/>
              <a:t>                                             </a:t>
            </a:r>
            <a:r>
              <a:rPr lang="zh-CN" altLang="en-US" sz="1700"/>
              <a:t>|</a:t>
            </a:r>
          </a:p>
          <a:p>
            <a:r>
              <a:rPr lang="zh-CN" altLang="en-US" sz="1700"/>
              <a:t>|  vkCreateInstance, vkQueueSubmit, vkCmdDraw...      </a:t>
            </a:r>
            <a:r>
              <a:rPr lang="en-US" altLang="zh-CN" sz="1700"/>
              <a:t>           </a:t>
            </a:r>
            <a:r>
              <a:rPr lang="zh-CN" altLang="en-US" sz="1700"/>
              <a:t>|</a:t>
            </a:r>
          </a:p>
          <a:p>
            <a:r>
              <a:rPr lang="zh-CN" altLang="en-US" sz="1700"/>
              <a:t>+-----------------------------------------------------</a:t>
            </a:r>
            <a:r>
              <a:rPr lang="en-US" altLang="zh-CN" sz="1700"/>
              <a:t>--------------------------</a:t>
            </a:r>
            <a:r>
              <a:rPr lang="zh-CN" altLang="en-US" sz="1700"/>
              <a:t>-+</a:t>
            </a:r>
          </a:p>
          <a:p>
            <a:r>
              <a:rPr lang="zh-CN" altLang="en-US" sz="1700"/>
              <a:t>|                GPU 驱动 &amp; 硬件                       </a:t>
            </a:r>
            <a:r>
              <a:rPr lang="en-US" altLang="zh-CN" sz="1700"/>
              <a:t>                                     </a:t>
            </a:r>
            <a:r>
              <a:rPr lang="zh-CN" altLang="en-US" sz="1700"/>
              <a:t>|</a:t>
            </a:r>
          </a:p>
          <a:p>
            <a:r>
              <a:rPr lang="zh-CN" altLang="en-US" sz="1700"/>
              <a:t>+------------------------------------------------------</a:t>
            </a:r>
            <a:r>
              <a:rPr lang="en-US" altLang="zh-CN" sz="1700"/>
              <a:t>--------------------------</a:t>
            </a:r>
            <a:r>
              <a:rPr lang="zh-CN" altLang="en-US" sz="1700"/>
              <a:t>+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024630" y="4477385"/>
            <a:ext cx="5051425" cy="20840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Font typeface="Arial" panose="020B0604020202090204"/>
              <a:buChar char="•"/>
            </a:pPr>
            <a:r>
              <a:rPr lang="en-US" altLang="zh-CN" b="1" i="0">
                <a:solidFill>
                  <a:srgbClr val="000000"/>
                </a:solidFill>
              </a:rPr>
              <a:t>Vulkan </a:t>
            </a:r>
            <a:r>
              <a:rPr lang="zh-CN" altLang="en-US" b="1" i="0">
                <a:solidFill>
                  <a:srgbClr val="000000"/>
                </a:solidFill>
              </a:rPr>
              <a:t>是底层渲染标准；</a:t>
            </a:r>
          </a:p>
          <a:p>
            <a:pPr marL="0" indent="0">
              <a:lnSpc>
                <a:spcPct val="120000"/>
              </a:lnSpc>
              <a:buFont typeface="Arial" panose="020B0604020202090204"/>
              <a:buChar char="•"/>
            </a:pPr>
            <a:r>
              <a:rPr lang="en-US" altLang="zh-CN" b="1" i="0">
                <a:solidFill>
                  <a:srgbClr val="000000"/>
                </a:solidFill>
              </a:rPr>
              <a:t>Qt </a:t>
            </a:r>
            <a:r>
              <a:rPr lang="zh-CN" altLang="en-US" b="1" i="0">
                <a:solidFill>
                  <a:srgbClr val="000000"/>
                </a:solidFill>
              </a:rPr>
              <a:t>是上层 </a:t>
            </a:r>
            <a:r>
              <a:rPr lang="en-US" altLang="zh-CN" b="1" i="0">
                <a:solidFill>
                  <a:srgbClr val="000000"/>
                </a:solidFill>
              </a:rPr>
              <a:t>GUI </a:t>
            </a:r>
            <a:r>
              <a:rPr lang="zh-CN" altLang="en-US" b="1" i="0">
                <a:solidFill>
                  <a:srgbClr val="000000"/>
                </a:solidFill>
              </a:rPr>
              <a:t>框架；</a:t>
            </a:r>
          </a:p>
          <a:p>
            <a:pPr marL="0" indent="0">
              <a:lnSpc>
                <a:spcPct val="120000"/>
              </a:lnSpc>
              <a:buFont typeface="Arial" panose="020B0604020202090204"/>
              <a:buChar char="•"/>
            </a:pPr>
            <a:r>
              <a:rPr lang="en-US" altLang="zh-CN" b="1" i="0">
                <a:solidFill>
                  <a:srgbClr val="000000"/>
                </a:solidFill>
              </a:rPr>
              <a:t>Qt </a:t>
            </a:r>
            <a:r>
              <a:rPr lang="zh-CN" altLang="en-US" b="1" i="0">
                <a:solidFill>
                  <a:srgbClr val="000000"/>
                </a:solidFill>
              </a:rPr>
              <a:t>可以调用 </a:t>
            </a:r>
            <a:r>
              <a:rPr lang="en-US" altLang="zh-CN" b="1" i="0">
                <a:solidFill>
                  <a:srgbClr val="000000"/>
                </a:solidFill>
              </a:rPr>
              <a:t>Vulkan </a:t>
            </a:r>
            <a:r>
              <a:rPr lang="zh-CN" altLang="en-US" b="1" i="0">
                <a:solidFill>
                  <a:srgbClr val="000000"/>
                </a:solidFill>
              </a:rPr>
              <a:t>渲染；</a:t>
            </a:r>
          </a:p>
          <a:p>
            <a:pPr marL="0" indent="0">
              <a:lnSpc>
                <a:spcPct val="120000"/>
              </a:lnSpc>
              <a:buFont typeface="Arial" panose="020B0604020202090204"/>
              <a:buNone/>
            </a:pPr>
            <a:r>
              <a:rPr lang="en-US" altLang="zh-CN" b="1" i="0">
                <a:solidFill>
                  <a:srgbClr val="000000"/>
                </a:solidFill>
              </a:rPr>
              <a:t>Qt 6 </a:t>
            </a:r>
            <a:r>
              <a:rPr lang="zh-CN" altLang="en-US" b="1" i="0">
                <a:solidFill>
                  <a:srgbClr val="000000"/>
                </a:solidFill>
              </a:rPr>
              <a:t>的 </a:t>
            </a:r>
            <a:r>
              <a:rPr lang="en-US" altLang="zh-CN" b="1" i="0">
                <a:solidFill>
                  <a:srgbClr val="000000"/>
                </a:solidFill>
              </a:rPr>
              <a:t>RHI (Rendering Hardware Interface)</a:t>
            </a:r>
            <a:r>
              <a:rPr lang="zh-CN" altLang="en-US" b="1" i="0">
                <a:solidFill>
                  <a:srgbClr val="000000"/>
                </a:solidFill>
              </a:rPr>
              <a:t>体系让 </a:t>
            </a:r>
            <a:r>
              <a:rPr lang="en-US" altLang="zh-CN" b="1" i="0">
                <a:solidFill>
                  <a:srgbClr val="000000"/>
                </a:solidFill>
              </a:rPr>
              <a:t>Qt </a:t>
            </a:r>
            <a:r>
              <a:rPr lang="zh-CN" altLang="en-US" b="1" i="0">
                <a:solidFill>
                  <a:srgbClr val="000000"/>
                </a:solidFill>
              </a:rPr>
              <a:t>程序可跨平台地使用 </a:t>
            </a:r>
            <a:r>
              <a:rPr lang="en-US" altLang="zh-CN" b="1" i="0">
                <a:solidFill>
                  <a:srgbClr val="000000"/>
                </a:solidFill>
              </a:rPr>
              <a:t>Vulkan</a:t>
            </a:r>
            <a:r>
              <a:rPr lang="zh-CN" altLang="en-US" b="1" i="0">
                <a:solidFill>
                  <a:srgbClr val="000000"/>
                </a:solidFill>
              </a:rPr>
              <a:t>、</a:t>
            </a:r>
            <a:r>
              <a:rPr lang="en-US" altLang="zh-CN" b="1" i="0">
                <a:solidFill>
                  <a:srgbClr val="000000"/>
                </a:solidFill>
              </a:rPr>
              <a:t>OpenGL</a:t>
            </a:r>
            <a:r>
              <a:rPr lang="zh-CN" altLang="en-US" b="1" i="0">
                <a:solidFill>
                  <a:srgbClr val="000000"/>
                </a:solidFill>
              </a:rPr>
              <a:t>、</a:t>
            </a:r>
            <a:r>
              <a:rPr lang="en-US" altLang="zh-CN" b="1" i="0">
                <a:solidFill>
                  <a:srgbClr val="000000"/>
                </a:solidFill>
              </a:rPr>
              <a:t>Metal </a:t>
            </a:r>
            <a:r>
              <a:rPr lang="zh-CN" altLang="en-US" b="1" i="0">
                <a:solidFill>
                  <a:srgbClr val="000000"/>
                </a:solidFill>
              </a:rPr>
              <a:t>等不同后端。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77165" y="1068705"/>
            <a:ext cx="2983230" cy="13093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>
              <a:lnSpc>
                <a:spcPct val="110000"/>
              </a:lnSpc>
            </a:pPr>
            <a:r>
              <a:rPr lang="en-US" altLang="zh-CN" b="0" i="0">
                <a:solidFill>
                  <a:srgbClr val="000000"/>
                </a:solidFill>
              </a:rPr>
              <a:t>Qt </a:t>
            </a:r>
            <a:r>
              <a:rPr lang="zh-CN" altLang="en-US" b="0" i="0">
                <a:solidFill>
                  <a:srgbClr val="000000"/>
                </a:solidFill>
              </a:rPr>
              <a:t>是应用层的 </a:t>
            </a:r>
            <a:r>
              <a:rPr lang="en-US" altLang="zh-CN" b="0" i="0">
                <a:solidFill>
                  <a:srgbClr val="000000"/>
                </a:solidFill>
              </a:rPr>
              <a:t>GUI </a:t>
            </a:r>
            <a:r>
              <a:rPr lang="zh-CN" altLang="en-US" b="0" i="0">
                <a:solidFill>
                  <a:srgbClr val="000000"/>
                </a:solidFill>
              </a:rPr>
              <a:t>框架；</a:t>
            </a:r>
          </a:p>
          <a:p>
            <a:pPr marL="0" indent="0">
              <a:lnSpc>
                <a:spcPct val="110000"/>
              </a:lnSpc>
            </a:pPr>
            <a:r>
              <a:rPr lang="en-US" altLang="zh-CN" b="0" i="0">
                <a:solidFill>
                  <a:srgbClr val="000000"/>
                </a:solidFill>
              </a:rPr>
              <a:t>Vulkan </a:t>
            </a:r>
            <a:r>
              <a:rPr lang="zh-CN" altLang="en-US" b="0" i="0">
                <a:solidFill>
                  <a:srgbClr val="000000"/>
                </a:solidFill>
              </a:rPr>
              <a:t>是底层图形渲染 </a:t>
            </a:r>
            <a:r>
              <a:rPr lang="en-US" altLang="zh-CN" b="0" i="0">
                <a:solidFill>
                  <a:srgbClr val="000000"/>
                </a:solidFill>
              </a:rPr>
              <a:t>API</a:t>
            </a:r>
            <a:r>
              <a:rPr lang="zh-CN" altLang="en-US" b="0" i="0">
                <a:solidFill>
                  <a:srgbClr val="000000"/>
                </a:solidFill>
              </a:rPr>
              <a:t>；</a:t>
            </a:r>
          </a:p>
          <a:p>
            <a:pPr marL="0" indent="0">
              <a:lnSpc>
                <a:spcPct val="110000"/>
              </a:lnSpc>
            </a:pPr>
            <a:r>
              <a:rPr lang="zh-CN" altLang="en-US" b="0" i="0">
                <a:solidFill>
                  <a:srgbClr val="000000"/>
                </a:solidFill>
              </a:rPr>
              <a:t>它们可以结合使用：</a:t>
            </a:r>
            <a:r>
              <a:rPr lang="en-US" altLang="zh-CN" b="0" i="0">
                <a:solidFill>
                  <a:srgbClr val="000000"/>
                </a:solidFill>
              </a:rPr>
              <a:t>Qt </a:t>
            </a:r>
            <a:r>
              <a:rPr lang="zh-CN" altLang="en-US" b="0" i="0">
                <a:solidFill>
                  <a:srgbClr val="000000"/>
                </a:solidFill>
              </a:rPr>
              <a:t>调用 </a:t>
            </a:r>
            <a:r>
              <a:rPr lang="en-US" altLang="zh-CN" b="0" i="0">
                <a:solidFill>
                  <a:srgbClr val="000000"/>
                </a:solidFill>
              </a:rPr>
              <a:t>Vulkan </a:t>
            </a:r>
            <a:r>
              <a:rPr lang="zh-CN" altLang="en-US" b="0" i="0">
                <a:solidFill>
                  <a:srgbClr val="000000"/>
                </a:solidFill>
              </a:rPr>
              <a:t>来完成高性能绘图。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ctr">
              <a:buClrTx/>
              <a:buSzTx/>
              <a:buFontTx/>
            </a:pPr>
            <a:r>
              <a:rPr sz="4100">
                <a:sym typeface="+mn-ea"/>
              </a:rPr>
              <a:t>六、输入与事件系统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输入事件路径：</a:t>
            </a:r>
          </a:p>
          <a:p>
            <a:r>
              <a:t>Keyboard / Mouse → evdev → libinput → Wayland compositor / X server → 应用程序</a:t>
            </a:r>
          </a:p>
          <a:p>
            <a:endParaRPr/>
          </a:p>
          <a:p>
            <a:r>
              <a:t>libinput统一管理输入设备事件。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ctr">
              <a:buClrTx/>
              <a:buSzTx/>
              <a:buFontTx/>
            </a:pPr>
            <a:r>
              <a:rPr sz="4100">
                <a:sym typeface="+mn-ea"/>
              </a:rPr>
              <a:t>七、未来趋势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t>1. Wayland主流化</a:t>
            </a:r>
          </a:p>
          <a:p>
            <a:pPr>
              <a:lnSpc>
                <a:spcPct val="130000"/>
              </a:lnSpc>
            </a:pPr>
            <a:r>
              <a:t>2. PipeWire统一音视频流</a:t>
            </a:r>
          </a:p>
          <a:p>
            <a:pPr>
              <a:lnSpc>
                <a:spcPct val="130000"/>
              </a:lnSpc>
            </a:pPr>
            <a:r>
              <a:t>3. Vulkan + OpenGL互操作</a:t>
            </a:r>
          </a:p>
          <a:p>
            <a:pPr>
              <a:lnSpc>
                <a:spcPct val="130000"/>
              </a:lnSpc>
            </a:pPr>
            <a:r>
              <a:t>4. Flatpak/Snap 实现应用沙盒化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ctr">
              <a:buClrTx/>
              <a:buSzTx/>
              <a:buFontTx/>
            </a:pPr>
            <a:r>
              <a:rPr sz="4100">
                <a:sym typeface="+mn-ea"/>
              </a:rPr>
              <a:t>七、未来趋势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t>1. Wayland主流化</a:t>
            </a:r>
          </a:p>
          <a:p>
            <a:pPr>
              <a:lnSpc>
                <a:spcPct val="130000"/>
              </a:lnSpc>
            </a:pPr>
            <a:r>
              <a:t>2. PipeWire统一音视频流</a:t>
            </a:r>
          </a:p>
          <a:p>
            <a:pPr>
              <a:lnSpc>
                <a:spcPct val="130000"/>
              </a:lnSpc>
            </a:pPr>
            <a:r>
              <a:t>3. Vulkan + OpenGL互操作</a:t>
            </a:r>
          </a:p>
          <a:p>
            <a:pPr>
              <a:lnSpc>
                <a:spcPct val="130000"/>
              </a:lnSpc>
            </a:pPr>
            <a:r>
              <a:t>4. Flatpak/Snap 实现应用沙盒化</a:t>
            </a:r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146050" y="63500"/>
            <a:ext cx="8470900" cy="6350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jU2OTU1ZWZmZDExNGRkNzljZGQyODcxMWIwNGNhNT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7050"/>
  <p:tag name="KSO_WM_SLIDE_LAYOUT_INFO" val="{&quot;direction&quot;:1,&quot;id&quot;:&quot;2021-04-01T16:15:46&quot;,&quot;maxSize&quot;:{&quot;size1&quot;:62.84029677708944},&quot;minSize&quot;:{&quot;size1&quot;:42.940296777089436},&quot;normalSize&quot;:{&quot;size1&quot;:57.05904677708945},&quot;subLayout&quot;:[{&quot;id&quot;:&quot;2021-04-01T16:15:46&quot;,&quot;maxSize&quot;:{&quot;size1&quot;:56.49868810441759},&quot;minSize&quot;:{&quot;size1&quot;:20.898688104417587},&quot;normalSize&quot;:{&quot;size1&quot;:33.46535477108426},&quot;subLayout&quot;:[{&quot;id&quot;:&quot;2021-04-01T16:15:46&quot;,&quot;margin&quot;:{&quot;bottom&quot;:0.02600000612437725,&quot;left&quot;:2.5399999618530273,&quot;right&quot;:1.6670000553131104,&quot;top&quot;:1.6929999589920044},&quot;type&quot;:0},{&quot;id&quot;:&quot;2021-04-01T16:15:46&quot;,&quot;margin&quot;:{&quot;bottom&quot;:1.6929999589920044,&quot;left&quot;:2.5399999618530273,&quot;right&quot;:1.6670000553131104,&quot;top&quot;:0.8199999928474426},&quot;type&quot;:0}],&quot;type&quot;:0},{&quot;id&quot;:&quot;2021-04-01T16:15:46&quot;,&quot;margin&quot;:{&quot;bottom&quot;:1.6929999589920044,&quot;left&quot;:0.02600000612437725,&quot;right&quot;:1.6929999589920044,&quot;top&quot;:1.6929999589920044},&quot;type&quot;:0}],&quot;type&quot;:0}"/>
  <p:tag name="KSO_WM_SLIDE_ID" val="diagram20217050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a_d_f"/>
  <p:tag name="KSO_WM_SLIDE_LAYOUT_CNT" val="1_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acfe54998712faa657a885"/>
  <p:tag name="KSO_WM_CHIP_FILLPROP" val="[[{&quot;text_align&quot;:&quot;cm&quot;,&quot;text_direction&quot;:&quot;horizontal&quot;,&quot;support_features&quot;:[&quot;creativepic&quot;],&quot;support_big_font&quot;:false,&quot;picture_toward&quot;:1,&quot;picture_dockside&quot;:[],&quot;fill_id&quot;:&quot;ea24516ef22941bda3c0fadbdb233f5f&quot;,&quot;fill_align&quot;:&quot;cm&quot;,&quot;chip_types&quot;:[&quot;picture&quot;]},{&quot;text_align&quot;:&quot;lb&quot;,&quot;text_direction&quot;:&quot;horizontal&quot;,&quot;support_big_font&quot;:false,&quot;picture_toward&quot;:0,&quot;picture_dockside&quot;:[],&quot;fill_id&quot;:&quot;e64d6b39dbcb4f5e8b45c2814b499727&quot;,&quot;fill_align&quot;:&quot;lb&quot;,&quot;chip_types&quot;:[&quot;text&quot;,&quot;header&quot;]},{&quot;text_align&quot;:&quot;lt&quot;,&quot;text_direction&quot;:&quot;horizontal&quot;,&quot;support_big_font&quot;:false,&quot;picture_toward&quot;:0,&quot;picture_dockside&quot;:[],&quot;fill_id&quot;:&quot;4cac0ce68cb84566b51d233488c6b209&quot;,&quot;fill_align&quot;:&quot;lt&quot;,&quot;chip_types&quot;:[&quot;text&quot;]}]]"/>
  <p:tag name="KSO_WM_CHIP_DECFILLPROP" val="[]"/>
  <p:tag name="KSO_WM_SLIDE_RATIO" val="1.777778"/>
  <p:tag name="KSO_WM_SLIDE_TYPE" val="text"/>
  <p:tag name="KSO_WM_SLIDE_SIZE" val="816*348"/>
  <p:tag name="KSO_WM_SLIDE_POSITION" val="72*95"/>
  <p:tag name="KSO_WM_CHIP_GROUPID" val="5facfe54998712faa657a884"/>
  <p:tag name="KSO_WM_SLIDE_BK_DARK_LIGHT" val="2"/>
  <p:tag name="KSO_WM_SLIDE_BACKGROUND_TYPE" val="general"/>
  <p:tag name="KSO_WM_SLIDE_SUPPORT_FEATURE_TYPE" val="8"/>
  <p:tag name="KSO_WM_SLIDE_SUBTYPE" val="picTxt"/>
  <p:tag name="KSO_WM_TEMPLATE_ASSEMBLE_XID" val="606570444054ed1e2fb814a6"/>
  <p:tag name="KSO_WM_TEMPLATE_ASSEMBLE_GROUPID" val="606570444054ed1e2fb814a6"/>
  <p:tag name="KSO_WM_SPECIAL_SOURCE" val="bdnul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7050_1*f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126"/>
  <p:tag name="KSO_WM_UNIT_SHOW_EDIT_AREA_INDICATION" val="1"/>
  <p:tag name="KSO_WM_CHIP_GROUPID" val="5e6b05596848fb12bee65ac8"/>
  <p:tag name="KSO_WM_CHIP_XID" val="5e6b05596848fb12bee65aca"/>
  <p:tag name="KSO_WM_UNIT_DEC_AREA_ID" val="9fac0f58e4e84449b138ef9b8595077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t&quot;,&quot;fill_mode&quot;:&quot;full&quot;,&quot;sacle_strategy&quot;:&quot;smart&quot;}"/>
  <p:tag name="KSO_WM_ASSEMBLE_CHIP_INDEX" val="9febf74a8ce04196ac33616c5e44fc1b"/>
  <p:tag name="KSO_WM_UNIT_TEXT_FILL_FORE_SCHEMECOLOR_INDEX_BRIGHTNESS" val="0.25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ICTURE_TOWARD" val="1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i"/>
  <p:tag name="KSO_WM_UNIT_INDEX" val="1_1_1"/>
  <p:tag name="KSO_WM_UNIT_ID" val="diagram20216630_1*ζ_h_i*1_1_1"/>
  <p:tag name="KSO_WM_TEMPLATE_CATEGORY" val="diagram"/>
  <p:tag name="KSO_WM_TEMPLATE_INDEX" val="20216630"/>
  <p:tag name="KSO_WM_UNIT_LAYERLEVEL" val="1_1_1"/>
  <p:tag name="KSO_WM_TAG_VERSION" val="1.0"/>
  <p:tag name="KSO_WM_BEAUTIFY_FLAG" val="#wm#"/>
  <p:tag name="KSO_WM_UNIT_DIAGRAM_MODELTYPE" val="creativePicture"/>
  <p:tag name="KSO_WM_UNIT_USESOURCEFORMAT_APPLY" val="1"/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ICTURE_TOWARD" val="1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i"/>
  <p:tag name="KSO_WM_UNIT_INDEX" val="1_1_2"/>
  <p:tag name="KSO_WM_UNIT_ID" val="diagram20216630_1*ζ_h_i*1_1_2"/>
  <p:tag name="KSO_WM_TEMPLATE_CATEGORY" val="diagram"/>
  <p:tag name="KSO_WM_TEMPLATE_INDEX" val="20216630"/>
  <p:tag name="KSO_WM_UNIT_LAYERLEVEL" val="1_1_1"/>
  <p:tag name="KSO_WM_TAG_VERSION" val="1.0"/>
  <p:tag name="KSO_WM_BEAUTIFY_FLAG" val="#wm#"/>
  <p:tag name="KSO_WM_UNIT_DIAGRAM_MODELTYPE" val="creativePicture"/>
  <p:tag name="KSO_WM_UNIT_USESOURCEFORMAT_APPLY" val="1"/>
  <p:tag name="KSO_WM_UNIT_FILL_FORE_SCHEMECOLOR_INDEX_1_BRIGHTNESS" val="0.6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49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ICTURE_TOWARD" val="1"/>
  <p:tag name="KSO_WM_UNIT_VALUE" val="996*996"/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ζ_h_d"/>
  <p:tag name="KSO_WM_UNIT_INDEX" val="1_1_1"/>
  <p:tag name="KSO_WM_UNIT_ID" val="diagram20216630_1*ζ_h_d*1_1_1"/>
  <p:tag name="KSO_WM_TEMPLATE_CATEGORY" val="diagram"/>
  <p:tag name="KSO_WM_TEMPLATE_INDEX" val="20216630"/>
  <p:tag name="KSO_WM_UNIT_LAYERLEVEL" val="1_1_1"/>
  <p:tag name="KSO_WM_TAG_VERSION" val="1.0"/>
  <p:tag name="KSO_WM_BEAUTIFY_FLAG" val="#wm#"/>
  <p:tag name="KSO_WM_UNIT_DIAGRAM_MODELTYPE" val="creativePicture"/>
  <p:tag name="KSO_WM_UNIT_USESOURCEFORMAT_APPLY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20*249"/>
  <p:tag name="TABLE_ENDDRAG_RECT" val="0*237*720*24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92*160"/>
  <p:tag name="TABLE_ENDDRAG_RECT" val="9*351*392*16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97*148"/>
  <p:tag name="TABLE_ENDDRAG_RECT" val="305*168*397*14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6*139"/>
  <p:tag name="TABLE_ENDDRAG_RECT" val="22*312*416*13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99*179"/>
  <p:tag name="TABLE_ENDDRAG_RECT" val="13*255*699*17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79*155"/>
  <p:tag name="TABLE_ENDDRAG_RECT" val="20*105*679*15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11*436"/>
  <p:tag name="TABLE_ENDDRAG_RECT" val="0*75*711*43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19*198"/>
  <p:tag name="TABLE_ENDDRAG_RECT" val="0*208*719*198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01*522"/>
  <p:tag name="TABLE_ENDDRAG_RECT" val="8*108*701*52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20*341"/>
  <p:tag name="TABLE_ENDDRAG_RECT" val="0*178*720*34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20*222"/>
  <p:tag name="TABLE_ENDDRAG_RECT" val="0*270*720*22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84*361"/>
  <p:tag name="TABLE_ENDDRAG_RECT" val="326*100*384*36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3787</Words>
  <Application>Microsoft Office PowerPoint</Application>
  <PresentationFormat>全屏显示(4:3)</PresentationFormat>
  <Paragraphs>615</Paragraphs>
  <Slides>27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7" baseType="lpstr">
      <vt:lpstr>-webkit-standard</vt:lpstr>
      <vt:lpstr>标准粗黑</vt:lpstr>
      <vt:lpstr>汉仪大黑简</vt:lpstr>
      <vt:lpstr>宋体</vt:lpstr>
      <vt:lpstr>微软雅黑</vt:lpstr>
      <vt:lpstr>Arial</vt:lpstr>
      <vt:lpstr>Calibri</vt:lpstr>
      <vt:lpstr>Calibri Bold</vt:lpstr>
      <vt:lpstr>Wingdings</vt:lpstr>
      <vt:lpstr>Office Theme</vt:lpstr>
      <vt:lpstr>PowerPoint 演示文稿</vt:lpstr>
      <vt:lpstr>Linux的GUI技术综述</vt:lpstr>
      <vt:lpstr>一、GUI总体结构</vt:lpstr>
      <vt:lpstr>二、底层机制</vt:lpstr>
      <vt:lpstr>二、底层机制</vt:lpstr>
      <vt:lpstr>二、底层机制</vt:lpstr>
      <vt:lpstr>二、底层机制</vt:lpstr>
      <vt:lpstr>三、显示服务器层</vt:lpstr>
      <vt:lpstr>X11 vs Wayland 对比</vt:lpstr>
      <vt:lpstr>X11 vs Wayland 对比</vt:lpstr>
      <vt:lpstr>X11 vs Wayland 对比</vt:lpstr>
      <vt:lpstr>三、显示协议层：现实状况（2025） </vt:lpstr>
      <vt:lpstr>三、显示服务器层的实现 Xorg</vt:lpstr>
      <vt:lpstr>三、显示服务器层的实现</vt:lpstr>
      <vt:lpstr>三、显示服务器层的实现</vt:lpstr>
      <vt:lpstr>三、显示服务器层的实现技术比较表</vt:lpstr>
      <vt:lpstr>四、GUI开发工具包</vt:lpstr>
      <vt:lpstr>PowerPoint 演示文稿</vt:lpstr>
      <vt:lpstr>PowerPoint 演示文稿</vt:lpstr>
      <vt:lpstr>五、桌面环境</vt:lpstr>
      <vt:lpstr>图形API： OpenGL, Vulkan, DirectX</vt:lpstr>
      <vt:lpstr>图形API： OpenGL, Vulkan, DirectX</vt:lpstr>
      <vt:lpstr>图形API： OpenGL, Vulkan, DirectX</vt:lpstr>
      <vt:lpstr>QT 与 Vulkan的关系</vt:lpstr>
      <vt:lpstr>六、输入与事件系统</vt:lpstr>
      <vt:lpstr>七、未来趋势</vt:lpstr>
      <vt:lpstr>七、未来趋势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dc:description>generated using python-pptx</dc:description>
  <cp:lastModifiedBy>教育技术中心</cp:lastModifiedBy>
  <cp:revision>91</cp:revision>
  <dcterms:created xsi:type="dcterms:W3CDTF">2025-11-07T10:31:51Z</dcterms:created>
  <dcterms:modified xsi:type="dcterms:W3CDTF">2025-11-07T12:46:59Z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5D9B7DEF3DF6FB39FCC90D6940315F50_43</vt:lpwstr>
  </property>
  <property fmtid="{D5CDD505-2E9C-101B-9397-08002B2CF9AE}" pid="3" name="KSOProductBuildVer">
    <vt:lpwstr>2052-6.11.0.8885</vt:lpwstr>
  </property>
</Properties>
</file>